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yOPJxY--k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uality-diversity.github.io/papers.html" TargetMode="External"/><Relationship Id="rId4" Type="http://schemas.openxmlformats.org/officeDocument/2006/relationships/hyperlink" Target="https://www.youtube.com/watch?v=5Lt72cnv4u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Quality-Diversity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Concepts and Applications</a:t>
            </a:r>
          </a:p>
        </p:txBody>
      </p:sp>
      <p:pic>
        <p:nvPicPr>
          <p:cNvPr id="4" name="Picture 3" descr="A_digital_illustration_features_an_abstract_re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1" y="559836"/>
            <a:ext cx="770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4800" dirty="0" smtClean="0">
                <a:solidFill>
                  <a:schemeClr val="bg1"/>
                </a:solidFill>
              </a:rPr>
              <a:t>Ι</a:t>
            </a:r>
            <a:r>
              <a:rPr lang="en-GB" sz="4800" dirty="0" err="1" smtClean="0">
                <a:solidFill>
                  <a:schemeClr val="bg1"/>
                </a:solidFill>
              </a:rPr>
              <a:t>ntelligent</a:t>
            </a:r>
            <a:r>
              <a:rPr lang="en-GB" sz="4800" dirty="0" smtClean="0">
                <a:solidFill>
                  <a:schemeClr val="bg1"/>
                </a:solidFill>
              </a:rPr>
              <a:t> Control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1032" y="1661160"/>
            <a:ext cx="811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Quality-Diversity for Control Policy Repertoires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47254" y="2677120"/>
            <a:ext cx="46184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ECE </a:t>
            </a:r>
            <a:r>
              <a:rPr lang="en-GB" sz="2800" smtClean="0">
                <a:solidFill>
                  <a:schemeClr val="bg1"/>
                </a:solidFill>
              </a:rPr>
              <a:t>upatras</a:t>
            </a:r>
            <a:endParaRPr lang="en-GB" sz="2800" dirty="0" smtClean="0">
              <a:solidFill>
                <a:schemeClr val="bg1"/>
              </a:solidFill>
            </a:endParaRPr>
          </a:p>
          <a:p>
            <a:pPr algn="ctr"/>
            <a:endParaRPr lang="en-GB" sz="2800" dirty="0" smtClean="0">
              <a:solidFill>
                <a:schemeClr val="bg1"/>
              </a:solidFill>
            </a:endParaRPr>
          </a:p>
          <a:p>
            <a:pPr algn="ctr"/>
            <a:r>
              <a:rPr lang="en-GB" sz="2800" dirty="0" smtClean="0">
                <a:solidFill>
                  <a:schemeClr val="bg1"/>
                </a:solidFill>
              </a:rPr>
              <a:t>George </a:t>
            </a:r>
            <a:r>
              <a:rPr lang="en-GB" sz="2800" dirty="0" err="1" smtClean="0">
                <a:solidFill>
                  <a:schemeClr val="bg1"/>
                </a:solidFill>
              </a:rPr>
              <a:t>Saliaris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QD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Quality-Diversity optimizes for both performance and diversity</a:t>
            </a:r>
          </a:p>
          <a:p>
            <a:r>
              <a:t>Popular methods include MAP-Elites and Novelty Search</a:t>
            </a:r>
          </a:p>
          <a:p>
            <a:r>
              <a:t>Applications: robotics, game design, and design optimization</a:t>
            </a:r>
          </a:p>
        </p:txBody>
      </p:sp>
      <p:pic>
        <p:nvPicPr>
          <p:cNvPr id="4" name="Picture 3" descr="A_digital_illustration_features_an_abstract_re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Intro to QD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6280" y="5756831"/>
            <a:ext cx="742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>
                <a:solidFill>
                  <a:schemeClr val="bg1"/>
                </a:solidFill>
              </a:rPr>
              <a:t>Fgfdfgd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-2047355" y="1417638"/>
            <a:ext cx="13676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defTabSz="91440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 </a:t>
            </a: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600200"/>
            <a:ext cx="68469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-Discover </a:t>
            </a:r>
            <a:r>
              <a:rPr lang="en-US" i="1" dirty="0" smtClean="0">
                <a:solidFill>
                  <a:schemeClr val="bg1"/>
                </a:solidFill>
              </a:rPr>
              <a:t>many</a:t>
            </a:r>
            <a:r>
              <a:rPr lang="en-US" dirty="0" smtClean="0">
                <a:solidFill>
                  <a:schemeClr val="bg1"/>
                </a:solidFill>
              </a:rPr>
              <a:t> solutions that are both good </a:t>
            </a:r>
            <a:r>
              <a:rPr lang="en-US" b="1" dirty="0" smtClean="0">
                <a:solidFill>
                  <a:schemeClr val="bg1"/>
                </a:solidFill>
              </a:rPr>
              <a:t>and</a:t>
            </a:r>
            <a:r>
              <a:rPr lang="en-US" dirty="0" smtClean="0">
                <a:solidFill>
                  <a:schemeClr val="bg1"/>
                </a:solidFill>
              </a:rPr>
              <a:t> different, not one “winner”</a:t>
            </a:r>
            <a:r>
              <a:rPr lang="en-US" dirty="0" smtClean="0"/>
              <a:t> 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51560" y="2285343"/>
            <a:ext cx="71822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-Separate </a:t>
            </a:r>
            <a:r>
              <a:rPr lang="en-US" dirty="0" smtClean="0">
                <a:solidFill>
                  <a:schemeClr val="bg1"/>
                </a:solidFill>
              </a:rPr>
              <a:t>genotype from a human-chosen </a:t>
            </a:r>
            <a:r>
              <a:rPr lang="en-US" dirty="0" err="1" smtClean="0">
                <a:solidFill>
                  <a:schemeClr val="bg1"/>
                </a:solidFill>
              </a:rPr>
              <a:t>behaviour</a:t>
            </a:r>
            <a:r>
              <a:rPr lang="en-US" dirty="0" smtClean="0">
                <a:solidFill>
                  <a:schemeClr val="bg1"/>
                </a:solidFill>
              </a:rPr>
              <a:t> descriptor space, so exploration is guided by what the robot actually </a:t>
            </a:r>
            <a:r>
              <a:rPr lang="en-US" dirty="0" smtClean="0">
                <a:solidFill>
                  <a:schemeClr val="bg1"/>
                </a:solidFill>
              </a:rPr>
              <a:t>does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51560" y="3208673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-Keep </a:t>
            </a:r>
            <a:r>
              <a:rPr lang="en-US" dirty="0" smtClean="0">
                <a:solidFill>
                  <a:schemeClr val="bg1"/>
                </a:solidFill>
              </a:rPr>
              <a:t>an archive that stores the single best individual per niche, preserving diversity automatically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51560" y="4240923"/>
            <a:ext cx="66530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-Produce </a:t>
            </a:r>
            <a:r>
              <a:rPr lang="en-US" dirty="0" smtClean="0">
                <a:solidFill>
                  <a:schemeClr val="bg1"/>
                </a:solidFill>
              </a:rPr>
              <a:t>a “heat-map” of the design space that illuminates trade-offs at a glance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Introduction to QD Algorithms</a:t>
            </a:r>
          </a:p>
          <a:p>
            <a:r>
              <a:t>Key Techniques</a:t>
            </a:r>
          </a:p>
          <a:p>
            <a:r>
              <a:t>Real-World Applications</a:t>
            </a:r>
          </a:p>
          <a:p>
            <a:r>
              <a:t>Future Directions</a:t>
            </a:r>
          </a:p>
        </p:txBody>
      </p:sp>
      <p:pic>
        <p:nvPicPr>
          <p:cNvPr id="4" name="Picture 3" descr="A_digital_illustration_features_an_abstract_re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Intro to QD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0156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-Robust </a:t>
            </a:r>
            <a:r>
              <a:rPr lang="en-US" dirty="0" smtClean="0">
                <a:solidFill>
                  <a:schemeClr val="bg1"/>
                </a:solidFill>
              </a:rPr>
              <a:t>on deceptive landscapes because each niche protects its elite from being overwritten</a:t>
            </a:r>
            <a:r>
              <a:rPr lang="en-US" dirty="0" smtClean="0"/>
              <a:t> 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0156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-Proven </a:t>
            </a:r>
            <a:r>
              <a:rPr lang="en-US" dirty="0" smtClean="0">
                <a:solidFill>
                  <a:schemeClr val="bg1"/>
                </a:solidFill>
              </a:rPr>
              <a:t>in robotics, airflow design, game-content generation, rocket shapes, and more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0156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-Progress </a:t>
            </a:r>
            <a:r>
              <a:rPr lang="en-US" dirty="0" smtClean="0">
                <a:solidFill>
                  <a:schemeClr val="bg1"/>
                </a:solidFill>
              </a:rPr>
              <a:t>measured with coverage (%) and QD-score (sum of fitness across all filled cells) 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0156" y="48974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-New </a:t>
            </a:r>
            <a:r>
              <a:rPr lang="en-US" dirty="0" smtClean="0">
                <a:solidFill>
                  <a:schemeClr val="bg1"/>
                </a:solidFill>
              </a:rPr>
              <a:t>variants add gradients, curiosity, or learned descriptors to speed up map filling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Map Elites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09447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err="1" smtClean="0">
                <a:solidFill>
                  <a:schemeClr val="bg1"/>
                </a:solidFill>
              </a:rPr>
              <a:t>Discretises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behaviour</a:t>
            </a:r>
            <a:r>
              <a:rPr lang="en-US" dirty="0" smtClean="0">
                <a:solidFill>
                  <a:schemeClr val="bg1"/>
                </a:solidFill>
              </a:rPr>
              <a:t> space into a fixed grid of cells 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95278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-Loop</a:t>
            </a:r>
            <a:r>
              <a:rPr lang="en-US" dirty="0" smtClean="0">
                <a:solidFill>
                  <a:schemeClr val="bg1"/>
                </a:solidFill>
              </a:rPr>
              <a:t>: pick an elite, mutate/crossover, evaluate, insert if better for that cell 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-Pure </a:t>
            </a:r>
            <a:r>
              <a:rPr lang="en-US" dirty="0" smtClean="0">
                <a:solidFill>
                  <a:schemeClr val="bg1"/>
                </a:solidFill>
              </a:rPr>
              <a:t>evolutionary search → needs lots of evaluations (no surrogate)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32402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-Grid </a:t>
            </a:r>
            <a:r>
              <a:rPr lang="en-US" dirty="0" smtClean="0">
                <a:solidFill>
                  <a:schemeClr val="bg1"/>
                </a:solidFill>
              </a:rPr>
              <a:t>size (e.g. 25 × 25) trades visual detail against compute cost 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Intro to QD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5" name="Content Placeholder 3" descr="A_digital_illustration_features_an_abstract_re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Map Elites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678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-Output </a:t>
            </a:r>
            <a:r>
              <a:rPr lang="en-US" dirty="0" smtClean="0">
                <a:solidFill>
                  <a:schemeClr val="bg1"/>
                </a:solidFill>
              </a:rPr>
              <a:t>is easy to </a:t>
            </a:r>
            <a:r>
              <a:rPr lang="en-US" dirty="0" err="1" smtClean="0">
                <a:solidFill>
                  <a:schemeClr val="bg1"/>
                </a:solidFill>
              </a:rPr>
              <a:t>visualise</a:t>
            </a:r>
            <a:r>
              <a:rPr lang="en-US" dirty="0" smtClean="0">
                <a:solidFill>
                  <a:schemeClr val="bg1"/>
                </a:solidFill>
              </a:rPr>
              <a:t> and query during runtime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8678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-CVT-MAP-Elites </a:t>
            </a:r>
            <a:r>
              <a:rPr lang="en-US" dirty="0" smtClean="0">
                <a:solidFill>
                  <a:schemeClr val="bg1"/>
                </a:solidFill>
              </a:rPr>
              <a:t>replaces the grid with </a:t>
            </a:r>
            <a:r>
              <a:rPr lang="en-US" dirty="0" err="1" smtClean="0">
                <a:solidFill>
                  <a:schemeClr val="bg1"/>
                </a:solidFill>
              </a:rPr>
              <a:t>Voronoi</a:t>
            </a:r>
            <a:r>
              <a:rPr lang="en-US" dirty="0" smtClean="0">
                <a:solidFill>
                  <a:schemeClr val="bg1"/>
                </a:solidFill>
              </a:rPr>
              <a:t> cells for high-D descriptor spaces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678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-Used </a:t>
            </a:r>
            <a:r>
              <a:rPr lang="en-US" dirty="0" smtClean="0">
                <a:solidFill>
                  <a:schemeClr val="bg1"/>
                </a:solidFill>
              </a:rPr>
              <a:t>for robot damage recovery: archive built in </a:t>
            </a:r>
            <a:r>
              <a:rPr lang="en-US" dirty="0" err="1" smtClean="0">
                <a:solidFill>
                  <a:schemeClr val="bg1"/>
                </a:solidFill>
              </a:rPr>
              <a:t>sim</a:t>
            </a:r>
            <a:r>
              <a:rPr lang="en-US" dirty="0" smtClean="0">
                <a:solidFill>
                  <a:schemeClr val="bg1"/>
                </a:solidFill>
              </a:rPr>
              <a:t>, queried on the broken robot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678" y="499045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-Weak </a:t>
            </a:r>
            <a:r>
              <a:rPr lang="en-US" dirty="0" smtClean="0">
                <a:solidFill>
                  <a:schemeClr val="bg1"/>
                </a:solidFill>
              </a:rPr>
              <a:t>point: random mutation often re-explores already-filled areas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Sail Algorithm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1153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-Augments </a:t>
            </a:r>
            <a:r>
              <a:rPr lang="en-US" dirty="0" smtClean="0">
                <a:solidFill>
                  <a:schemeClr val="bg1"/>
                </a:solidFill>
              </a:rPr>
              <a:t>MAP-Elites with a Gaussian-Process surrogate to slash </a:t>
            </a:r>
            <a:r>
              <a:rPr lang="en-US" dirty="0" err="1" smtClean="0">
                <a:solidFill>
                  <a:schemeClr val="bg1"/>
                </a:solidFill>
              </a:rPr>
              <a:t>eval</a:t>
            </a:r>
            <a:r>
              <a:rPr lang="en-US" dirty="0" smtClean="0">
                <a:solidFill>
                  <a:schemeClr val="bg1"/>
                </a:solidFill>
              </a:rPr>
              <a:t> cost 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1153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-Starts </a:t>
            </a:r>
            <a:r>
              <a:rPr lang="en-US" dirty="0" smtClean="0">
                <a:solidFill>
                  <a:schemeClr val="bg1"/>
                </a:solidFill>
              </a:rPr>
              <a:t>with a random Design-of-Experiment to train the first GP 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1153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-Samples </a:t>
            </a:r>
            <a:r>
              <a:rPr lang="en-US" dirty="0" smtClean="0">
                <a:solidFill>
                  <a:schemeClr val="bg1"/>
                </a:solidFill>
              </a:rPr>
              <a:t>hundreds of new genotypes and predicts μ (mean) &amp; σ (uncertainty)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1153" y="495945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-Ranks </a:t>
            </a:r>
            <a:r>
              <a:rPr lang="en-US" dirty="0" smtClean="0">
                <a:solidFill>
                  <a:schemeClr val="bg1"/>
                </a:solidFill>
              </a:rPr>
              <a:t>candidates via UCB = μ + </a:t>
            </a:r>
            <a:r>
              <a:rPr lang="en-US" dirty="0" err="1" smtClean="0">
                <a:solidFill>
                  <a:schemeClr val="bg1"/>
                </a:solidFill>
              </a:rPr>
              <a:t>βσ</a:t>
            </a:r>
            <a:r>
              <a:rPr lang="en-US" dirty="0" smtClean="0">
                <a:solidFill>
                  <a:schemeClr val="bg1"/>
                </a:solidFill>
              </a:rPr>
              <a:t>; evaluates only the top few per niche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710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60" y="89972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Sail Algorithm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760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err="1" smtClean="0">
                <a:solidFill>
                  <a:schemeClr val="bg1"/>
                </a:solidFill>
              </a:rPr>
              <a:t>Matérn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5/2 kernel captures smooth yet rugged fitness landscapes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760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-Matches </a:t>
            </a:r>
            <a:r>
              <a:rPr lang="en-US" dirty="0" smtClean="0">
                <a:solidFill>
                  <a:schemeClr val="bg1"/>
                </a:solidFill>
              </a:rPr>
              <a:t>MAP-Elites coverage with 100–1000× fewer expensive </a:t>
            </a:r>
            <a:r>
              <a:rPr lang="en-US" dirty="0" err="1" smtClean="0">
                <a:solidFill>
                  <a:schemeClr val="bg1"/>
                </a:solidFill>
              </a:rPr>
              <a:t>sims</a:t>
            </a:r>
            <a:r>
              <a:rPr lang="en-US" dirty="0" smtClean="0">
                <a:solidFill>
                  <a:schemeClr val="bg1"/>
                </a:solidFill>
              </a:rPr>
              <a:t> in airfoils and robots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7760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err="1" smtClean="0">
                <a:solidFill>
                  <a:schemeClr val="bg1"/>
                </a:solidFill>
              </a:rPr>
              <a:t>WhiteNoise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kernel term models sensor/</a:t>
            </a:r>
            <a:r>
              <a:rPr lang="en-US" dirty="0" err="1" smtClean="0">
                <a:solidFill>
                  <a:schemeClr val="bg1"/>
                </a:solidFill>
              </a:rPr>
              <a:t>sim</a:t>
            </a:r>
            <a:r>
              <a:rPr lang="en-US" dirty="0" smtClean="0">
                <a:solidFill>
                  <a:schemeClr val="bg1"/>
                </a:solidFill>
              </a:rPr>
              <a:t> jitter, avoiding over-confidence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7760" y="480447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-Main </a:t>
            </a:r>
            <a:r>
              <a:rPr lang="en-US" dirty="0" smtClean="0">
                <a:solidFill>
                  <a:schemeClr val="bg1"/>
                </a:solidFill>
              </a:rPr>
              <a:t>bottleneck is cubic GP scaling; sparse or local GPs are active research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Implementation on a robot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2520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-Uses </a:t>
            </a:r>
            <a:r>
              <a:rPr lang="en-US" dirty="0" smtClean="0">
                <a:solidFill>
                  <a:schemeClr val="bg1"/>
                </a:solidFill>
              </a:rPr>
              <a:t>the open-source </a:t>
            </a:r>
            <a:r>
              <a:rPr lang="en-US" dirty="0" err="1" smtClean="0">
                <a:solidFill>
                  <a:schemeClr val="bg1"/>
                </a:solidFill>
              </a:rPr>
              <a:t>Minitaur</a:t>
            </a:r>
            <a:r>
              <a:rPr lang="en-US" dirty="0" smtClean="0">
                <a:solidFill>
                  <a:schemeClr val="bg1"/>
                </a:solidFill>
              </a:rPr>
              <a:t> URDF (8 direct-drive joints) in </a:t>
            </a:r>
            <a:r>
              <a:rPr lang="en-US" dirty="0" err="1" smtClean="0">
                <a:solidFill>
                  <a:schemeClr val="bg1"/>
                </a:solidFill>
              </a:rPr>
              <a:t>PyBullet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520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-Alternate </a:t>
            </a:r>
            <a:r>
              <a:rPr lang="en-US" dirty="0" smtClean="0">
                <a:solidFill>
                  <a:schemeClr val="bg1"/>
                </a:solidFill>
              </a:rPr>
              <a:t>fast path: analytic proxy computes speed &amp; effort without physics 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12520" y="3752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-Joint </a:t>
            </a:r>
            <a:r>
              <a:rPr lang="en-US" dirty="0" smtClean="0">
                <a:solidFill>
                  <a:schemeClr val="bg1"/>
                </a:solidFill>
              </a:rPr>
              <a:t>command: θᵢ(t) = Aᵢ sin(2πt/T); </a:t>
            </a:r>
            <a:r>
              <a:rPr lang="en-US" dirty="0" err="1" smtClean="0">
                <a:solidFill>
                  <a:schemeClr val="bg1"/>
                </a:solidFill>
              </a:rPr>
              <a:t>PyBullet’s</a:t>
            </a:r>
            <a:r>
              <a:rPr lang="en-US" dirty="0" smtClean="0">
                <a:solidFill>
                  <a:schemeClr val="bg1"/>
                </a:solidFill>
              </a:rPr>
              <a:t> built-in PD controller tracks it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12520" y="494395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-Physics </a:t>
            </a:r>
            <a:r>
              <a:rPr lang="en-US" dirty="0" err="1" smtClean="0">
                <a:solidFill>
                  <a:schemeClr val="bg1"/>
                </a:solidFill>
              </a:rPr>
              <a:t>timestep</a:t>
            </a:r>
            <a:r>
              <a:rPr lang="en-US" dirty="0" smtClean="0">
                <a:solidFill>
                  <a:schemeClr val="bg1"/>
                </a:solidFill>
              </a:rPr>
              <a:t> = 1/500 s; each evaluation simulates 1.5 s of motion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Implementation on a robot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2520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-Forward </a:t>
            </a:r>
            <a:r>
              <a:rPr lang="en-US" dirty="0" smtClean="0">
                <a:solidFill>
                  <a:schemeClr val="bg1"/>
                </a:solidFill>
              </a:rPr>
              <a:t>velocity = (</a:t>
            </a:r>
            <a:r>
              <a:rPr lang="en-US" dirty="0" err="1" smtClean="0">
                <a:solidFill>
                  <a:schemeClr val="bg1"/>
                </a:solidFill>
              </a:rPr>
              <a:t>x_final</a:t>
            </a:r>
            <a:r>
              <a:rPr lang="en-US" dirty="0" smtClean="0">
                <a:solidFill>
                  <a:schemeClr val="bg1"/>
                </a:solidFill>
              </a:rPr>
              <a:t> − </a:t>
            </a:r>
            <a:r>
              <a:rPr lang="en-US" dirty="0" err="1" smtClean="0">
                <a:solidFill>
                  <a:schemeClr val="bg1"/>
                </a:solidFill>
              </a:rPr>
              <a:t>x_start</a:t>
            </a:r>
            <a:r>
              <a:rPr lang="en-US" dirty="0" smtClean="0">
                <a:solidFill>
                  <a:schemeClr val="bg1"/>
                </a:solidFill>
              </a:rPr>
              <a:t>)/1.5 s; effort = 2·mean(A²)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520" y="24595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-Analytic </a:t>
            </a:r>
            <a:r>
              <a:rPr lang="en-US" dirty="0" smtClean="0">
                <a:solidFill>
                  <a:schemeClr val="bg1"/>
                </a:solidFill>
              </a:rPr>
              <a:t>model injects Gaussian noise to mimic real sensor scatter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Results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4920" y="15240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Results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21841"/>
            <a:ext cx="9144000" cy="5936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Results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6" name="Picture 4" descr="C:\Users\georg\Desktop\Intelligent_Control_Final_Project\Figure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769440"/>
            <a:ext cx="9144000" cy="6088559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Conclusions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2520" y="109447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-SAIL </a:t>
            </a:r>
            <a:r>
              <a:rPr lang="en-US" dirty="0" smtClean="0">
                <a:solidFill>
                  <a:schemeClr val="bg1"/>
                </a:solidFill>
              </a:rPr>
              <a:t>reframes </a:t>
            </a:r>
            <a:r>
              <a:rPr lang="en-US" dirty="0" err="1" smtClean="0">
                <a:solidFill>
                  <a:schemeClr val="bg1"/>
                </a:solidFill>
              </a:rPr>
              <a:t>optimisation</a:t>
            </a:r>
            <a:r>
              <a:rPr lang="en-US" dirty="0" smtClean="0">
                <a:solidFill>
                  <a:schemeClr val="bg1"/>
                </a:solidFill>
              </a:rPr>
              <a:t> as </a:t>
            </a:r>
            <a:r>
              <a:rPr lang="en-US" i="1" dirty="0" smtClean="0">
                <a:solidFill>
                  <a:schemeClr val="bg1"/>
                </a:solidFill>
              </a:rPr>
              <a:t>treasure-map building</a:t>
            </a:r>
            <a:r>
              <a:rPr lang="en-US" dirty="0" smtClean="0">
                <a:solidFill>
                  <a:schemeClr val="bg1"/>
                </a:solidFill>
              </a:rPr>
              <a:t>: many good answers in one run 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520" y="206127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-GP </a:t>
            </a:r>
            <a:r>
              <a:rPr lang="en-US" dirty="0" smtClean="0">
                <a:solidFill>
                  <a:schemeClr val="bg1"/>
                </a:solidFill>
              </a:rPr>
              <a:t>surrogate cuts simulation cost by orders of magnitude while preserving coverage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1252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err="1" smtClean="0">
                <a:solidFill>
                  <a:schemeClr val="bg1"/>
                </a:solidFill>
              </a:rPr>
              <a:t>Matérn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5/2 + UCB turn predictive variance into a smart search compass</a:t>
            </a:r>
            <a:r>
              <a:rPr lang="en-US" dirty="0" smtClean="0"/>
              <a:t> 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112520" y="41535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-The </a:t>
            </a:r>
            <a:r>
              <a:rPr lang="en-US" dirty="0" smtClean="0">
                <a:solidFill>
                  <a:schemeClr val="bg1"/>
                </a:solidFill>
              </a:rPr>
              <a:t>archive doubles as an on-board lookup table for instant gait switching 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2520" y="0"/>
            <a:ext cx="7086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What could be </a:t>
            </a:r>
            <a:r>
              <a:rPr lang="en-GB" sz="4400" dirty="0" err="1" smtClean="0">
                <a:solidFill>
                  <a:schemeClr val="bg1"/>
                </a:solidFill>
              </a:rPr>
              <a:t>futher</a:t>
            </a:r>
            <a:r>
              <a:rPr lang="en-GB" sz="4400" dirty="0" smtClean="0">
                <a:solidFill>
                  <a:schemeClr val="bg1"/>
                </a:solidFill>
              </a:rPr>
              <a:t> </a:t>
            </a:r>
            <a:r>
              <a:rPr lang="en-GB" sz="4400" dirty="0" smtClean="0">
                <a:solidFill>
                  <a:schemeClr val="bg1"/>
                </a:solidFill>
              </a:rPr>
              <a:t>improved?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2520" y="190629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-Switch </a:t>
            </a:r>
            <a:r>
              <a:rPr lang="en-US" dirty="0" smtClean="0">
                <a:solidFill>
                  <a:schemeClr val="bg1"/>
                </a:solidFill>
              </a:rPr>
              <a:t>to sparse/inducing-point GPs for linear-</a:t>
            </a:r>
            <a:r>
              <a:rPr lang="en-US" dirty="0" err="1" smtClean="0">
                <a:solidFill>
                  <a:schemeClr val="bg1"/>
                </a:solidFill>
              </a:rPr>
              <a:t>ish</a:t>
            </a:r>
            <a:r>
              <a:rPr lang="en-US" dirty="0" smtClean="0">
                <a:solidFill>
                  <a:schemeClr val="bg1"/>
                </a:solidFill>
              </a:rPr>
              <a:t> training time on &gt;10 k samples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52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-Use </a:t>
            </a:r>
            <a:r>
              <a:rPr lang="en-US" dirty="0" smtClean="0">
                <a:solidFill>
                  <a:schemeClr val="bg1"/>
                </a:solidFill>
              </a:rPr>
              <a:t>an adaptive β schedule: high early for exploration, lower later for exploitation</a:t>
            </a:r>
            <a:r>
              <a:rPr lang="en-US" dirty="0" smtClean="0"/>
              <a:t> 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12520" y="429303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-Replace </a:t>
            </a:r>
            <a:r>
              <a:rPr lang="en-US" dirty="0" smtClean="0">
                <a:solidFill>
                  <a:schemeClr val="bg1"/>
                </a:solidFill>
              </a:rPr>
              <a:t>fixed grid with CVT or dynamic quad-tree cells to handle ≥3D descriptors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12520" y="539341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-Train </a:t>
            </a:r>
            <a:r>
              <a:rPr lang="en-US" dirty="0" smtClean="0">
                <a:solidFill>
                  <a:schemeClr val="bg1"/>
                </a:solidFill>
              </a:rPr>
              <a:t>Central Pattern Generators (CPGs) instead of raw sine amplitudes for smoother gaits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2520" y="0"/>
            <a:ext cx="708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solidFill>
                  <a:schemeClr val="bg1"/>
                </a:solidFill>
              </a:rPr>
              <a:t>Some bibliography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2664" y="1146875"/>
            <a:ext cx="76639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dirty="0" smtClean="0">
                <a:latin typeface="Verdana" pitchFamily="34" charset="0"/>
                <a:ea typeface="Times New Roman" pitchFamily="18" charset="0"/>
                <a:cs typeface="Arial" pitchFamily="34" charset="0"/>
                <a:hlinkClick r:id="rId3"/>
              </a:rPr>
              <a:t>Tutorial on Quality-Diversity </a:t>
            </a:r>
            <a:r>
              <a:rPr lang="en-US" dirty="0" err="1" smtClean="0">
                <a:latin typeface="Verdana" pitchFamily="34" charset="0"/>
                <a:ea typeface="Times New Roman" pitchFamily="18" charset="0"/>
                <a:cs typeface="Arial" pitchFamily="34" charset="0"/>
                <a:hlinkClick r:id="rId3"/>
              </a:rPr>
              <a:t>Optimisation</a:t>
            </a:r>
            <a:endParaRPr lang="en-US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  <a:hlinkClick r:id="rId4"/>
              </a:rPr>
              <a:t>ALIFE2023: Efficient Exploration using Model-Based Quality-Diversity with Gradients</a:t>
            </a:r>
            <a:endParaRPr lang="en-US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  <a:hlinkClick r:id="rId5"/>
              </a:rPr>
              <a:t>List of papers | Quality-Diversity </a:t>
            </a:r>
            <a:r>
              <a:rPr lang="en-US" dirty="0" err="1" smtClean="0">
                <a:latin typeface="Arial" pitchFamily="34" charset="0"/>
                <a:ea typeface="Times New Roman" pitchFamily="18" charset="0"/>
                <a:cs typeface="Arial" pitchFamily="34" charset="0"/>
                <a:hlinkClick r:id="rId5"/>
              </a:rPr>
              <a:t>optimisation</a:t>
            </a:r>
            <a:r>
              <a:rPr lang="en-US" dirty="0" smtClean="0">
                <a:latin typeface="Arial" pitchFamily="34" charset="0"/>
                <a:ea typeface="Times New Roman" pitchFamily="18" charset="0"/>
                <a:cs typeface="Arial" pitchFamily="34" charset="0"/>
                <a:hlinkClick r:id="rId5"/>
              </a:rPr>
              <a:t> algorithms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2663" y="2572719"/>
            <a:ext cx="76639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Gaier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, A.,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Asteroth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, A., &amp;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Mouret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, J.-B. (2018). </a:t>
            </a:r>
            <a:r>
              <a:rPr lang="en-US" sz="1600" i="1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Data-Efficient Design Exploration through Surrogate-Assisted Illumination.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 arXiv:1806.05865</a:t>
            </a:r>
            <a:endParaRPr lang="en-US" sz="1600" dirty="0" smtClean="0">
              <a:solidFill>
                <a:schemeClr val="bg1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Mouret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, J.-B., &amp;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Clune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, J. (2015). </a:t>
            </a:r>
            <a:r>
              <a:rPr lang="en-US" sz="1600" i="1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MAP-Elites: Illuminating Search Spaces by Mapping Elites.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 arXiv:1504.04909</a:t>
            </a:r>
            <a:endParaRPr lang="en-US" sz="1600" dirty="0" smtClean="0">
              <a:solidFill>
                <a:schemeClr val="bg1"/>
              </a:solidFill>
              <a:latin typeface="Verdana" pitchFamily="34" charset="0"/>
              <a:ea typeface="Calibri" pitchFamily="34" charset="0"/>
              <a:cs typeface="Times New Roman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Vassiliades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, V.,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Chatzilygeroudis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, K., &amp;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Mouret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, J.-B. (2016). </a:t>
            </a:r>
            <a:r>
              <a:rPr lang="en-US" sz="1600" i="1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Using </a:t>
            </a:r>
            <a:r>
              <a:rPr lang="en-US" sz="1600" i="1" dirty="0" err="1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Centroidal</a:t>
            </a:r>
            <a:r>
              <a:rPr lang="en-US" sz="1600" i="1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600" i="1" dirty="0" err="1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Voronoi</a:t>
            </a:r>
            <a:r>
              <a:rPr lang="en-US" sz="1600" i="1" dirty="0" smtClean="0">
                <a:solidFill>
                  <a:schemeClr val="bg1"/>
                </a:solidFill>
                <a:latin typeface="Verdana" pitchFamily="34" charset="0"/>
                <a:ea typeface="Calibri" pitchFamily="34" charset="0"/>
                <a:cs typeface="Times New Roman" pitchFamily="18" charset="0"/>
              </a:rPr>
              <a:t> Tessellations to Scale Up MAP-Elites.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_digital_illustration_features_an_abstract_repr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55456" y="274638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230880"/>
            <a:ext cx="6568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End  of Presentation-Any questions??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737</Words>
  <Application>Microsoft Office PowerPoint</Application>
  <PresentationFormat>On-screen Show (4:3)</PresentationFormat>
  <Paragraphs>83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Quality-Diversity Algorithms</vt:lpstr>
      <vt:lpstr>Introduction to QD</vt:lpstr>
      <vt:lpstr>Agenda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Quality-Diversity Algorithms</dc:title>
  <dc:creator>GEORGIOS SALIARHS</dc:creator>
  <dc:description>generated using python-pptx</dc:description>
  <cp:lastModifiedBy>GEORGIOS SALIARHS</cp:lastModifiedBy>
  <cp:revision>3</cp:revision>
  <dcterms:created xsi:type="dcterms:W3CDTF">2013-01-27T09:14:16Z</dcterms:created>
  <dcterms:modified xsi:type="dcterms:W3CDTF">2025-06-23T16:41:47Z</dcterms:modified>
</cp:coreProperties>
</file>
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715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A50E9-F867-4E31-B273-B68CCF099D6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69705-A21C-41E0-A7A9-629D716F9C7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F69705-A21C-41E0-A7A9-629D716F9C7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8179E-A0D2-448F-A185-7495A2AD679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6AA4C-FA8F-4AB3-8840-9C8768348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p.org/pdf/AJOR_2018122814095963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rp.org/pdf/AJOR_2018122814095963.pdf" TargetMode="External"/><Relationship Id="rId3" Type="http://schemas.openxmlformats.org/officeDocument/2006/relationships/hyperlink" Target="https://acsm.org/high-intensity-interval-training-fitness/" TargetMode="External"/><Relationship Id="rId7" Type="http://schemas.openxmlformats.org/officeDocument/2006/relationships/hyperlink" Target="https://www.cdc.gov/physical-activity-basics/measuring/index.html?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11197041/" TargetMode="External"/><Relationship Id="rId5" Type="http://schemas.openxmlformats.org/officeDocument/2006/relationships/hyperlink" Target="https://pacompendium.com/?s=MET" TargetMode="External"/><Relationship Id="rId4" Type="http://schemas.openxmlformats.org/officeDocument/2006/relationships/hyperlink" Target="https://www.nsca.com/education/articles/kinetic-select/plyometric-training/?srsltid=AfmBOorJbOxgqf0vOivB1dJFkWGkYDUNO1SuDYtywavEGCkYI8Yb6ZZO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83568" y="764704"/>
            <a:ext cx="784887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Bahnschrift" pitchFamily="34" charset="0"/>
              </a:rPr>
              <a:t>George </a:t>
            </a:r>
            <a:r>
              <a:rPr lang="en-US" sz="3200" b="1" dirty="0" err="1" smtClean="0">
                <a:solidFill>
                  <a:schemeClr val="bg1"/>
                </a:solidFill>
                <a:latin typeface="Bahnschrift" pitchFamily="34" charset="0"/>
              </a:rPr>
              <a:t>Saliaris</a:t>
            </a:r>
            <a:r>
              <a:rPr lang="en-US" sz="3200" b="1" dirty="0" smtClean="0">
                <a:solidFill>
                  <a:schemeClr val="bg1"/>
                </a:solidFill>
                <a:latin typeface="Bahnschrift" pitchFamily="34" charset="0"/>
              </a:rPr>
              <a:t> - AM 1092584</a:t>
            </a:r>
          </a:p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Bahnschrift" pitchFamily="34" charset="0"/>
              </a:rPr>
              <a:t>ECE </a:t>
            </a:r>
            <a:r>
              <a:rPr lang="en-US" sz="3200" b="1" dirty="0" err="1" smtClean="0">
                <a:solidFill>
                  <a:schemeClr val="bg1"/>
                </a:solidFill>
                <a:latin typeface="Bahnschrift" pitchFamily="34" charset="0"/>
              </a:rPr>
              <a:t>upatras</a:t>
            </a:r>
            <a:endParaRPr lang="en-US" sz="3200" b="1" dirty="0" smtClean="0">
              <a:solidFill>
                <a:schemeClr val="bg1"/>
              </a:solidFill>
              <a:latin typeface="Bahnschrift" pitchFamily="34" charset="0"/>
            </a:endParaRPr>
          </a:p>
          <a:p>
            <a:pPr algn="ctr"/>
            <a:r>
              <a:rPr lang="en-GB" sz="3200" b="1" dirty="0" smtClean="0">
                <a:solidFill>
                  <a:schemeClr val="bg1"/>
                </a:solidFill>
                <a:latin typeface="Bahnschrift" pitchFamily="34" charset="0"/>
              </a:rPr>
              <a:t>Linear &amp; Combinatorial </a:t>
            </a:r>
            <a:r>
              <a:rPr lang="en-GB" sz="3200" b="1" dirty="0" err="1" smtClean="0">
                <a:solidFill>
                  <a:schemeClr val="bg1"/>
                </a:solidFill>
                <a:latin typeface="Bahnschrift" pitchFamily="34" charset="0"/>
              </a:rPr>
              <a:t>Optimazation</a:t>
            </a:r>
            <a:endParaRPr lang="en-US" sz="3200" b="1" dirty="0" smtClean="0">
              <a:solidFill>
                <a:schemeClr val="bg1"/>
              </a:solidFill>
              <a:latin typeface="Bahnschrift" pitchFamily="34" charset="0"/>
            </a:endParaRPr>
          </a:p>
          <a:p>
            <a:pPr algn="ctr"/>
            <a:r>
              <a:rPr lang="en-US" sz="3200" b="1" smtClean="0">
                <a:solidFill>
                  <a:schemeClr val="bg1"/>
                </a:solidFill>
                <a:latin typeface="Bahnschrift" pitchFamily="34" charset="0"/>
              </a:rPr>
              <a:t>Final </a:t>
            </a:r>
            <a:r>
              <a:rPr lang="en-US" sz="3200" b="1" smtClean="0">
                <a:solidFill>
                  <a:schemeClr val="bg1"/>
                </a:solidFill>
                <a:latin typeface="Bahnschrift" pitchFamily="34" charset="0"/>
              </a:rPr>
              <a:t>Project</a:t>
            </a:r>
            <a:endParaRPr lang="en-US" sz="3200" b="1" dirty="0">
              <a:solidFill>
                <a:schemeClr val="bg1"/>
              </a:solidFill>
              <a:latin typeface="Bahnschrift" pitchFamily="34" charset="0"/>
            </a:endParaRPr>
          </a:p>
          <a:p>
            <a:pPr algn="ctr"/>
            <a:r>
              <a:rPr lang="en-US" sz="3200" b="1" dirty="0" err="1" smtClean="0">
                <a:solidFill>
                  <a:schemeClr val="bg1"/>
                </a:solidFill>
                <a:latin typeface="Bahnschrift" pitchFamily="34" charset="0"/>
              </a:rPr>
              <a:t>Optimiz</a:t>
            </a:r>
            <a:r>
              <a:rPr lang="en-GB" sz="3200" b="1" dirty="0" smtClean="0">
                <a:solidFill>
                  <a:schemeClr val="bg1"/>
                </a:solidFill>
                <a:latin typeface="Bahnschrift" pitchFamily="34" charset="0"/>
              </a:rPr>
              <a:t>a</a:t>
            </a:r>
            <a:r>
              <a:rPr lang="en-US" sz="3200" b="1" dirty="0" err="1" smtClean="0">
                <a:solidFill>
                  <a:schemeClr val="bg1"/>
                </a:solidFill>
                <a:latin typeface="Bahnschrift" pitchFamily="34" charset="0"/>
              </a:rPr>
              <a:t>tion</a:t>
            </a:r>
            <a:r>
              <a:rPr lang="en-US" sz="3200" b="1" dirty="0" smtClean="0">
                <a:solidFill>
                  <a:schemeClr val="bg1"/>
                </a:solidFill>
                <a:latin typeface="Bahnschrift" pitchFamily="34" charset="0"/>
              </a:rPr>
              <a:t> in fitness programs</a:t>
            </a:r>
            <a:endParaRPr lang="en-US" sz="3200" b="1" dirty="0" smtClean="0">
              <a:solidFill>
                <a:schemeClr val="bg1"/>
              </a:solidFill>
              <a:latin typeface="Bahnschrift" pitchFamily="34" charset="0"/>
            </a:endParaRPr>
          </a:p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Bahnschrift" pitchFamily="34" charset="0"/>
              </a:rPr>
              <a:t>Academic  </a:t>
            </a:r>
            <a:r>
              <a:rPr lang="en-GB" sz="3200" b="1" dirty="0" smtClean="0">
                <a:solidFill>
                  <a:schemeClr val="bg1"/>
                </a:solidFill>
                <a:latin typeface="Bahnschrift" pitchFamily="34" charset="0"/>
              </a:rPr>
              <a:t>year - </a:t>
            </a:r>
            <a:r>
              <a:rPr lang="el-GR" sz="3200" b="1" dirty="0" smtClean="0">
                <a:solidFill>
                  <a:schemeClr val="bg1"/>
                </a:solidFill>
                <a:latin typeface="Bahnschrift" pitchFamily="34" charset="0"/>
              </a:rPr>
              <a:t>2024-2025</a:t>
            </a:r>
            <a:endParaRPr lang="en-GB" sz="3200" b="1" dirty="0" smtClean="0">
              <a:solidFill>
                <a:schemeClr val="bg1"/>
              </a:solidFill>
              <a:latin typeface="Bahnschrift" pitchFamily="34" charset="0"/>
            </a:endParaRPr>
          </a:p>
          <a:p>
            <a:pPr algn="ctr"/>
            <a:r>
              <a:rPr lang="en-GB" sz="3200" b="1" dirty="0" smtClean="0">
                <a:solidFill>
                  <a:schemeClr val="bg1"/>
                </a:solidFill>
                <a:latin typeface="Bahnschrift" pitchFamily="34" charset="0"/>
              </a:rPr>
              <a:t>Course Instructor  - </a:t>
            </a:r>
            <a:r>
              <a:rPr lang="en-GB" sz="3200" b="1" dirty="0" err="1" smtClean="0">
                <a:solidFill>
                  <a:schemeClr val="bg1"/>
                </a:solidFill>
                <a:latin typeface="Bahnschrift" pitchFamily="34" charset="0"/>
              </a:rPr>
              <a:t>Daskalaki</a:t>
            </a:r>
            <a:r>
              <a:rPr lang="en-GB" sz="3200" b="1" dirty="0" smtClean="0">
                <a:solidFill>
                  <a:schemeClr val="bg1"/>
                </a:solidFill>
                <a:latin typeface="Bahnschrift" pitchFamily="34" charset="0"/>
              </a:rPr>
              <a:t> Sofia</a:t>
            </a:r>
            <a:endParaRPr lang="en-US" sz="3200" b="1" dirty="0" smtClean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3528" y="404664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What is this project about? (1)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484784"/>
            <a:ext cx="77048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>
                <a:solidFill>
                  <a:schemeClr val="bg1"/>
                </a:solidFill>
                <a:latin typeface="Bahnschrift" pitchFamily="34" charset="0"/>
              </a:rPr>
              <a:t>-Optimal workout plan</a:t>
            </a:r>
          </a:p>
          <a:p>
            <a:r>
              <a:rPr lang="en-GB" sz="3600" dirty="0" smtClean="0">
                <a:solidFill>
                  <a:schemeClr val="bg1"/>
                </a:solidFill>
                <a:latin typeface="Bahnschrift" pitchFamily="34" charset="0"/>
              </a:rPr>
              <a:t>-2 versions</a:t>
            </a:r>
          </a:p>
          <a:p>
            <a:r>
              <a:rPr lang="en-GB" sz="3600" dirty="0" smtClean="0">
                <a:solidFill>
                  <a:schemeClr val="bg1"/>
                </a:solidFill>
                <a:latin typeface="Bahnschrift" pitchFamily="34" charset="0"/>
              </a:rPr>
              <a:t>-Model the 2 problems and then try to solve the using the Simplex method</a:t>
            </a:r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3528" y="404664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What is this project about? (2)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484784"/>
            <a:ext cx="77048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>
                <a:solidFill>
                  <a:schemeClr val="bg1"/>
                </a:solidFill>
                <a:latin typeface="Bahnschrift" pitchFamily="34" charset="0"/>
              </a:rPr>
              <a:t>-We then proceed to print the SAG and solve the dual problem (for one of the two versions)</a:t>
            </a:r>
          </a:p>
          <a:p>
            <a:endParaRPr lang="en-GB" sz="36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GB" sz="3600" dirty="0" smtClean="0">
                <a:solidFill>
                  <a:schemeClr val="bg1"/>
                </a:solidFill>
                <a:latin typeface="Bahnschrift" pitchFamily="34" charset="0"/>
              </a:rPr>
              <a:t>-Finally space and time metrics are computed for the code per se.</a:t>
            </a:r>
            <a:endParaRPr lang="en-GB" sz="36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GB" sz="3600" dirty="0" smtClean="0">
                <a:solidFill>
                  <a:schemeClr val="bg1"/>
                </a:solidFill>
                <a:latin typeface="Bahnschrift" pitchFamily="34" charset="0"/>
              </a:rPr>
              <a:t> </a:t>
            </a:r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3528" y="404664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Problem </a:t>
            </a:r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#1 (1)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484784"/>
            <a:ext cx="77048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Bahnschrift" pitchFamily="34" charset="0"/>
              </a:rPr>
              <a:t>What? -&gt; Maximization of fitness score</a:t>
            </a:r>
          </a:p>
          <a:p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3600" dirty="0" smtClean="0">
                <a:solidFill>
                  <a:schemeClr val="bg1"/>
                </a:solidFill>
                <a:latin typeface="Bahnschrift" pitchFamily="34" charset="0"/>
              </a:rPr>
              <a:t>What is a fitness score and how do we build it?</a:t>
            </a:r>
          </a:p>
          <a:p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3528" y="404664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Problem </a:t>
            </a:r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#1 (2)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484784"/>
            <a:ext cx="77048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Bahnschrift" pitchFamily="34" charset="0"/>
              </a:rPr>
              <a:t>Decision variables x1…x9</a:t>
            </a:r>
          </a:p>
          <a:p>
            <a:r>
              <a:rPr lang="en-US" sz="3600" dirty="0" smtClean="0">
                <a:solidFill>
                  <a:schemeClr val="bg1"/>
                </a:solidFill>
                <a:latin typeface="Bahnschrift" pitchFamily="34" charset="0"/>
              </a:rPr>
              <a:t>-What does each variable represent?</a:t>
            </a:r>
          </a:p>
          <a:p>
            <a:r>
              <a:rPr lang="en-US" sz="3600" dirty="0" smtClean="0">
                <a:solidFill>
                  <a:schemeClr val="bg1"/>
                </a:solidFill>
                <a:latin typeface="Bahnschrift" pitchFamily="34" charset="0"/>
              </a:rPr>
              <a:t>-How do we incorporate them into the objective function? </a:t>
            </a:r>
          </a:p>
          <a:p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3528" y="404664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Problem </a:t>
            </a:r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#1 (3)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484784"/>
            <a:ext cx="7704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Bahnschrift" pitchFamily="34" charset="0"/>
              </a:rPr>
              <a:t>Objective function:</a:t>
            </a:r>
          </a:p>
          <a:p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3600" dirty="0" smtClean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924944"/>
            <a:ext cx="9144000" cy="686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3528" y="404664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Problem </a:t>
            </a:r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#1 (4)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484784"/>
            <a:ext cx="77048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Bahnschrift" pitchFamily="34" charset="0"/>
              </a:rPr>
              <a:t>Types of constraints</a:t>
            </a:r>
          </a:p>
          <a:p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-Time budget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-Minimum guidelines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-Maximum guidelines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-Do not focus excessively or on one type of exercise instead of another; maintain a balance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-Time for recovery</a:t>
            </a:r>
          </a:p>
          <a:p>
            <a:r>
              <a:rPr lang="en-US" sz="3600" dirty="0" smtClean="0">
                <a:solidFill>
                  <a:schemeClr val="bg1"/>
                </a:solidFill>
                <a:latin typeface="Bahnschrift" pitchFamily="34" charset="0"/>
              </a:rPr>
              <a:t> </a:t>
            </a:r>
          </a:p>
          <a:p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23528" y="404664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Problem </a:t>
            </a:r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#1 (5)  (Code demo)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023132"/>
            <a:ext cx="9144000" cy="483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51520" y="332656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Problem </a:t>
            </a:r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#2 (1)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36" y="1484784"/>
            <a:ext cx="7704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-More advanced (</a:t>
            </a:r>
            <a:r>
              <a:rPr lang="el-GR" sz="2400" dirty="0" smtClean="0">
                <a:solidFill>
                  <a:schemeClr val="bg1"/>
                </a:solidFill>
                <a:latin typeface="Bahnschrift" pitchFamily="34" charset="0"/>
              </a:rPr>
              <a:t>&gt;700</a:t>
            </a:r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 decision variables + user-defined parameters!!!)</a:t>
            </a:r>
          </a:p>
          <a:p>
            <a:r>
              <a:rPr lang="en-US" sz="2400" dirty="0">
                <a:solidFill>
                  <a:schemeClr val="bg1"/>
                </a:solidFill>
                <a:latin typeface="Bahnschrift" pitchFamily="34" charset="0"/>
              </a:rPr>
              <a:t/>
            </a:r>
            <a:br>
              <a:rPr lang="en-US" sz="2400" dirty="0">
                <a:solidFill>
                  <a:schemeClr val="bg1"/>
                </a:solidFill>
                <a:latin typeface="Bahnschrift" pitchFamily="34" charset="0"/>
              </a:rPr>
            </a:br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</a:t>
            </a:r>
            <a:r>
              <a:rPr lang="el-GR" sz="2400" dirty="0" smtClean="0">
                <a:solidFill>
                  <a:schemeClr val="bg1"/>
                </a:solidFill>
                <a:latin typeface="Bahnschrift" pitchFamily="34" charset="0"/>
              </a:rPr>
              <a:t> &gt;5000</a:t>
            </a:r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constraints!!</a:t>
            </a:r>
          </a:p>
          <a:p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-Fully stated at</a:t>
            </a:r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400" dirty="0" smtClean="0">
                <a:hlinkClick r:id="rId3"/>
              </a:rPr>
              <a:t>An Optimization Model for Exercise Scheduling</a:t>
            </a:r>
            <a:r>
              <a:rPr lang="en-US" sz="2400" dirty="0" smtClean="0"/>
              <a:t> 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by </a:t>
            </a:r>
            <a:r>
              <a:rPr lang="en-US" sz="2400" dirty="0" err="1" smtClean="0">
                <a:solidFill>
                  <a:schemeClr val="bg1"/>
                </a:solidFill>
              </a:rPr>
              <a:t>Vardges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Melkonian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51520" y="332656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Problem </a:t>
            </a:r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#2 (2)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1412776"/>
            <a:ext cx="77048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 smtClean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-Objective function</a:t>
            </a:r>
          </a:p>
          <a:p>
            <a:endParaRPr lang="en-GB" sz="24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-Parameters (not decision variables – </a:t>
            </a:r>
            <a:r>
              <a:rPr lang="en-GB" sz="2400" dirty="0" err="1" smtClean="0">
                <a:solidFill>
                  <a:schemeClr val="bg1"/>
                </a:solidFill>
                <a:latin typeface="Bahnschrift" pitchFamily="34" charset="0"/>
              </a:rPr>
              <a:t>di</a:t>
            </a:r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, </a:t>
            </a:r>
            <a:r>
              <a:rPr lang="en-GB" sz="2400" dirty="0" err="1" smtClean="0">
                <a:solidFill>
                  <a:schemeClr val="bg1"/>
                </a:solidFill>
                <a:latin typeface="Bahnschrift" pitchFamily="34" charset="0"/>
              </a:rPr>
              <a:t>tij</a:t>
            </a:r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, M (muscle groups, E (types of exercises), </a:t>
            </a:r>
            <a:r>
              <a:rPr lang="en-GB" sz="2400" dirty="0" err="1" smtClean="0">
                <a:solidFill>
                  <a:schemeClr val="bg1"/>
                </a:solidFill>
                <a:latin typeface="Bahnschrift" pitchFamily="34" charset="0"/>
              </a:rPr>
              <a:t>wim</a:t>
            </a:r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, </a:t>
            </a:r>
            <a:r>
              <a:rPr lang="en-GB" sz="2400" dirty="0" err="1" smtClean="0">
                <a:solidFill>
                  <a:schemeClr val="bg1"/>
                </a:solidFill>
                <a:latin typeface="Bahnschrift" pitchFamily="34" charset="0"/>
              </a:rPr>
              <a:t>uim</a:t>
            </a:r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, MET(</a:t>
            </a:r>
            <a:r>
              <a:rPr lang="en-GB" sz="2400" dirty="0" err="1" smtClean="0">
                <a:solidFill>
                  <a:schemeClr val="bg1"/>
                </a:solidFill>
                <a:latin typeface="Bahnschrift" pitchFamily="34" charset="0"/>
              </a:rPr>
              <a:t>i</a:t>
            </a:r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), TMET</a:t>
            </a:r>
          </a:p>
          <a:p>
            <a:endParaRPr lang="en-GB" sz="24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-Decision variables xi exercise exists or not in the program), </a:t>
            </a:r>
            <a:r>
              <a:rPr lang="en-GB" sz="2400" dirty="0" err="1" smtClean="0">
                <a:solidFill>
                  <a:schemeClr val="bg1"/>
                </a:solidFill>
                <a:latin typeface="Bahnschrift" pitchFamily="34" charset="0"/>
              </a:rPr>
              <a:t>fij</a:t>
            </a:r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 (exercise comes after exercise j), </a:t>
            </a:r>
            <a:r>
              <a:rPr lang="en-GB" sz="2400" dirty="0" err="1" smtClean="0">
                <a:solidFill>
                  <a:schemeClr val="bg1"/>
                </a:solidFill>
                <a:latin typeface="Bahnschrift" pitchFamily="34" charset="0"/>
              </a:rPr>
              <a:t>si</a:t>
            </a:r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 (position of exercise </a:t>
            </a:r>
            <a:r>
              <a:rPr lang="en-GB" sz="2400" dirty="0" err="1" smtClean="0">
                <a:solidFill>
                  <a:schemeClr val="bg1"/>
                </a:solidFill>
                <a:latin typeface="Bahnschrift" pitchFamily="34" charset="0"/>
              </a:rPr>
              <a:t>i</a:t>
            </a:r>
            <a:r>
              <a:rPr lang="en-GB" sz="2400" dirty="0" smtClean="0">
                <a:solidFill>
                  <a:schemeClr val="bg1"/>
                </a:solidFill>
                <a:latin typeface="Bahnschrift" pitchFamily="34" charset="0"/>
              </a:rPr>
              <a:t>)</a:t>
            </a:r>
            <a:endParaRPr lang="en-US" sz="2400" dirty="0" smtClean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 </a:t>
            </a:r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1700808"/>
            <a:ext cx="1866900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520" y="332656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Problem </a:t>
            </a:r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#2 (3)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1412776"/>
            <a:ext cx="77048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 smtClean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-Constraints about  a)how many exercises are selected</a:t>
            </a:r>
          </a:p>
          <a:p>
            <a:r>
              <a:rPr lang="en-US" sz="2400" dirty="0">
                <a:solidFill>
                  <a:schemeClr val="bg1"/>
                </a:solidFill>
                <a:latin typeface="Bahnschrift" pitchFamily="34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		b) consecutive exercises/arcs</a:t>
            </a:r>
          </a:p>
          <a:p>
            <a:r>
              <a:rPr lang="en-US" sz="2400" dirty="0">
                <a:solidFill>
                  <a:schemeClr val="bg1"/>
                </a:solidFill>
                <a:latin typeface="Bahnschrift" pitchFamily="34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		c) no cycles in the program</a:t>
            </a:r>
          </a:p>
          <a:p>
            <a:r>
              <a:rPr lang="en-US" sz="2400" dirty="0">
                <a:solidFill>
                  <a:schemeClr val="bg1"/>
                </a:solidFill>
                <a:latin typeface="Bahnschrift" pitchFamily="34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		d) keeping  the program balanced enough and not focus too much/too little on one spec</a:t>
            </a:r>
            <a:r>
              <a:rPr lang="en-GB" sz="2400" dirty="0" err="1" smtClean="0">
                <a:solidFill>
                  <a:schemeClr val="bg1"/>
                </a:solidFill>
                <a:latin typeface="Bahnschrift" pitchFamily="34" charset="0"/>
              </a:rPr>
              <a:t>i</a:t>
            </a:r>
            <a:r>
              <a:rPr lang="en-US" sz="2400" dirty="0" err="1" smtClean="0">
                <a:solidFill>
                  <a:schemeClr val="bg1"/>
                </a:solidFill>
                <a:latin typeface="Bahnschrift" pitchFamily="34" charset="0"/>
              </a:rPr>
              <a:t>fic</a:t>
            </a:r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 muscle group</a:t>
            </a:r>
          </a:p>
          <a:p>
            <a:r>
              <a:rPr lang="en-US" sz="2400" dirty="0">
                <a:solidFill>
                  <a:schemeClr val="bg1"/>
                </a:solidFill>
                <a:latin typeface="Bahnschrift" pitchFamily="34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		</a:t>
            </a:r>
          </a:p>
          <a:p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 </a:t>
            </a:r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51520" y="332656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Problem </a:t>
            </a:r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#2 (4)-Code demo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250" y="1484313"/>
            <a:ext cx="5973763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51520" y="332656"/>
            <a:ext cx="84969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Comparison between the two types of problems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988840"/>
            <a:ext cx="7704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-Nature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-What we do in one and we do in the other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-Memory and time needed</a:t>
            </a:r>
          </a:p>
          <a:p>
            <a:endParaRPr lang="en-US" sz="2400" dirty="0" smtClean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3600" dirty="0" smtClean="0">
                <a:solidFill>
                  <a:schemeClr val="bg1"/>
                </a:solidFill>
                <a:latin typeface="Bahnschrift" pitchFamily="34" charset="0"/>
              </a:rPr>
              <a:t> </a:t>
            </a:r>
          </a:p>
          <a:p>
            <a:endParaRPr lang="en-US" sz="36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51520" y="332656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Conclusions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1412776"/>
            <a:ext cx="7704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 </a:t>
            </a:r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1412776"/>
            <a:ext cx="77048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 smtClean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-Comments concerning both of the problems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-What could we do better? (more realistic models, different algorithms, etc)</a:t>
            </a:r>
          </a:p>
          <a:p>
            <a:r>
              <a:rPr lang="en-US" sz="2400" dirty="0">
                <a:solidFill>
                  <a:schemeClr val="bg1"/>
                </a:solidFill>
                <a:latin typeface="Bahnschrift" pitchFamily="34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		</a:t>
            </a:r>
          </a:p>
          <a:p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Bahnschrift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hnschrift" pitchFamily="34" charset="0"/>
              </a:rPr>
              <a:t> </a:t>
            </a:r>
            <a:endParaRPr lang="en-US" sz="24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520" y="332656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Bahnschrift" pitchFamily="34" charset="0"/>
              </a:rPr>
              <a:t>Some bibliography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23528" y="1871917"/>
            <a:ext cx="7854971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3"/>
              </a:rPr>
              <a:t>High-Intensity Interval Training: For Fitness, for Health or Both?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4"/>
              </a:rPr>
              <a:t>Plyometric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4"/>
              </a:rPr>
              <a:t> Training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5"/>
              </a:rPr>
              <a:t>Search Results for “MET” – Compendium of Physical Activities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6"/>
              </a:rPr>
              <a:t>https://pmc.ncbi.nlm.nih.gov/articles/PMC11197041/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7"/>
              </a:rPr>
              <a:t>How to Measure Physical Activity Intensity | Physical Activity Basics | CDC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5536" y="4509120"/>
            <a:ext cx="50517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hlinkClick r:id="rId8"/>
              </a:rPr>
              <a:t>An Optimization Model for Exercise Scheduling</a:t>
            </a:r>
            <a:endParaRPr lang="en-US" sz="20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67544" y="2204864"/>
            <a:ext cx="84969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Thank you for your attention</a:t>
            </a:r>
          </a:p>
          <a:p>
            <a:pPr algn="ctr"/>
            <a:r>
              <a:rPr lang="en-US" sz="4800" dirty="0" smtClean="0">
                <a:solidFill>
                  <a:schemeClr val="bg1"/>
                </a:solidFill>
                <a:latin typeface="Bahnschrift" pitchFamily="34" charset="0"/>
              </a:rPr>
              <a:t>Any  questions?</a:t>
            </a:r>
            <a:endParaRPr lang="en-US" sz="48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434</Words>
  <Application>Microsoft Office PowerPoint</Application>
  <PresentationFormat>On-screen Show (4:3)</PresentationFormat>
  <Paragraphs>102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GEORGIOS SALIARHS</dc:creator>
  <cp:lastModifiedBy>GEORGIOS SALIARHS</cp:lastModifiedBy>
  <cp:revision>6</cp:revision>
  <dcterms:created xsi:type="dcterms:W3CDTF">2025-09-09T08:21:57Z</dcterms:created>
  <dcterms:modified xsi:type="dcterms:W3CDTF">2025-09-22T09:12:56Z</dcterms:modified>
</cp:coreProperties>
</file>
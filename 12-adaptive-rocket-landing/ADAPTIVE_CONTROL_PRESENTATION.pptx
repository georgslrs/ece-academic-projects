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Default Extension="png" ContentType="image/png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3" r:id="rId3"/>
    <p:sldId id="257" r:id="rId4"/>
    <p:sldId id="264" r:id="rId5"/>
    <p:sldId id="265" r:id="rId6"/>
    <p:sldId id="258" r:id="rId7"/>
    <p:sldId id="266" r:id="rId8"/>
    <p:sldId id="267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0A88-4DEF-4051-92BE-10A74E64916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42F42-D770-41A8-BB93-CEA40CE65A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0A88-4DEF-4051-92BE-10A74E64916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42F42-D770-41A8-BB93-CEA40CE65A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0A88-4DEF-4051-92BE-10A74E64916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42F42-D770-41A8-BB93-CEA40CE65A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0A88-4DEF-4051-92BE-10A74E64916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42F42-D770-41A8-BB93-CEA40CE65A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0A88-4DEF-4051-92BE-10A74E64916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42F42-D770-41A8-BB93-CEA40CE65A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0A88-4DEF-4051-92BE-10A74E64916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42F42-D770-41A8-BB93-CEA40CE65A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0A88-4DEF-4051-92BE-10A74E64916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42F42-D770-41A8-BB93-CEA40CE65A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0A88-4DEF-4051-92BE-10A74E64916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42F42-D770-41A8-BB93-CEA40CE65A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0A88-4DEF-4051-92BE-10A74E64916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42F42-D770-41A8-BB93-CEA40CE65A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0A88-4DEF-4051-92BE-10A74E64916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42F42-D770-41A8-BB93-CEA40CE65A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5C0A88-4DEF-4051-92BE-10A74E64916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542F42-D770-41A8-BB93-CEA40CE65AB1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15C0A88-4DEF-4051-92BE-10A74E649160}" type="datetimeFigureOut">
              <a:rPr lang="en-US" smtClean="0"/>
              <a:t>2/9/2026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42F42-D770-41A8-BB93-CEA40CE65AB1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6.png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rc.nasa.gov/www/k-12/rocket/guided.htm" TargetMode="External"/><Relationship Id="rId7" Type="http://schemas.openxmlformats.org/officeDocument/2006/relationships/hyperlink" Target="https://link.springer.com/book/10.1007/978-3-031-38314-4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wisgroup.uta.edu/ee5323/notes/Slotine%20and%20Li%20applied%20nonlinear%20control-%20bad%20quality.pdf" TargetMode="External"/><Relationship Id="rId5" Type="http://schemas.openxmlformats.org/officeDocument/2006/relationships/hyperlink" Target="https://ieeexplore.ieee.org/document/1691946" TargetMode="External"/><Relationship Id="rId4" Type="http://schemas.openxmlformats.org/officeDocument/2006/relationships/hyperlink" Target="https://ntrs.nasa.gov/api/citations/19960003439/downloads/19960003439.pdf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/>
            </a:r>
            <a:br>
              <a:rPr lang="en-US" dirty="0" smtClean="0"/>
            </a:br>
            <a:r>
              <a:rPr lang="en-US" dirty="0" smtClean="0"/>
              <a:t/>
            </a:r>
            <a:br>
              <a:rPr lang="en-US" dirty="0" smtClean="0"/>
            </a:b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 smtClean="0"/>
          </a:p>
          <a:p>
            <a:endParaRPr lang="en-US" dirty="0"/>
          </a:p>
        </p:txBody>
      </p:sp>
      <p:pic>
        <p:nvPicPr>
          <p:cNvPr id="1026" name="Picture 2" descr="C:\Users\georg\Downloads\ChatGPT Image 9 Φεβ 2026, 08_29_51 π.μ..png"/>
          <p:cNvPicPr>
            <a:picLocks noChangeAspect="1" noChangeArrowheads="1"/>
          </p:cNvPicPr>
          <p:nvPr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8132291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755576" y="548680"/>
            <a:ext cx="7704856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GB" sz="3200" b="1" dirty="0" smtClean="0">
                <a:solidFill>
                  <a:schemeClr val="bg1"/>
                </a:solidFill>
              </a:rPr>
              <a:t>Adaptive Control &amp; Reinforcement Learning</a:t>
            </a:r>
          </a:p>
          <a:p>
            <a:pPr algn="ctr"/>
            <a:endParaRPr lang="en-GB" sz="3200" b="1" dirty="0">
              <a:solidFill>
                <a:schemeClr val="bg1"/>
              </a:solidFill>
            </a:endParaRPr>
          </a:p>
          <a:p>
            <a:pPr algn="ctr"/>
            <a:r>
              <a:rPr lang="en-GB" sz="3200" b="1" dirty="0" smtClean="0">
                <a:solidFill>
                  <a:schemeClr val="bg1"/>
                </a:solidFill>
              </a:rPr>
              <a:t>Final Project</a:t>
            </a:r>
          </a:p>
          <a:p>
            <a:pPr algn="ctr"/>
            <a:endParaRPr lang="en-GB" sz="3200" b="1" dirty="0">
              <a:solidFill>
                <a:schemeClr val="bg1"/>
              </a:solidFill>
            </a:endParaRPr>
          </a:p>
          <a:p>
            <a:pPr algn="ctr"/>
            <a:r>
              <a:rPr lang="en-GB" sz="3200" b="1" dirty="0" smtClean="0">
                <a:solidFill>
                  <a:schemeClr val="bg1"/>
                </a:solidFill>
              </a:rPr>
              <a:t>George </a:t>
            </a:r>
            <a:r>
              <a:rPr lang="en-GB" sz="3200" b="1" dirty="0" err="1" smtClean="0">
                <a:solidFill>
                  <a:schemeClr val="bg1"/>
                </a:solidFill>
              </a:rPr>
              <a:t>Saliaris</a:t>
            </a:r>
            <a:r>
              <a:rPr lang="en-GB" sz="3200" b="1" dirty="0" smtClean="0">
                <a:solidFill>
                  <a:schemeClr val="bg1"/>
                </a:solidFill>
              </a:rPr>
              <a:t> 1092584</a:t>
            </a:r>
          </a:p>
          <a:p>
            <a:pPr algn="ctr"/>
            <a:endParaRPr lang="en-GB" sz="3200" b="1" dirty="0">
              <a:solidFill>
                <a:schemeClr val="bg1"/>
              </a:solidFill>
            </a:endParaRPr>
          </a:p>
          <a:p>
            <a:pPr algn="ctr"/>
            <a:r>
              <a:rPr lang="en-GB" sz="3200" b="1" dirty="0" smtClean="0">
                <a:solidFill>
                  <a:schemeClr val="bg1"/>
                </a:solidFill>
              </a:rPr>
              <a:t>Undergraduate Student –  ECE </a:t>
            </a:r>
            <a:r>
              <a:rPr lang="en-GB" sz="3200" b="1" dirty="0" err="1" smtClean="0">
                <a:solidFill>
                  <a:schemeClr val="bg1"/>
                </a:solidFill>
              </a:rPr>
              <a:t>Upatras</a:t>
            </a:r>
            <a:endParaRPr lang="en-GB" sz="3200" b="1" dirty="0" smtClean="0">
              <a:solidFill>
                <a:schemeClr val="bg1"/>
              </a:solidFill>
            </a:endParaRPr>
          </a:p>
          <a:p>
            <a:pPr algn="ctr"/>
            <a:endParaRPr lang="en-GB" sz="3200" b="1" dirty="0">
              <a:solidFill>
                <a:schemeClr val="bg1"/>
              </a:solidFill>
            </a:endParaRPr>
          </a:p>
          <a:p>
            <a:pPr algn="ctr"/>
            <a:r>
              <a:rPr lang="en-GB" sz="3200" b="1" dirty="0" smtClean="0">
                <a:solidFill>
                  <a:schemeClr val="bg1"/>
                </a:solidFill>
              </a:rPr>
              <a:t>Academic year 2025-2026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C:\Users\georg\Downloads\ChatGPT Image 9 Φεβ 2026, 08_29_51 π.μ.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323528" y="260648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 smtClean="0">
                <a:solidFill>
                  <a:schemeClr val="bg1"/>
                </a:solidFill>
              </a:rPr>
              <a:t>What is this project about?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395536" y="1340768"/>
            <a:ext cx="770485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GB" dirty="0" smtClean="0">
                <a:solidFill>
                  <a:schemeClr val="bg1"/>
                </a:solidFill>
              </a:rPr>
              <a:t>Design an adaptive controller so as a rocket with a thrust/weight ratio = 2, can  land safely  inside a zone, with  a speed of &lt; 5 m/s 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7544" y="2564904"/>
            <a:ext cx="770485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GB" dirty="0" smtClean="0">
                <a:solidFill>
                  <a:schemeClr val="bg1"/>
                </a:solidFill>
              </a:rPr>
              <a:t>2 adaptive control schemes</a:t>
            </a:r>
          </a:p>
          <a:p>
            <a:pPr>
              <a:buFont typeface="Wingdings" pitchFamily="2" charset="2"/>
              <a:buChar char="§"/>
            </a:pPr>
            <a:r>
              <a:rPr lang="en-GB" dirty="0" smtClean="0">
                <a:solidFill>
                  <a:schemeClr val="bg1"/>
                </a:solidFill>
              </a:rPr>
              <a:t>Adaptive </a:t>
            </a:r>
            <a:r>
              <a:rPr lang="en-GB" dirty="0" err="1" smtClean="0">
                <a:solidFill>
                  <a:schemeClr val="bg1"/>
                </a:solidFill>
              </a:rPr>
              <a:t>Backsteppish</a:t>
            </a:r>
            <a:r>
              <a:rPr lang="en-GB" dirty="0" smtClean="0">
                <a:solidFill>
                  <a:schemeClr val="bg1"/>
                </a:solidFill>
              </a:rPr>
              <a:t> (a variation of Adaptive </a:t>
            </a:r>
            <a:r>
              <a:rPr lang="en-GB" dirty="0" err="1" smtClean="0">
                <a:solidFill>
                  <a:schemeClr val="bg1"/>
                </a:solidFill>
              </a:rPr>
              <a:t>backstepping</a:t>
            </a:r>
            <a:r>
              <a:rPr lang="en-GB" dirty="0" smtClean="0">
                <a:solidFill>
                  <a:schemeClr val="bg1"/>
                </a:solidFill>
              </a:rPr>
              <a:t>)</a:t>
            </a:r>
          </a:p>
          <a:p>
            <a:pPr>
              <a:buFont typeface="Wingdings" pitchFamily="2" charset="2"/>
              <a:buChar char="§"/>
            </a:pPr>
            <a:r>
              <a:rPr lang="en-GB" dirty="0" err="1" smtClean="0">
                <a:solidFill>
                  <a:schemeClr val="bg1"/>
                </a:solidFill>
              </a:rPr>
              <a:t>Adaotive</a:t>
            </a:r>
            <a:r>
              <a:rPr lang="en-GB" dirty="0" smtClean="0">
                <a:solidFill>
                  <a:schemeClr val="bg1"/>
                </a:solidFill>
              </a:rPr>
              <a:t> controller using the MIT rule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C:\Users\georg\Downloads\ChatGPT Image 9 Φεβ 2026, 08_29_51 π.μ.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323528" y="260648"/>
            <a:ext cx="864096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 smtClean="0">
                <a:solidFill>
                  <a:schemeClr val="bg1"/>
                </a:solidFill>
              </a:rPr>
              <a:t>Dynamics of the system (1) –most important equations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4099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897063" y="1611313"/>
            <a:ext cx="5349875" cy="36353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C:\Users\georg\Downloads\ChatGPT Image 9 Φεβ 2026, 08_29_51 π.μ.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323528" y="260648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 smtClean="0">
                <a:solidFill>
                  <a:schemeClr val="bg1"/>
                </a:solidFill>
              </a:rPr>
              <a:t>Dynamics of the system (2)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755576" y="1196752"/>
            <a:ext cx="2484437" cy="1066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4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755576" y="2708920"/>
            <a:ext cx="5303837" cy="930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5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755576" y="4077072"/>
            <a:ext cx="4313237" cy="6096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5127" name="Picture 7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755576" y="4941168"/>
            <a:ext cx="2514600" cy="1265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C:\Users\georg\Downloads\ChatGPT Image 9 Φεβ 2026, 08_29_51 π.μ.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323528" y="260648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 smtClean="0">
                <a:solidFill>
                  <a:schemeClr val="bg1"/>
                </a:solidFill>
              </a:rPr>
              <a:t>Dynamics of the system (3)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6146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539552" y="1628800"/>
            <a:ext cx="1616075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C:\Users\georg\Downloads\ChatGPT Image 9 Φεβ 2026, 08_29_51 π.μ.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179512" y="260648"/>
            <a:ext cx="79928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 smtClean="0">
                <a:solidFill>
                  <a:schemeClr val="bg1"/>
                </a:solidFill>
              </a:rPr>
              <a:t>Controller Design – Adaptive </a:t>
            </a:r>
            <a:r>
              <a:rPr lang="en-GB" sz="4000" b="1" dirty="0" err="1" smtClean="0">
                <a:solidFill>
                  <a:schemeClr val="bg1"/>
                </a:solidFill>
              </a:rPr>
              <a:t>Backstepping</a:t>
            </a:r>
            <a:r>
              <a:rPr lang="en-GB" sz="4000" b="1" dirty="0" smtClean="0">
                <a:solidFill>
                  <a:schemeClr val="bg1"/>
                </a:solidFill>
              </a:rPr>
              <a:t> (1) 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323528" y="2420888"/>
            <a:ext cx="6984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dirty="0" smtClean="0">
                <a:solidFill>
                  <a:schemeClr val="bg1"/>
                </a:solidFill>
              </a:rPr>
              <a:t>Core equations</a:t>
            </a:r>
            <a:r>
              <a:rPr lang="en-US" dirty="0" smtClean="0">
                <a:solidFill>
                  <a:schemeClr val="bg1"/>
                </a:solidFill>
              </a:rPr>
              <a:t>:</a:t>
            </a:r>
            <a:endParaRPr lang="en-US" dirty="0">
              <a:solidFill>
                <a:schemeClr val="bg1"/>
              </a:solidFill>
            </a:endParaRPr>
          </a:p>
        </p:txBody>
      </p:sp>
      <p:pic>
        <p:nvPicPr>
          <p:cNvPr id="7171" name="Picture 3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544" y="3140968"/>
            <a:ext cx="2005013" cy="884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2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467544" y="4293096"/>
            <a:ext cx="2416175" cy="8080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7173" name="Picture 5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467544" y="5373216"/>
            <a:ext cx="3178175" cy="1082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C:\Users\georg\Downloads\ChatGPT Image 9 Φεβ 2026, 08_29_51 π.μ.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179512" y="260648"/>
            <a:ext cx="799288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 smtClean="0">
                <a:solidFill>
                  <a:schemeClr val="bg1"/>
                </a:solidFill>
              </a:rPr>
              <a:t>Controller Design – Adaptive </a:t>
            </a:r>
            <a:r>
              <a:rPr lang="en-GB" sz="4000" b="1" dirty="0" err="1" smtClean="0">
                <a:solidFill>
                  <a:schemeClr val="bg1"/>
                </a:solidFill>
              </a:rPr>
              <a:t>Backstepping</a:t>
            </a:r>
            <a:r>
              <a:rPr lang="en-GB" sz="4000" b="1" dirty="0" smtClean="0">
                <a:solidFill>
                  <a:schemeClr val="bg1"/>
                </a:solidFill>
              </a:rPr>
              <a:t> (2) 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7" name="Picture 6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251520" y="2060848"/>
            <a:ext cx="3299460" cy="8305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8" name="Picture 7"/>
          <p:cNvPicPr/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251520" y="3068960"/>
            <a:ext cx="2781300" cy="876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9" name="TextBox 8"/>
          <p:cNvSpPr txBox="1"/>
          <p:nvPr/>
        </p:nvSpPr>
        <p:spPr>
          <a:xfrm>
            <a:off x="323528" y="4365104"/>
            <a:ext cx="7272808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 smtClean="0">
                <a:solidFill>
                  <a:schemeClr val="bg1"/>
                </a:solidFill>
              </a:rPr>
              <a:t>-Q: </a:t>
            </a:r>
            <a:r>
              <a:rPr lang="en-US" b="1" dirty="0" err="1" smtClean="0">
                <a:solidFill>
                  <a:schemeClr val="bg1"/>
                </a:solidFill>
              </a:rPr>
              <a:t>hy</a:t>
            </a:r>
            <a:r>
              <a:rPr lang="en-US" b="1" dirty="0" smtClean="0">
                <a:solidFill>
                  <a:schemeClr val="bg1"/>
                </a:solidFill>
              </a:rPr>
              <a:t> is this called adaptive </a:t>
            </a:r>
            <a:r>
              <a:rPr lang="en-US" b="1" dirty="0" err="1" smtClean="0">
                <a:solidFill>
                  <a:schemeClr val="bg1"/>
                </a:solidFill>
              </a:rPr>
              <a:t>Backstepping</a:t>
            </a:r>
            <a:r>
              <a:rPr lang="en-US" b="1" dirty="0" smtClean="0">
                <a:solidFill>
                  <a:schemeClr val="bg1"/>
                </a:solidFill>
              </a:rPr>
              <a:t>?</a:t>
            </a:r>
          </a:p>
          <a:p>
            <a:r>
              <a:rPr lang="en-US" b="1" dirty="0" smtClean="0">
                <a:solidFill>
                  <a:schemeClr val="bg1"/>
                </a:solidFill>
              </a:rPr>
              <a:t>-A:  </a:t>
            </a:r>
            <a:r>
              <a:rPr lang="en-US" b="1" dirty="0" err="1" smtClean="0">
                <a:solidFill>
                  <a:schemeClr val="bg1"/>
                </a:solidFill>
              </a:rPr>
              <a:t>Ee</a:t>
            </a:r>
            <a:r>
              <a:rPr lang="en-US" b="1" dirty="0" smtClean="0">
                <a:solidFill>
                  <a:schemeClr val="bg1"/>
                </a:solidFill>
              </a:rPr>
              <a:t> first pick virtual targets (e.g., desired velocities/accelerations), then “step back” and convert them into the real inputs (throttle + </a:t>
            </a:r>
            <a:r>
              <a:rPr lang="en-US" b="1" dirty="0" err="1" smtClean="0">
                <a:solidFill>
                  <a:schemeClr val="bg1"/>
                </a:solidFill>
              </a:rPr>
              <a:t>gimbal</a:t>
            </a:r>
            <a:r>
              <a:rPr lang="en-US" b="1" dirty="0" smtClean="0">
                <a:solidFill>
                  <a:schemeClr val="bg1"/>
                </a:solidFill>
              </a:rPr>
              <a:t>). That layered/virtual-input idea is exactly what </a:t>
            </a:r>
            <a:r>
              <a:rPr lang="en-US" b="1" dirty="0" err="1" smtClean="0">
                <a:solidFill>
                  <a:schemeClr val="bg1"/>
                </a:solidFill>
              </a:rPr>
              <a:t>backstepping</a:t>
            </a:r>
            <a:r>
              <a:rPr lang="en-US" b="1" dirty="0" smtClean="0">
                <a:solidFill>
                  <a:schemeClr val="bg1"/>
                </a:solidFill>
              </a:rPr>
              <a:t> is about. It’s adaptive because the controller updates an estimate online.</a:t>
            </a:r>
            <a:endParaRPr lang="en-US" b="1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C:\Users\georg\Downloads\ChatGPT Image 9 Φεβ 2026, 08_29_51 π.μ.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179512" y="260648"/>
            <a:ext cx="799288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 smtClean="0">
                <a:solidFill>
                  <a:schemeClr val="bg1"/>
                </a:solidFill>
              </a:rPr>
              <a:t>Controller Design – MIT Rule 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8194" name="Picture 2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1560" y="1556792"/>
            <a:ext cx="2293937" cy="7397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6" name="Picture 4"/>
          <p:cNvPicPr>
            <a:picLocks noChangeAspect="1" noChangeArrowheads="1"/>
          </p:cNvPicPr>
          <p:nvPr/>
        </p:nvPicPr>
        <p:blipFill>
          <a:blip r:embed="rId4" cstate="print"/>
          <a:srcRect/>
          <a:stretch>
            <a:fillRect/>
          </a:stretch>
        </p:blipFill>
        <p:spPr bwMode="auto">
          <a:xfrm>
            <a:off x="683568" y="2636912"/>
            <a:ext cx="2019300" cy="51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198" name="Picture 6"/>
          <p:cNvPicPr>
            <a:picLocks noChangeAspect="1" noChangeArrowheads="1"/>
          </p:cNvPicPr>
          <p:nvPr/>
        </p:nvPicPr>
        <p:blipFill>
          <a:blip r:embed="rId5" cstate="print"/>
          <a:srcRect/>
          <a:stretch>
            <a:fillRect/>
          </a:stretch>
        </p:blipFill>
        <p:spPr bwMode="auto">
          <a:xfrm>
            <a:off x="683568" y="3501008"/>
            <a:ext cx="1812925" cy="4953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  <p:pic>
        <p:nvPicPr>
          <p:cNvPr id="8200" name="Picture 8"/>
          <p:cNvPicPr>
            <a:picLocks noChangeAspect="1" noChangeArrowheads="1"/>
          </p:cNvPicPr>
          <p:nvPr/>
        </p:nvPicPr>
        <p:blipFill>
          <a:blip r:embed="rId6" cstate="print"/>
          <a:srcRect/>
          <a:stretch>
            <a:fillRect/>
          </a:stretch>
        </p:blipFill>
        <p:spPr bwMode="auto">
          <a:xfrm>
            <a:off x="683568" y="4365104"/>
            <a:ext cx="2225675" cy="5492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C:\Users\georg\Downloads\ChatGPT Image 9 Φεβ 2026, 08_29_51 π.μ.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" y="0"/>
            <a:ext cx="9143999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323528" y="260648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 smtClean="0">
                <a:solidFill>
                  <a:schemeClr val="bg1"/>
                </a:solidFill>
              </a:rPr>
              <a:t>Simulation / Code demonstration</a:t>
            </a:r>
            <a:endParaRPr lang="en-US" sz="4000" b="1" dirty="0">
              <a:solidFill>
                <a:schemeClr val="bg1"/>
              </a:solidFill>
            </a:endParaRPr>
          </a:p>
        </p:txBody>
      </p:sp>
      <p:pic>
        <p:nvPicPr>
          <p:cNvPr id="6" name="Picture 5"/>
          <p:cNvPicPr/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475656" y="1844824"/>
            <a:ext cx="5904656" cy="36004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C:\Users\georg\Downloads\ChatGPT Image 9 Φεβ 2026, 08_29_51 π.μ.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6" name="TextBox 5"/>
          <p:cNvSpPr txBox="1"/>
          <p:nvPr/>
        </p:nvSpPr>
        <p:spPr>
          <a:xfrm>
            <a:off x="251520" y="260648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 smtClean="0">
                <a:solidFill>
                  <a:schemeClr val="bg1"/>
                </a:solidFill>
              </a:rPr>
              <a:t>Some comments / discussion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67544" y="1268760"/>
            <a:ext cx="7416824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buFont typeface="Wingdings" pitchFamily="2" charset="2"/>
              <a:buChar char="§"/>
            </a:pPr>
            <a:r>
              <a:rPr lang="en-US" b="1" dirty="0" smtClean="0">
                <a:solidFill>
                  <a:schemeClr val="bg1"/>
                </a:solidFill>
              </a:rPr>
              <a:t> Controller architecture (big picture):</a:t>
            </a:r>
            <a:r>
              <a:rPr lang="en-US" dirty="0" smtClean="0">
                <a:solidFill>
                  <a:schemeClr val="bg1"/>
                </a:solidFill>
              </a:rPr>
              <a:t> We generate safe </a:t>
            </a:r>
            <a:r>
              <a:rPr lang="en-US" b="1" dirty="0" smtClean="0">
                <a:solidFill>
                  <a:schemeClr val="bg1"/>
                </a:solidFill>
              </a:rPr>
              <a:t>velocity targets</a:t>
            </a:r>
            <a:r>
              <a:rPr lang="en-US" dirty="0" smtClean="0">
                <a:solidFill>
                  <a:schemeClr val="bg1"/>
                </a:solidFill>
              </a:rPr>
              <a:t>, track them with PD to get </a:t>
            </a:r>
            <a:r>
              <a:rPr lang="en-US" b="1" dirty="0" smtClean="0">
                <a:solidFill>
                  <a:schemeClr val="bg1"/>
                </a:solidFill>
              </a:rPr>
              <a:t>desired accelerations</a:t>
            </a:r>
            <a:r>
              <a:rPr lang="en-US" dirty="0" smtClean="0">
                <a:solidFill>
                  <a:schemeClr val="bg1"/>
                </a:solidFill>
              </a:rPr>
              <a:t>, convert that to a </a:t>
            </a:r>
            <a:r>
              <a:rPr lang="en-US" b="1" dirty="0" smtClean="0">
                <a:solidFill>
                  <a:schemeClr val="bg1"/>
                </a:solidFill>
              </a:rPr>
              <a:t>desired thrust vector + throttle</a:t>
            </a:r>
            <a:r>
              <a:rPr lang="en-US" dirty="0" smtClean="0">
                <a:solidFill>
                  <a:schemeClr val="bg1"/>
                </a:solidFill>
              </a:rPr>
              <a:t>, and stabilize attitude with an inner loop—while </a:t>
            </a:r>
            <a:r>
              <a:rPr lang="en-US" b="1" dirty="0" smtClean="0">
                <a:solidFill>
                  <a:schemeClr val="bg1"/>
                </a:solidFill>
              </a:rPr>
              <a:t>saturations/clamps</a:t>
            </a:r>
            <a:r>
              <a:rPr lang="en-US" dirty="0" smtClean="0">
                <a:solidFill>
                  <a:schemeClr val="bg1"/>
                </a:solidFill>
              </a:rPr>
              <a:t> enforce real actuator limits.</a:t>
            </a:r>
            <a:endParaRPr lang="el-GR" dirty="0" smtClean="0">
              <a:solidFill>
                <a:schemeClr val="bg1"/>
              </a:solidFill>
            </a:endParaRPr>
          </a:p>
          <a:p>
            <a:pPr>
              <a:buFont typeface="Wingdings" pitchFamily="2" charset="2"/>
              <a:buChar char="§"/>
            </a:pPr>
            <a:endParaRPr lang="el-GR" dirty="0" smtClean="0">
              <a:solidFill>
                <a:schemeClr val="bg1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solidFill>
                  <a:schemeClr val="bg1"/>
                </a:solidFill>
              </a:rPr>
              <a:t>MIT controllers  succeeds whereas AB controller does not (possible </a:t>
            </a:r>
            <a:r>
              <a:rPr lang="en-US" dirty="0" err="1" smtClean="0">
                <a:solidFill>
                  <a:schemeClr val="bg1"/>
                </a:solidFill>
              </a:rPr>
              <a:t>filxes</a:t>
            </a:r>
            <a:r>
              <a:rPr lang="en-US" dirty="0" smtClean="0">
                <a:solidFill>
                  <a:schemeClr val="bg1"/>
                </a:solidFill>
              </a:rPr>
              <a:t>?)</a:t>
            </a:r>
          </a:p>
          <a:p>
            <a:endParaRPr lang="en-US" dirty="0" smtClean="0">
              <a:solidFill>
                <a:schemeClr val="bg1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GB" dirty="0" smtClean="0">
                <a:solidFill>
                  <a:schemeClr val="bg1"/>
                </a:solidFill>
              </a:rPr>
              <a:t>W</a:t>
            </a:r>
            <a:r>
              <a:rPr lang="en-US" dirty="0" smtClean="0">
                <a:solidFill>
                  <a:schemeClr val="bg1"/>
                </a:solidFill>
              </a:rPr>
              <a:t>e can combine both of these controllers</a:t>
            </a:r>
            <a:endParaRPr lang="el-GR" dirty="0" smtClean="0">
              <a:solidFill>
                <a:schemeClr val="bg1"/>
              </a:solidFill>
            </a:endParaRPr>
          </a:p>
          <a:p>
            <a:endParaRPr lang="en-US" dirty="0" smtClean="0">
              <a:solidFill>
                <a:schemeClr val="bg1"/>
              </a:solidFill>
            </a:endParaRPr>
          </a:p>
          <a:p>
            <a:pPr>
              <a:buFont typeface="Wingdings" pitchFamily="2" charset="2"/>
              <a:buChar char="§"/>
            </a:pPr>
            <a:r>
              <a:rPr lang="en-US" dirty="0" smtClean="0">
                <a:solidFill>
                  <a:schemeClr val="bg1"/>
                </a:solidFill>
              </a:rPr>
              <a:t>Other types of controllers? </a:t>
            </a:r>
            <a:endParaRPr lang="el-GR" dirty="0" smtClean="0">
              <a:solidFill>
                <a:schemeClr val="bg1"/>
              </a:solidFill>
            </a:endParaRPr>
          </a:p>
          <a:p>
            <a:r>
              <a:rPr lang="en-US" b="1" dirty="0" smtClean="0">
                <a:solidFill>
                  <a:schemeClr val="bg1"/>
                </a:solidFill>
              </a:rPr>
              <a:t>Limitations &amp; next steps:</a:t>
            </a:r>
            <a:r>
              <a:rPr lang="en-US" dirty="0" smtClean="0">
                <a:solidFill>
                  <a:schemeClr val="bg1"/>
                </a:solidFill>
              </a:rPr>
              <a:t> Better contact/landing dynamics, improved estimation (filters for </a:t>
            </a:r>
            <a:r>
              <a:rPr lang="en-US" dirty="0" err="1" smtClean="0">
                <a:solidFill>
                  <a:schemeClr val="bg1"/>
                </a:solidFill>
              </a:rPr>
              <a:t>accel</a:t>
            </a:r>
            <a:r>
              <a:rPr lang="en-US" dirty="0" smtClean="0">
                <a:solidFill>
                  <a:schemeClr val="bg1"/>
                </a:solidFill>
              </a:rPr>
              <a:t>/</a:t>
            </a:r>
            <a:r>
              <a:rPr lang="en-US" dirty="0" err="1" smtClean="0">
                <a:solidFill>
                  <a:schemeClr val="bg1"/>
                </a:solidFill>
              </a:rPr>
              <a:t>vel</a:t>
            </a:r>
            <a:r>
              <a:rPr lang="en-US" dirty="0" smtClean="0">
                <a:solidFill>
                  <a:schemeClr val="bg1"/>
                </a:solidFill>
              </a:rPr>
              <a:t>), systematic gain tuning via Monte-Carlo noise/wind, and (if needed) more advanced guidance/optimal control for fuel/time efficiency.</a:t>
            </a:r>
          </a:p>
          <a:p>
            <a:endParaRPr lang="en-US" dirty="0" smtClean="0"/>
          </a:p>
          <a:p>
            <a:r>
              <a:rPr lang="en-US" dirty="0"/>
              <a:t>-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2" descr="C:\Users\georg\Downloads\ChatGPT Image 9 Φεβ 2026, 08_29_51 π.μ..png"/>
          <p:cNvPicPr>
            <a:picLocks noGrp="1" noChangeAspect="1" noChangeArrowheads="1"/>
          </p:cNvPicPr>
          <p:nvPr>
            <p:ph idx="1"/>
          </p:nvPr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3999" cy="6858000"/>
          </a:xfrm>
          <a:prstGeom prst="rect">
            <a:avLst/>
          </a:prstGeom>
          <a:noFill/>
        </p:spPr>
      </p:pic>
      <p:sp>
        <p:nvSpPr>
          <p:cNvPr id="5" name="TextBox 4"/>
          <p:cNvSpPr txBox="1"/>
          <p:nvPr/>
        </p:nvSpPr>
        <p:spPr>
          <a:xfrm>
            <a:off x="323528" y="260648"/>
            <a:ext cx="864096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4000" b="1" dirty="0" smtClean="0">
                <a:solidFill>
                  <a:schemeClr val="bg1"/>
                </a:solidFill>
              </a:rPr>
              <a:t>Bibliography</a:t>
            </a:r>
            <a:endParaRPr lang="en-US" sz="4000" b="1" dirty="0">
              <a:solidFill>
                <a:schemeClr val="bg1"/>
              </a:solidFill>
            </a:endParaRPr>
          </a:p>
        </p:txBody>
      </p:sp>
      <p:sp>
        <p:nvSpPr>
          <p:cNvPr id="21505" name="Rectangle 1"/>
          <p:cNvSpPr>
            <a:spLocks noChangeArrowheads="1"/>
          </p:cNvSpPr>
          <p:nvPr/>
        </p:nvSpPr>
        <p:spPr bwMode="auto">
          <a:xfrm>
            <a:off x="467544" y="1433681"/>
            <a:ext cx="7092280" cy="34163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GB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  <a:hlinkClick r:id="rId3"/>
              </a:rPr>
              <a:t>Guided Tours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  <a:hlinkClick r:id="rId4"/>
              </a:rPr>
              <a:t>https://ntrs.nasa.gov/api/citations/19960003439/downloads/19960003439.pdf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  <a:hlinkClick r:id="rId5"/>
              </a:rPr>
              <a:t>Adaptive </a:t>
            </a: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  <a:hlinkClick r:id="rId5"/>
              </a:rPr>
              <a:t>Backstepping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  <a:hlinkClick r:id="rId5"/>
              </a:rPr>
              <a:t> Control for Flight Simulator | IEEE Conference Publication | IEEE </a:t>
            </a: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  <a:hlinkClick r:id="rId5"/>
              </a:rPr>
              <a:t>Xplore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</a:rPr>
              <a:t>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  <a:hlinkClick r:id="rId6"/>
              </a:rPr>
              <a:t>lewisgroup.uta.edu/ee5323/notes/</a:t>
            </a:r>
            <a:r>
              <a:rPr kumimoji="0" lang="en-US" sz="2400" b="1" i="0" u="none" strike="noStrike" cap="none" normalizeH="0" baseline="0" dirty="0" err="1" smtClean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  <a:hlinkClick r:id="rId6"/>
              </a:rPr>
              <a:t>Slotine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  <a:hlinkClick r:id="rId6"/>
              </a:rPr>
              <a:t> and Li applied nonlinear control- bad quality.pdf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itchFamily="2" charset="2"/>
              <a:buChar char="§"/>
              <a:tabLst/>
            </a:pP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Verdana" pitchFamily="34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kumimoji="0" lang="en-US" sz="2400" b="1" i="0" u="none" strike="noStrike" cap="none" normalizeH="0" baseline="0" dirty="0" smtClean="0">
                <a:ln>
                  <a:noFill/>
                </a:ln>
                <a:solidFill>
                  <a:schemeClr val="bg1"/>
                </a:solidFill>
                <a:effectLst/>
                <a:latin typeface="Calibri" pitchFamily="34" charset="0"/>
                <a:ea typeface="Calibri" pitchFamily="34" charset="0"/>
                <a:cs typeface="Times New Roman" pitchFamily="18" charset="0"/>
                <a:hlinkClick r:id="rId7"/>
              </a:rPr>
              <a:t>Robust and Adaptive Control: With Aerospace Applications | Springer Nature Link</a:t>
            </a:r>
            <a:endParaRPr kumimoji="0" lang="en-US" sz="2400" b="1" i="0" u="none" strike="noStrike" cap="none" normalizeH="0" baseline="0" dirty="0" smtClean="0">
              <a:ln>
                <a:noFill/>
              </a:ln>
              <a:solidFill>
                <a:schemeClr val="bg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1467</TotalTime>
  <Words>340</Words>
  <Application>Microsoft Office PowerPoint</Application>
  <PresentationFormat>On-screen Show (4:3)</PresentationFormat>
  <Paragraphs>42</Paragraphs>
  <Slides>11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2" baseType="lpstr">
      <vt:lpstr>Office Theme</vt:lpstr>
      <vt:lpstr>  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  </dc:title>
  <dc:creator>GEORGIOS SALIARHS</dc:creator>
  <cp:lastModifiedBy>GEORGIOS SALIARHS</cp:lastModifiedBy>
  <cp:revision>1</cp:revision>
  <dcterms:created xsi:type="dcterms:W3CDTF">2026-02-09T06:29:02Z</dcterms:created>
  <dcterms:modified xsi:type="dcterms:W3CDTF">2026-02-10T06:56:55Z</dcterms:modified>
</cp:coreProperties>
</file>
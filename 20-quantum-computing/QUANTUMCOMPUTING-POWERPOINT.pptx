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86.xml" ContentType="application/vnd.openxmlformats-officedocument.presentationml.slideLayout+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slides/slide14.xml" ContentType="application/vnd.openxmlformats-officedocument.presentationml.slide+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Masters/slideMaster8.xml" ContentType="application/vnd.openxmlformats-officedocument.presentationml.slideMaster+xml"/>
  <Override PartName="/ppt/slideMasters/slideMaster6.xml" ContentType="application/vnd.openxmlformats-officedocument.presentationml.slideMaster+xml"/>
  <Override PartName="/ppt/theme/theme8.xml" ContentType="application/vnd.openxmlformats-officedocument.them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8.xml" ContentType="application/vnd.openxmlformats-officedocument.presentationml.slideLayout+xml"/>
  <Override PartName="/ppt/slideLayouts/slideLayout87.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slideLayouts/slideLayout76.xml" ContentType="application/vnd.openxmlformats-officedocument.presentationml.slideLayout+xml"/>
  <Override PartName="/ppt/slideLayouts/slideLayout85.xml" ContentType="application/vnd.openxmlformats-officedocument.presentationml.slideLayout+xml"/>
  <Default Extension="png" ContentType="image/png"/>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Layouts/slideLayout74.xml" ContentType="application/vnd.openxmlformats-officedocument.presentationml.slideLayout+xml"/>
  <Override PartName="/ppt/slideLayouts/slideLayout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slideLayouts/slideLayout81.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7.xml" ContentType="application/vnd.openxmlformats-officedocument.presentationml.slideMaster+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8.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91" r:id="rId3"/>
    <p:sldMasterId id="2147483703" r:id="rId4"/>
    <p:sldMasterId id="2147483715" r:id="rId5"/>
    <p:sldMasterId id="2147483727" r:id="rId6"/>
    <p:sldMasterId id="2147483739" r:id="rId7"/>
    <p:sldMasterId id="2147483751" r:id="rId8"/>
  </p:sldMasterIdLst>
  <p:sldIdLst>
    <p:sldId id="259" r:id="rId9"/>
    <p:sldId id="262" r:id="rId10"/>
    <p:sldId id="265" r:id="rId11"/>
    <p:sldId id="268" r:id="rId12"/>
    <p:sldId id="271" r:id="rId13"/>
    <p:sldId id="274" r:id="rId14"/>
    <p:sldId id="277" r:id="rId15"/>
    <p:sldId id="280" r:id="rId16"/>
    <p:sldId id="283" r:id="rId17"/>
    <p:sldId id="286" r:id="rId18"/>
    <p:sldId id="289" r:id="rId19"/>
    <p:sldId id="292" r:id="rId20"/>
    <p:sldId id="298" r:id="rId21"/>
    <p:sldId id="301" r:id="rId22"/>
    <p:sldId id="302" r:id="rId23"/>
    <p:sldId id="303" r:id="rId24"/>
  </p:sldIdLst>
  <p:sldSz cx="9144000" cy="6858000" type="screen4x3"/>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 uri="{1BD7E111-0CB8-44D6-8891-C1BB2F81B7CC}">
      <p1710:readonlyRecommended xmlns:p1710="http://schemas.microsoft.com/office/powerpoint/2017/10/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p:restoredTop sz="0"/>
  </p:normalViewPr>
  <p:slideViewPr>
    <p:cSldViewPr>
      <p:cViewPr>
        <p:scale>
          <a:sx n="73" d="100"/>
          <a:sy n="73" d="100"/>
        </p:scale>
        <p:origin x="-1699" y="-374"/>
      </p:cViewPr>
      <p:guideLst>
        <p:guide orient="horz" pos="2160"/>
        <p:guide pos="2880"/>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3.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Click to edit Master title style</a:t>
            </a:r>
            <a:endParaRPr lang="en-US"/>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2"/>
          </p:nvPr>
        </p:nvSpPr>
        <p:spPr/>
        <p:txBody>
          <a:bodyPr/>
          <a:lstStyle/>
          <a:p>
            <a:fld id="{B426B31E-16E7-4965-8B21-1A53089A8818}" type="datetimeFigureOut">
              <a:rPr lang="en-US" smtClean="0"/>
              <a:pPr/>
              <a:t>6/22/2022</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p:txBody>
          <a:bodyPr/>
          <a:lstStyle/>
          <a:p>
            <a:fld id="{BAC8CC75-E460-4951-AD78-FED3054FD683}" type="datetimeFigureOut">
              <a:rPr lang="en-US" smtClean="0"/>
              <a:pPr/>
              <a:t>6/22/2022</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p:cNvSpPr>
            <a:spLocks noGrp="1"/>
          </p:cNvSpPr>
          <p:nvPr>
            <p:ph type="dt" sz="half" idx="2"/>
          </p:nvPr>
        </p:nvSpPr>
        <p:spPr/>
        <p:txBody>
          <a:bodyPr/>
          <a:lstStyle/>
          <a:p>
            <a:fld id="{09240023-8280-4FC3-B506-CC1949F1B580}" type="datetimeFigureOut">
              <a:rPr lang="en-US" smtClean="0"/>
              <a:pPr/>
              <a:t>6/22/2022</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3"/>
          </p:nvPr>
        </p:nvSpPr>
        <p:spPr/>
        <p:txBody>
          <a:bodyPr/>
          <a:lstStyle/>
          <a:p>
            <a:fld id="{D37881C9-82B1-4F5E-A66C-B1D90492DB82}" type="datetimeFigureOut">
              <a:rPr lang="en-US" smtClean="0"/>
              <a:pPr/>
              <a:t>6/22/2022</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5"/>
          </p:nvPr>
        </p:nvSpPr>
        <p:spPr/>
        <p:txBody>
          <a:bodyPr/>
          <a:lstStyle/>
          <a:p>
            <a:fld id="{5A0406A3-15F7-40EE-AAA4-03DD41981049}" type="datetimeFigureOut">
              <a:rPr lang="en-US" smtClean="0"/>
              <a:pPr/>
              <a:t>6/22/2022</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
          </p:nvPr>
        </p:nvSpPr>
        <p:spPr/>
        <p:txBody>
          <a:bodyPr/>
          <a:lstStyle/>
          <a:p>
            <a:fld id="{AD90780A-B75A-49D0-A6CA-C07B3026D10C}" type="datetimeFigureOut">
              <a:rPr lang="en-US" smtClean="0"/>
              <a:pPr/>
              <a:t>6/22/2022</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2FFB811-255D-470D-9BE0-8E0F86131A8C}" type="datetimeFigureOut">
              <a:rPr lang="en-US" smtClean="0"/>
              <a:pPr/>
              <a:t>6/22/2022</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p:cNvSpPr>
            <a:spLocks noGrp="1"/>
          </p:cNvSpPr>
          <p:nvPr>
            <p:ph type="dt" sz="half" idx="3"/>
          </p:nvPr>
        </p:nvSpPr>
        <p:spPr/>
        <p:txBody>
          <a:bodyPr/>
          <a:lstStyle/>
          <a:p>
            <a:fld id="{FC5F2CCB-0BDF-4720-A961-F4B1552BF6BF}" type="datetimeFigureOut">
              <a:rPr lang="en-US" smtClean="0"/>
              <a:pPr/>
              <a:t>6/22/2022</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p:cNvSpPr>
            <a:spLocks noGrp="1"/>
          </p:cNvSpPr>
          <p:nvPr>
            <p:ph type="dt" sz="half" idx="3"/>
          </p:nvPr>
        </p:nvSpPr>
        <p:spPr/>
        <p:txBody>
          <a:bodyPr/>
          <a:lstStyle/>
          <a:p>
            <a:fld id="{7A0FAC00-E14C-4749-850A-5879D2184DEE}" type="datetimeFigureOut">
              <a:rPr lang="en-US" smtClean="0"/>
              <a:pPr/>
              <a:t>6/22/2022</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p:txBody>
          <a:bodyPr/>
          <a:lstStyle/>
          <a:p>
            <a:fld id="{EB4B57F9-3E19-4D3C-ACBC-66A330D381C3}" type="datetimeFigureOut">
              <a:rPr lang="en-US" smtClean="0"/>
              <a:pPr/>
              <a:t>6/22/2022</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p:txBody>
          <a:bodyPr/>
          <a:lstStyle/>
          <a:p>
            <a:fld id="{80F77B09-E46F-47F0-922E-E4B7644BE6E6}" type="datetimeFigureOut">
              <a:rPr lang="en-US" smtClean="0"/>
              <a:pPr/>
              <a:t>6/22/2022</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1 - Τίτλος"/>
          <p:cNvSpPr>
            <a:spLocks noGrp="1"/>
          </p:cNvSpPr>
          <p:nvPr>
            <p:ph type="ctrTitle"/>
          </p:nvPr>
        </p:nvSpPr>
        <p:spPr>
          <a:xfrm>
            <a:off x="685800" y="2130425"/>
            <a:ext cx="7772400" cy="1470025"/>
          </a:xfrm>
        </p:spPr>
        <p:txBody>
          <a:bodyPr/>
          <a:lstStyle/>
          <a:p>
            <a:r>
              <a:rPr lang="el-GR" smtClean="0"/>
              <a:t>Kλικ για επεξεργασία του τίτλου</a:t>
            </a:r>
            <a:endParaRPr lang="el-GR"/>
          </a:p>
        </p:txBody>
      </p:sp>
      <p:sp>
        <p:nvSpPr>
          <p:cNvPr id="3" name="2 - Υπότιτλος"/>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smtClean="0"/>
              <a:t>Κάντε κλικ για να επεξεργαστείτε τον υπότιτλο του υποδείγματος</a:t>
            </a:r>
            <a:endParaRPr lang="el-GR"/>
          </a:p>
        </p:txBody>
      </p:sp>
      <p:sp>
        <p:nvSpPr>
          <p:cNvPr id="4" name="3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Αντι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idx="1"/>
          </p:nvPr>
        </p:nvSpPr>
        <p:spPr/>
        <p:txBody>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1 - Τίτλος"/>
          <p:cNvSpPr>
            <a:spLocks noGrp="1"/>
          </p:cNvSpPr>
          <p:nvPr>
            <p:ph type="title"/>
          </p:nvPr>
        </p:nvSpPr>
        <p:spPr>
          <a:xfrm>
            <a:off x="722313" y="4406900"/>
            <a:ext cx="7772400" cy="1362075"/>
          </a:xfrm>
        </p:spPr>
        <p:txBody>
          <a:bodyPr anchor="t"/>
          <a:lstStyle>
            <a:lvl1pPr algn="l">
              <a:defRPr sz="4000" b="1" cap="all"/>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smtClean="0"/>
              <a:t>Kλικ για επεξεργασία των στυλ του υποδείγματος</a:t>
            </a:r>
          </a:p>
        </p:txBody>
      </p:sp>
      <p:sp>
        <p:nvSpPr>
          <p:cNvPr id="4" name="3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περιεχομένου"/>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lvl1pPr>
              <a:defRPr/>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4" name="3 - Θέση περιεχομένου"/>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κειμένου"/>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6" name="5 - Θέση περιεχομένου"/>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7" name="6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8" name="7 - Θέση υποσέλιδου"/>
          <p:cNvSpPr>
            <a:spLocks noGrp="1"/>
          </p:cNvSpPr>
          <p:nvPr>
            <p:ph type="ftr" sz="quarter" idx="11"/>
          </p:nvPr>
        </p:nvSpPr>
        <p:spPr/>
        <p:txBody>
          <a:bodyPr/>
          <a:lstStyle/>
          <a:p>
            <a:endParaRPr lang="el-GR"/>
          </a:p>
        </p:txBody>
      </p:sp>
      <p:sp>
        <p:nvSpPr>
          <p:cNvPr id="9" name="8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4" name="3 - Θέση υποσέλιδου"/>
          <p:cNvSpPr>
            <a:spLocks noGrp="1"/>
          </p:cNvSpPr>
          <p:nvPr>
            <p:ph type="ftr" sz="quarter" idx="11"/>
          </p:nvPr>
        </p:nvSpPr>
        <p:spPr/>
        <p:txBody>
          <a:bodyPr/>
          <a:lstStyle/>
          <a:p>
            <a:endParaRPr lang="el-GR"/>
          </a:p>
        </p:txBody>
      </p:sp>
      <p:sp>
        <p:nvSpPr>
          <p:cNvPr id="5" name="4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1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3" name="2 - Θέση υποσέλιδου"/>
          <p:cNvSpPr>
            <a:spLocks noGrp="1"/>
          </p:cNvSpPr>
          <p:nvPr>
            <p:ph type="ftr" sz="quarter" idx="11"/>
          </p:nvPr>
        </p:nvSpPr>
        <p:spPr/>
        <p:txBody>
          <a:bodyPr/>
          <a:lstStyle/>
          <a:p>
            <a:endParaRPr lang="el-GR"/>
          </a:p>
        </p:txBody>
      </p:sp>
      <p:sp>
        <p:nvSpPr>
          <p:cNvPr id="4" name="3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457200" y="273050"/>
            <a:ext cx="3008313" cy="1162050"/>
          </a:xfrm>
        </p:spPr>
        <p:txBody>
          <a:bodyPr anchor="b"/>
          <a:lstStyle>
            <a:lvl1pPr algn="l">
              <a:defRPr sz="2000" b="1"/>
            </a:lvl1pPr>
          </a:lstStyle>
          <a:p>
            <a:r>
              <a:rPr lang="el-GR" smtClean="0"/>
              <a:t>Kλικ για επεξεργασία του τίτλου</a:t>
            </a:r>
            <a:endParaRPr lang="el-GR"/>
          </a:p>
        </p:txBody>
      </p:sp>
      <p:sp>
        <p:nvSpPr>
          <p:cNvPr id="3" name="2 - Θέση περιεχομένου"/>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κειμένου"/>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4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1792288" y="4800600"/>
            <a:ext cx="5486400" cy="566738"/>
          </a:xfrm>
        </p:spPr>
        <p:txBody>
          <a:bodyPr anchor="b"/>
          <a:lstStyle>
            <a:lvl1pPr algn="l">
              <a:defRPr sz="2000" b="1"/>
            </a:lvl1pPr>
          </a:lstStyle>
          <a:p>
            <a:r>
              <a:rPr lang="el-GR" smtClean="0"/>
              <a:t>Kλικ για επεξεργασία του τίτλου</a:t>
            </a:r>
            <a:endParaRPr lang="el-GR"/>
          </a:p>
        </p:txBody>
      </p:sp>
      <p:sp>
        <p:nvSpPr>
          <p:cNvPr id="3" name="2 - Θέση εικόνας"/>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3 - Θέση κειμένου"/>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4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1 - Κατακόρυφος τίτλος"/>
          <p:cNvSpPr>
            <a:spLocks noGrp="1"/>
          </p:cNvSpPr>
          <p:nvPr>
            <p:ph type="title" orient="vert"/>
          </p:nvPr>
        </p:nvSpPr>
        <p:spPr>
          <a:xfrm>
            <a:off x="6629400" y="274638"/>
            <a:ext cx="2057400" cy="5851525"/>
          </a:xfrm>
        </p:spPr>
        <p:txBody>
          <a:bodyPr vert="eaVert"/>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a:xfrm>
            <a:off x="457200" y="274638"/>
            <a:ext cx="6019800" cy="5851525"/>
          </a:xfrm>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C58935BA-A93D-4EA3-B489-715DCB7ACC08}"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101BC6EB-C5B6-4865-8C27-5D48736AF72C}" type="slidenum">
              <a:rPr lang="el-GR" smtClean="0"/>
              <a:pPr/>
              <a:t>‹#›</a:t>
            </a:fld>
            <a:endParaRPr lang="el-G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97304BD-4CB2-41FA-C58F-AE02344289BB}"/>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54D87F4-4356-4C3E-3111-E3AD99F700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8AFAFF8-D885-62A7-EB1A-624C415DE48E}"/>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FC80E67-BDE4-18D1-5EC6-629D42C3B9EB}"/>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3312596-9F6E-9D75-5CC2-32F2C384BEA9}"/>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51808778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1C7A546-9A7C-3301-FF3C-57E055338312}"/>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B35EA61-DAB3-0EE1-017F-69F024B80CEE}"/>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005E987-4701-B8CD-62A4-61B5F59F3C48}"/>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DA3F369-3C28-D66C-4148-8F67F7237C08}"/>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9590E00-B4D4-D391-F3ED-D27C0014E296}"/>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06976676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E72B36C-4FA1-CF5F-A88A-9FF10F062C0F}"/>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B5B90BB-FB60-1D7E-9A5A-BD53C514F4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C110C2E-CFD8-4DA3-043C-7A2169E207EC}"/>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296703D-9D4A-C143-9E0E-6C463FDAD673}"/>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5467534-594F-1490-F4A3-EC0ED498D249}"/>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416226757"/>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7F9C22E-3D42-F2C0-EAED-75858DDABD8C}"/>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0600C0A-C972-4DE9-39C7-CDE2EF456A82}"/>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74539B8-1559-E755-410F-0ABF5FE1A00D}"/>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75A2FCF-36EC-B1FF-141D-4B7BA8CDD858}"/>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1E1CE38-7189-30B0-2757-6D3867385D41}"/>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C7C9788-3C47-4E07-FC4E-878AB83CFC0B}"/>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77232163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77FA766-CD26-52BA-04A5-CD3392ECFA4D}"/>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626C9B8-F243-76C0-5B3B-7BB159E47B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ED4D88C-7001-22E1-E4C9-058747EA9AB7}"/>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6430117-C98A-29A6-373E-7D112B6C60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F5C833F-6B8C-A378-63C1-1B2B0445938E}"/>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136F882-952A-AAA5-95A1-C3A416E76B2C}"/>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8" name="Θέση υποσέλιδου 7">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A704670-A337-3583-73C2-A4F4D7210781}"/>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14EDBB4-9344-1C77-AB92-9651C8FD3C82}"/>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72588032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8799BC0-E17B-3558-CE56-28FE78913B7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22001AD-A296-A450-F51F-A04C92744ECF}"/>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4" name="Θέση υποσέλιδ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83AC2E0-0562-01A6-203C-F21AB71ED2BD}"/>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22A0E30-84C0-29F9-5659-8A8C8C928CBD}"/>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46767853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1694BFF-EB02-7E65-452D-AE2C349F0E30}"/>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3" name="Θέση υποσέλιδ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918FF0D-831F-AB55-A8EA-0E692A5DFE67}"/>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25504F4-79DA-2B44-CD96-CDD6E53B09C9}"/>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911629554"/>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7A322F5-2482-A208-2BA6-6CC590233B37}"/>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3B1D03D-0E39-DB98-06B0-B2903F1345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554FE32-F99D-484D-7B76-4B2E990E0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F7EFF84-814A-CA58-4D47-402F96730588}"/>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B831915-EC79-B29A-11B0-F5602943D04B}"/>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11121B5-1C78-E3CB-1ECD-56F92638FB85}"/>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41433117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B8F5808-7FB5-C78B-0BEC-7CD0D1EDDF9A}"/>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BB2195B-0DB1-7A7F-491B-3F1C457944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F9F1197-9235-AF08-38C4-EB19B45662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CD21A57-7296-15DC-EF8A-F9AD27F93F05}"/>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F8101F3-1076-3E10-A2E3-A242A55510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B0A7275-1336-86E2-A5C2-FD93B06E14D5}"/>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30896615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DCBD1B1-D498-E2BA-272D-494E8C13B97B}"/>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BB37566-6B05-F335-D8E4-3ED489FA1540}"/>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883E3D5-FCEA-89D0-45C5-22FF4A95547D}"/>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E4757D9-C1E3-2D01-8E69-0793151B5B2F}"/>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2E14BD5-EDA0-F1BB-A2DA-8054578D09E9}"/>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844191557"/>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4EC2555-F238-2E80-A72E-B84FD3BD377B}"/>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9560A7A-B1D0-363B-8489-6E6AF05638A5}"/>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91451EF-5B5A-3F94-C254-6662F8D4F5BD}"/>
              </a:ext>
            </a:extLst>
          </p:cNvPr>
          <p:cNvSpPr>
            <a:spLocks noGrp="1"/>
          </p:cNvSpPr>
          <p:nvPr>
            <p:ph type="dt" sz="half" idx="10"/>
          </p:nvPr>
        </p:nvSpPr>
        <p:spPr/>
        <p:txBody>
          <a:bodyPr/>
          <a:lstStyle/>
          <a:p>
            <a:fld id="{51D89244-A503-4774-8054-7C10C272B2F2}"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48F78F1-ADDD-8142-00EF-E901C86A2E3F}"/>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0529E7E-684F-DA38-D11A-35A3545E3624}"/>
              </a:ext>
            </a:extLst>
          </p:cNvPr>
          <p:cNvSpPr>
            <a:spLocks noGrp="1"/>
          </p:cNvSpPr>
          <p:nvPr>
            <p:ph type="sldNum" sz="quarter" idx="12"/>
          </p:nvPr>
        </p:nvSpPr>
        <p:spPr/>
        <p:txBody>
          <a:body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95273329"/>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pPr/>
              <a:t>22/6/2022</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975687137"/>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pPr/>
              <a:t>22/6/2022</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235862668"/>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pPr/>
              <a:t>22/6/2022</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359469378"/>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8526F0F3-3C53-41BC-8FFD-0BFB6DD91672}" type="datetimeFigureOut">
              <a:rPr lang="el-GR" smtClean="0"/>
              <a:pPr/>
              <a:t>22/6/2022</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424105707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8526F0F3-3C53-41BC-8FFD-0BFB6DD91672}" type="datetimeFigureOut">
              <a:rPr lang="el-GR" smtClean="0"/>
              <a:pPr/>
              <a:t>22/6/2022</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650387611"/>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8526F0F3-3C53-41BC-8FFD-0BFB6DD91672}" type="datetimeFigureOut">
              <a:rPr lang="el-GR" smtClean="0"/>
              <a:pPr/>
              <a:t>22/6/2022</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997914119"/>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8526F0F3-3C53-41BC-8FFD-0BFB6DD91672}" type="datetimeFigureOut">
              <a:rPr lang="el-GR" smtClean="0"/>
              <a:pPr/>
              <a:t>22/6/2022</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17584405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8526F0F3-3C53-41BC-8FFD-0BFB6DD91672}" type="datetimeFigureOut">
              <a:rPr lang="el-GR" smtClean="0"/>
              <a:pPr/>
              <a:t>22/6/2022</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799475375"/>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8526F0F3-3C53-41BC-8FFD-0BFB6DD91672}" type="datetimeFigureOut">
              <a:rPr lang="el-GR" smtClean="0"/>
              <a:pPr/>
              <a:t>22/6/2022</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47315976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pPr/>
              <a:t>22/6/2022</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8016639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8526F0F3-3C53-41BC-8FFD-0BFB6DD91672}" type="datetimeFigureOut">
              <a:rPr lang="el-GR" smtClean="0"/>
              <a:pPr/>
              <a:t>22/6/2022</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93852639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9D955CB-8831-C03E-86D2-A90978BB771C}"/>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426A6D5-D54C-8537-64A0-7281962056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2F62C34-153B-6B38-4AD3-FFE63AF2D2FE}"/>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FDDE3E6-646C-DA84-AFD6-47AE2B092B1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7204C16-4ACD-A184-9706-FA015F2D1074}"/>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681076456"/>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903DAF7-DB27-2086-F3C2-E7AB788220EB}"/>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962B8B8-0844-B386-395F-8D51ABCFB329}"/>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B61E130-B8A1-09FF-7B35-DCCA204F97C4}"/>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9075D4F-996A-C419-9468-5E3A9036C01A}"/>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020B7A5-6933-F23A-DA29-D65E885443EB}"/>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81484906"/>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BFDCA42-C135-77FA-163B-BACF291928F4}"/>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77BBDA5-830C-E9D0-6FD2-5C92C7439A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64A90C5-E141-2820-C065-9D112E2BB87D}"/>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C2B3ACB-49C8-E521-F566-3174C20F2A7C}"/>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53A4657-5EBB-42C6-80AD-B18EBEFB5E08}"/>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899710906"/>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B85D903-227A-C5A2-EFD6-B1D78E9F4C7B}"/>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469949E-3006-D6D0-DAD4-187758D58BA7}"/>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7D88927-9370-6319-C8F8-A25E759F81EC}"/>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A83E1A5-7474-99AA-BEEE-462CB66753FE}"/>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F912F9B-CE86-7E51-E604-4EB98ED57ED5}"/>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E942423-461A-4044-B16F-34D2FEB9FC21}"/>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6712487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F79DC9C-AB5D-0702-519D-D087F1DEC858}"/>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05D2212-6EDA-9270-63B4-ED927E3D08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E780FC9-5664-2B56-B9D3-747DB0181FB1}"/>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A1143C8-3226-D4CE-C887-D6ECD9AC00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0F6180A-E43E-F933-7D3F-4935BEB43069}"/>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70AD53A-C3AD-0FF9-6666-F210C4C696A2}"/>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8" name="Θέση υποσέλιδου 7">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BB658F1-8D6E-5ADE-D8E6-B133B696F54F}"/>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706971D-1E74-7C6D-FC75-E1E4B6B4D7A1}"/>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046253677"/>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11B3C6C-E350-7B85-2708-29A92B6E98B0}"/>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BC19F4B-14BA-A7BE-9148-7B4A5D9A8C43}"/>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4" name="Θέση υποσέλιδ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ACC7F9A-0974-93E0-E6E6-B36DB9E1484F}"/>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BBC8C71-BD90-6E88-57FE-6BCAAEA62E2F}"/>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519447384"/>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756303F-9804-76A5-9376-843DAE019B78}"/>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3" name="Θέση υποσέλιδ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DC9F269-3210-B28A-9079-81D3E5E1F492}"/>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95AB43D-3E45-C6CE-FD91-6B8EA1039B49}"/>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536350217"/>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BF524B7-2510-D8E4-6F61-5EFA060379B9}"/>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233C782-0834-FBA6-2DC7-1CE6BEC34B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D328E07-93A7-30A5-3BCB-BAAABE80B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FFF35FF-317B-4150-DD57-F921D57456B6}"/>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D81FBBB-2F4C-1CB7-5FBC-5AC20C8A8465}"/>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8FEF4AE-68AD-F243-F40E-6F46744CBC20}"/>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691711741"/>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CF7CEF0-F9E4-E972-FE39-CA99FC62D5CB}"/>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0EC29B0-0ADF-305B-9EEB-C26BEE6204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26D3D91-C726-3B0A-067F-886B6B9370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A9B5524-8822-BCB0-066E-09D2B20AC596}"/>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2810016-1807-C043-ABA8-0653C40AADC9}"/>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8D0D58D-26DB-85E2-E990-776355A005AE}"/>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380384385"/>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C189DFC-3F1D-621E-3B2C-483BD192DD6B}"/>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57B6220-5B23-A14A-5AE5-53A924EF02C7}"/>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3028984-C1B1-414B-18E1-437D74032486}"/>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13F5942-D316-E018-3545-A46CA76AB59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5FEE2C6-474A-D419-0F86-B38B415377C2}"/>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815398462"/>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B47ACDA-2CC1-9133-E042-7E6015A1A2C1}"/>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C370E79-D182-1AD9-5988-B2F724334AE5}"/>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8C0B0E1-70F1-9215-116D-891FF7684447}"/>
              </a:ext>
            </a:extLst>
          </p:cNvPr>
          <p:cNvSpPr>
            <a:spLocks noGrp="1"/>
          </p:cNvSpPr>
          <p:nvPr>
            <p:ph type="dt" sz="half" idx="10"/>
          </p:nvPr>
        </p:nvSpPr>
        <p:spPr/>
        <p:txBody>
          <a:bodyPr/>
          <a:lstStyle/>
          <a:p>
            <a:fld id="{466B6969-45D2-431C-959C-2585B3A1E996}"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89A872E-9186-A2B1-AE29-4A4B533873D7}"/>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27DB88B-E2F7-A116-910C-17F535D97535}"/>
              </a:ext>
            </a:extLst>
          </p:cNvPr>
          <p:cNvSpPr>
            <a:spLocks noGrp="1"/>
          </p:cNvSpPr>
          <p:nvPr>
            <p:ph type="sldNum" sz="quarter" idx="12"/>
          </p:nvPr>
        </p:nvSpPr>
        <p:spPr/>
        <p:txBody>
          <a:body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40608779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27092A5-FABA-5152-ED5B-16AACDF78599}"/>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endParaRPr lang="en-US"/>
          </a:p>
        </p:txBody>
      </p:sp>
      <p:sp>
        <p:nvSpPr>
          <p:cNvPr id="3" name="Υπότιτλο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05EFD00-C5F9-6491-D022-9E99402EE9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US"/>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557297D-45E7-80F3-3869-F3E2F87EE0D2}"/>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500FC2D-7EC2-181F-4C69-A2715169F387}"/>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3268CC7-E8D6-8259-EA75-70CB49E07066}"/>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647437949"/>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C1C902B-E034-DB11-D80F-D12B1D5676D8}"/>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F0A7A69-C4BC-A38D-9E6D-10A047D07324}"/>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59932F9-C0F0-3178-DFC4-5FBF2929CCD5}"/>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DDCB665-D229-BBC1-15B4-130229B86891}"/>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F9F6BBA-BBCD-142D-DA64-C4EB50C5786E}"/>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980411063"/>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050EEA8-3B66-E844-078B-DA16AFCC0EB1}"/>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A2720C6-4FCA-9438-C69A-2E64E938D2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87F92BC-47BA-E0A8-868C-8D71217BD340}"/>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7A4FB4C-9BEB-AA39-C615-CD1D9E79A475}"/>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A77130B-123B-7A7F-E8EA-A70B21C5EDD3}"/>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315404683"/>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53E63D1-FDEF-47BB-86B8-9D639CD5F3A2}"/>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CD1EB12-2793-6E3D-9BD4-46899BD30896}"/>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7F4EAC7-530C-82C9-AAF1-81E07F77854A}"/>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577BEDD-EEA0-223E-B89A-56D256329EDC}"/>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7BA18A5-9E13-FA52-7056-DDFBCDE32BCB}"/>
              </a:ext>
            </a:extLst>
          </p:cNvPr>
          <p:cNvSpPr>
            <a:spLocks noGrp="1"/>
          </p:cNvSpPr>
          <p:nvPr>
            <p:ph type="ftr" sz="quarter" idx="11"/>
          </p:nvPr>
        </p:nvSpPr>
        <p:spPr/>
        <p:txBody>
          <a:bodyPr/>
          <a:lstStyle/>
          <a:p>
            <a:endParaRPr lang="en-US"/>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79E2844-B7CA-1876-B63A-ED7A0EF7FCDB}"/>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936289590"/>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3B8609A-9A51-1209-FF06-A8F3A11620D4}"/>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C9A56A1-A13F-C295-8670-CBCC0C4A30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662BDB8-A6EB-E88E-5DFA-AB0F69C70057}"/>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5" name="Θέση κειμέν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EC1B613-5473-21D9-36E6-52D4979851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16E9CFF-7761-DDB1-5E18-AF24CE59D0FF}"/>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7" name="Θέση ημερομηνί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BA46638-8C32-7BC3-FFAD-C376AF79A602}"/>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8" name="Θέση υποσέλιδου 7">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F578316-5CBF-08BA-A7CC-E504BB2BE3EA}"/>
              </a:ext>
            </a:extLst>
          </p:cNvPr>
          <p:cNvSpPr>
            <a:spLocks noGrp="1"/>
          </p:cNvSpPr>
          <p:nvPr>
            <p:ph type="ftr" sz="quarter" idx="11"/>
          </p:nvPr>
        </p:nvSpPr>
        <p:spPr/>
        <p:txBody>
          <a:bodyPr/>
          <a:lstStyle/>
          <a:p>
            <a:endParaRPr lang="en-US"/>
          </a:p>
        </p:txBody>
      </p:sp>
      <p:sp>
        <p:nvSpPr>
          <p:cNvPr id="9" name="Θέση αριθμού διαφάνειας 8">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F12F0A7-392E-01DD-709E-468F3B19E443}"/>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464539789"/>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A490B40-B5B5-A9F5-7464-E37E1DD20FDC}"/>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ημερομηνί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A121C78-32D3-815A-EE8B-FDDE71FE109B}"/>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4" name="Θέση υποσέλιδ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50792B9-CDB3-C3F7-A2D5-B50087D34D22}"/>
              </a:ext>
            </a:extLst>
          </p:cNvPr>
          <p:cNvSpPr>
            <a:spLocks noGrp="1"/>
          </p:cNvSpPr>
          <p:nvPr>
            <p:ph type="ftr" sz="quarter" idx="11"/>
          </p:nvPr>
        </p:nvSpPr>
        <p:spPr/>
        <p:txBody>
          <a:bodyPr/>
          <a:lstStyle/>
          <a:p>
            <a:endParaRPr lang="en-US"/>
          </a:p>
        </p:txBody>
      </p:sp>
      <p:sp>
        <p:nvSpPr>
          <p:cNvPr id="5" name="Θέση αριθμού διαφάνει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99B5A06-5FC2-5BA2-9877-38D6E6B9FD8E}"/>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425476245"/>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8790F63-5F97-AFB3-487C-24945D93D56C}"/>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3" name="Θέση υποσέλιδ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DE4AA91-45DB-D525-9596-65206C4B3B5B}"/>
              </a:ext>
            </a:extLst>
          </p:cNvPr>
          <p:cNvSpPr>
            <a:spLocks noGrp="1"/>
          </p:cNvSpPr>
          <p:nvPr>
            <p:ph type="ftr" sz="quarter" idx="11"/>
          </p:nvPr>
        </p:nvSpPr>
        <p:spPr/>
        <p:txBody>
          <a:bodyPr/>
          <a:lstStyle/>
          <a:p>
            <a:endParaRPr lang="en-US"/>
          </a:p>
        </p:txBody>
      </p:sp>
      <p:sp>
        <p:nvSpPr>
          <p:cNvPr id="4" name="Θέση αριθμού διαφάνει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D4F9865-0D56-D0DB-DF4B-E4EDD89932BC}"/>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579345211"/>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4703135-E958-D31A-5AD3-AFB73AF0EC2B}"/>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17C6C06-6E43-5F52-7BF2-8385204E2B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10FFAE9-FE6B-8599-4E8A-C033D7EA8B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7EEFA8D-64B5-ACD2-D6A5-FD5599A02FEE}"/>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768D3A9-4600-D8C4-7AFA-211722384CDC}"/>
              </a:ext>
            </a:extLst>
          </p:cNvPr>
          <p:cNvSpPr>
            <a:spLocks noGrp="1"/>
          </p:cNvSpPr>
          <p:nvPr>
            <p:ph type="ftr" sz="quarter" idx="11"/>
          </p:nvPr>
        </p:nvSpPr>
        <p:spPr/>
        <p:txBody>
          <a:bodyPr/>
          <a:lstStyle/>
          <a:p>
            <a:endParaRPr lang="en-US"/>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49B252F-FCDF-7701-E5FF-94E5E4836878}"/>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667531578"/>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58F3FBE-36CB-5D52-2A84-E403BD53C84F}"/>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endParaRPr lang="en-US"/>
          </a:p>
        </p:txBody>
      </p:sp>
      <p:sp>
        <p:nvSpPr>
          <p:cNvPr id="3" name="Θέση εικόν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BA8D75C-453E-1E5A-5A18-AACC013BE96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691BDE4-22E9-EEAB-48A0-734D074896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34B43B9-E081-72AC-27BD-2B9563B98B9E}"/>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DE77785-283C-1226-FBAB-24DED6795FF6}"/>
              </a:ext>
            </a:extLst>
          </p:cNvPr>
          <p:cNvSpPr>
            <a:spLocks noGrp="1"/>
          </p:cNvSpPr>
          <p:nvPr>
            <p:ph type="ftr" sz="quarter" idx="11"/>
          </p:nvPr>
        </p:nvSpPr>
        <p:spPr/>
        <p:txBody>
          <a:bodyPr/>
          <a:lstStyle/>
          <a:p>
            <a:endParaRPr lang="en-US"/>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9C0FE4A-8363-039E-46FC-636624513916}"/>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323185234"/>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AE8EFEB-F158-9D2C-73ED-FE8ED6A69250}"/>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4FE6798-3D5D-B171-1E6C-C35DCB5EEBB9}"/>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4022106-262F-A025-643B-C9A9D39AAFB2}"/>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47283D1-4647-6226-AB31-7CE137077B63}"/>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6EB4070-EECB-E584-F25A-97076C5A2054}"/>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007165664"/>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751A436-BD00-CD9C-C1CE-4A8DE7FDAEC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endParaRPr lang="en-US"/>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84649F2-4542-BCBD-D461-57BB4234E63A}"/>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9918CCB-4BEB-F071-5570-B6946D6B071C}"/>
              </a:ext>
            </a:extLst>
          </p:cNvPr>
          <p:cNvSpPr>
            <a:spLocks noGrp="1"/>
          </p:cNvSpPr>
          <p:nvPr>
            <p:ph type="dt" sz="half" idx="10"/>
          </p:nvPr>
        </p:nvSpPr>
        <p:spPr/>
        <p:txBody>
          <a:bodyPr/>
          <a:lstStyle/>
          <a:p>
            <a:fld id="{552C8125-CCD4-4C82-B5EC-C4DF2013A8BB}" type="datetimeFigureOut">
              <a:rPr lang="en-US" smtClean="0"/>
              <a:pPr/>
              <a:t>6/22/2022</a:t>
            </a:fld>
            <a:endParaRPr lang="en-US"/>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6EA5A29-8946-25B2-337D-A8E0BB075CB5}"/>
              </a:ext>
            </a:extLst>
          </p:cNvPr>
          <p:cNvSpPr>
            <a:spLocks noGrp="1"/>
          </p:cNvSpPr>
          <p:nvPr>
            <p:ph type="ftr" sz="quarter" idx="11"/>
          </p:nvPr>
        </p:nvSpPr>
        <p:spPr/>
        <p:txBody>
          <a:bodyPr/>
          <a:lstStyle/>
          <a:p>
            <a:endParaRPr lang="en-US"/>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C61F347-73B1-9D3F-7646-DA202B7D6755}"/>
              </a:ext>
            </a:extLst>
          </p:cNvPr>
          <p:cNvSpPr>
            <a:spLocks noGrp="1"/>
          </p:cNvSpPr>
          <p:nvPr>
            <p:ph type="sldNum" sz="quarter" idx="12"/>
          </p:nvPr>
        </p:nvSpPr>
        <p:spPr/>
        <p:txBody>
          <a:body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887143400"/>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19B539F-3283-33F0-1B54-AD094AB10404}"/>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1FCC2C6-05DC-5E02-8D17-321BA78B8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109F3B2-0644-B934-6FD1-C098397BE253}"/>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3ABDB2D-4AC3-AC16-F313-DE1422F610B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76738F0-2A36-8953-DF52-9EE1F34AE613}"/>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456732798"/>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FA0D450-321C-8DB5-81EF-93CCD5641A2A}"/>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D71177D-81E7-6D5C-2A4B-B3A317459FD0}"/>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5AEA407-6DA4-26A5-2E23-F2E363DB252E}"/>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4E6297D-EC19-4152-CCF9-04FD191825C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03396EF-FFC0-0ED3-4BEC-92A3C3CA2DF2}"/>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173861532"/>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594AC91-0DC6-3B51-D6B8-928CDD7AAC19}"/>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63E1823-22F2-003C-A619-E1FC85FD65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A328720-EB10-B9C7-1715-62D6CB30F80F}"/>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83F495B-DDEF-93B8-4362-92A822AC2763}"/>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0BB3E3A-662A-A5CE-3D8C-3E22CBAE1A5F}"/>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397549378"/>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5DB23B0-1614-D196-28B0-63DAB3572C4B}"/>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0474FA3-5A61-F55B-ACB8-1D8DA62371B7}"/>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6EF7C2F-50FD-4D92-303D-7C0076193CDB}"/>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DFB2604-00F0-B35F-A046-B35FB6726024}"/>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1CB2C83-35A8-C90F-4C62-3290B466FCD5}"/>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39C730A-6E8B-D884-96FE-1CD1D0EEE764}"/>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970152404"/>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92036B8-C4AC-6919-A01D-E6232D6C69A5}"/>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81FF493-C048-450A-4B36-61944E8D9F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17745A5-FC87-610C-FC67-B2FDC0229931}"/>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BE22A7E-3390-BB9F-2611-A878B92584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B315D41-2110-550C-7599-495EA18C56DD}"/>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E7E71A4-C605-BDF2-A331-2A64CC147C58}"/>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8" name="Θέση υποσέλιδου 7">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859FF1C-1C7C-0C03-105B-0C7AF8B3F00F}"/>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5B55073-DFA9-5DCC-5381-45FE6C5160FC}"/>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116694105"/>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B11B8F7-950E-64DB-9D5B-AEE59B6B10BA}"/>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43E8A73-2E9F-E763-81D1-99F94576D5F9}"/>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4" name="Θέση υποσέλιδ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F06CF9C-9ED9-59FD-4524-6E94491B28B2}"/>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09768A4-3B4E-BA4D-C49D-86D6D9B1ED1E}"/>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307716328"/>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172E5FE-63A8-2207-F817-55FEFE4C4F37}"/>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3" name="Θέση υποσέλιδ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5B490C9-9B9A-4310-E5F1-DC83E719851A}"/>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2C9D1BF-AC9C-4A72-FFA9-6404D7580BE1}"/>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255046469"/>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9EA183B-FB69-4A60-36DC-DC38814526C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C38EA1F-7621-7BA6-C9F3-7EA4338901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013679D-0210-D009-4297-C4245DA21D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443BFFB-40F3-5E15-CE59-7A3A2C3EA71A}"/>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E278C83-0856-0FB5-D6FA-0B2828C30BFB}"/>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7F5DA27-4488-54AC-84FE-B6BE0DAC288A}"/>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845343369"/>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EC0959B-40B0-688B-9B6D-68A4058A3A03}"/>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F0A264E-DF6E-33B1-3253-C8A3A84770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2DADC54-85BA-A771-5A39-A70CF7C92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968FE86-466C-9B22-2D54-4923EAF16EF1}"/>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6" name="Θέση υποσέλιδου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6F1319E-8A5A-6890-6F65-44CD8A8CDEA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93BE808-7270-1B8C-A725-725ACF00042D}"/>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4023470773"/>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0C522F6-DBF4-2FB9-A263-CBA992B0A2D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D74257E-DFFE-BF8B-3F5E-E0F0661205EC}"/>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F312B88-C8C0-BECD-3738-C764E32B004E}"/>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3A60E0A-AD64-A239-847C-8ACC2F6C4919}"/>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9FE23CB-6DE0-0DB0-7575-310A1B7CE5DB}"/>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173295655"/>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B096E84-69BA-383D-87D8-26E139B47D15}"/>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1E487F9-68B5-FE14-7231-B420A6498F9C}"/>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95A9218-C72D-DA6C-98E6-2D46948BE021}"/>
              </a:ext>
            </a:extLst>
          </p:cNvPr>
          <p:cNvSpPr>
            <a:spLocks noGrp="1"/>
          </p:cNvSpPr>
          <p:nvPr>
            <p:ph type="dt" sz="half" idx="10"/>
          </p:nvPr>
        </p:nvSpPr>
        <p:spPr/>
        <p:txBody>
          <a:bodyPr/>
          <a:lstStyle/>
          <a:p>
            <a:fld id="{2B54F237-A098-45DC-BAC6-273D6B27C381}"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57199DA-C95D-3532-319B-1FD54EAC273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BD73D68-DF65-B335-735A-2EA790E90C16}"/>
              </a:ext>
            </a:extLst>
          </p:cNvPr>
          <p:cNvSpPr>
            <a:spLocks noGrp="1"/>
          </p:cNvSpPr>
          <p:nvPr>
            <p:ph type="sldNum" sz="quarter" idx="12"/>
          </p:nvPr>
        </p:nvSpPr>
        <p:spPr/>
        <p:txBody>
          <a:body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068860283"/>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1 - Τίτλος"/>
          <p:cNvSpPr>
            <a:spLocks noGrp="1"/>
          </p:cNvSpPr>
          <p:nvPr>
            <p:ph type="ctrTitle"/>
          </p:nvPr>
        </p:nvSpPr>
        <p:spPr>
          <a:xfrm>
            <a:off x="685800" y="2130425"/>
            <a:ext cx="7772400" cy="1470025"/>
          </a:xfrm>
        </p:spPr>
        <p:txBody>
          <a:bodyPr/>
          <a:lstStyle/>
          <a:p>
            <a:r>
              <a:rPr lang="el-GR" smtClean="0"/>
              <a:t>Kλικ για επεξεργασία του τίτλου</a:t>
            </a:r>
            <a:endParaRPr lang="el-GR"/>
          </a:p>
        </p:txBody>
      </p:sp>
      <p:sp>
        <p:nvSpPr>
          <p:cNvPr id="3" name="2 - Υπότιτλος"/>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smtClean="0"/>
              <a:t>Κάντε κλικ για να επεξεργαστείτε τον υπότιτλο του υποδείγματος</a:t>
            </a:r>
            <a:endParaRPr lang="el-GR"/>
          </a:p>
        </p:txBody>
      </p:sp>
      <p:sp>
        <p:nvSpPr>
          <p:cNvPr id="4" name="3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Τίτλος και Αντι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idx="1"/>
          </p:nvPr>
        </p:nvSpPr>
        <p:spPr/>
        <p:txBody>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1 - Τίτλος"/>
          <p:cNvSpPr>
            <a:spLocks noGrp="1"/>
          </p:cNvSpPr>
          <p:nvPr>
            <p:ph type="title"/>
          </p:nvPr>
        </p:nvSpPr>
        <p:spPr>
          <a:xfrm>
            <a:off x="722313" y="4406900"/>
            <a:ext cx="7772400" cy="1362075"/>
          </a:xfrm>
        </p:spPr>
        <p:txBody>
          <a:bodyPr anchor="t"/>
          <a:lstStyle>
            <a:lvl1pPr algn="l">
              <a:defRPr sz="4000" b="1" cap="all"/>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smtClean="0"/>
              <a:t>Kλικ για επεξεργασία των στυλ του υποδείγματος</a:t>
            </a:r>
          </a:p>
        </p:txBody>
      </p:sp>
      <p:sp>
        <p:nvSpPr>
          <p:cNvPr id="4" name="3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περιεχομένου"/>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lvl1pPr>
              <a:defRPr/>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4" name="3 - Θέση περιεχομένου"/>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κειμένου"/>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6" name="5 - Θέση περιεχομένου"/>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7" name="6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8" name="7 - Θέση υποσέλιδου"/>
          <p:cNvSpPr>
            <a:spLocks noGrp="1"/>
          </p:cNvSpPr>
          <p:nvPr>
            <p:ph type="ftr" sz="quarter" idx="11"/>
          </p:nvPr>
        </p:nvSpPr>
        <p:spPr/>
        <p:txBody>
          <a:bodyPr/>
          <a:lstStyle/>
          <a:p>
            <a:endParaRPr lang="el-GR"/>
          </a:p>
        </p:txBody>
      </p:sp>
      <p:sp>
        <p:nvSpPr>
          <p:cNvPr id="9" name="8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4" name="3 - Θέση υποσέλιδου"/>
          <p:cNvSpPr>
            <a:spLocks noGrp="1"/>
          </p:cNvSpPr>
          <p:nvPr>
            <p:ph type="ftr" sz="quarter" idx="11"/>
          </p:nvPr>
        </p:nvSpPr>
        <p:spPr/>
        <p:txBody>
          <a:bodyPr/>
          <a:lstStyle/>
          <a:p>
            <a:endParaRPr lang="el-GR"/>
          </a:p>
        </p:txBody>
      </p:sp>
      <p:sp>
        <p:nvSpPr>
          <p:cNvPr id="5" name="4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1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3" name="2 - Θέση υποσέλιδου"/>
          <p:cNvSpPr>
            <a:spLocks noGrp="1"/>
          </p:cNvSpPr>
          <p:nvPr>
            <p:ph type="ftr" sz="quarter" idx="11"/>
          </p:nvPr>
        </p:nvSpPr>
        <p:spPr/>
        <p:txBody>
          <a:bodyPr/>
          <a:lstStyle/>
          <a:p>
            <a:endParaRPr lang="el-GR"/>
          </a:p>
        </p:txBody>
      </p:sp>
      <p:sp>
        <p:nvSpPr>
          <p:cNvPr id="4" name="3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457200" y="273050"/>
            <a:ext cx="3008313" cy="1162050"/>
          </a:xfrm>
        </p:spPr>
        <p:txBody>
          <a:bodyPr anchor="b"/>
          <a:lstStyle>
            <a:lvl1pPr algn="l">
              <a:defRPr sz="2000" b="1"/>
            </a:lvl1pPr>
          </a:lstStyle>
          <a:p>
            <a:r>
              <a:rPr lang="el-GR" smtClean="0"/>
              <a:t>Kλικ για επεξεργασία του τίτλου</a:t>
            </a:r>
            <a:endParaRPr lang="el-GR"/>
          </a:p>
        </p:txBody>
      </p:sp>
      <p:sp>
        <p:nvSpPr>
          <p:cNvPr id="3" name="2 - Θέση περιεχομένου"/>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κειμένου"/>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4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1792288" y="4800600"/>
            <a:ext cx="5486400" cy="566738"/>
          </a:xfrm>
        </p:spPr>
        <p:txBody>
          <a:bodyPr anchor="b"/>
          <a:lstStyle>
            <a:lvl1pPr algn="l">
              <a:defRPr sz="2000" b="1"/>
            </a:lvl1pPr>
          </a:lstStyle>
          <a:p>
            <a:r>
              <a:rPr lang="el-GR" smtClean="0"/>
              <a:t>Kλικ για επεξεργασία του τίτλου</a:t>
            </a:r>
            <a:endParaRPr lang="el-GR"/>
          </a:p>
        </p:txBody>
      </p:sp>
      <p:sp>
        <p:nvSpPr>
          <p:cNvPr id="3" name="2 - Θέση εικόνας"/>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3 - Θέση κειμένου"/>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4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1 - Κατακόρυφος τίτλος"/>
          <p:cNvSpPr>
            <a:spLocks noGrp="1"/>
          </p:cNvSpPr>
          <p:nvPr>
            <p:ph type="title" orient="vert"/>
          </p:nvPr>
        </p:nvSpPr>
        <p:spPr>
          <a:xfrm>
            <a:off x="6629400" y="274638"/>
            <a:ext cx="2057400" cy="5851525"/>
          </a:xfrm>
        </p:spPr>
        <p:txBody>
          <a:bodyPr vert="eaVert"/>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a:xfrm>
            <a:off x="457200" y="274638"/>
            <a:ext cx="6019800" cy="5851525"/>
          </a:xfrm>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DD07169F-DAC3-41ED-8DF3-E8D381AAF044}" type="datetimeFigureOut">
              <a:rPr lang="el-GR" smtClean="0"/>
              <a:pPr/>
              <a:t>22/6/2022</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3B254712-4898-4816-8176-11B0F1814BE1}" type="slidenum">
              <a:rPr lang="el-GR" smtClean="0"/>
              <a:pPr/>
              <a:t>‹#›</a:t>
            </a:fld>
            <a:endParaRPr lang="el-G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pPr/>
              <a:t>6/22/2022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 Θέση τίτλου"/>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l-G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8935BA-A93D-4EA3-B489-715DCB7ACC08}" type="datetimeFigureOut">
              <a:rPr lang="el-GR" smtClean="0"/>
              <a:pPr/>
              <a:t>22/6/2022</a:t>
            </a:fld>
            <a:endParaRPr lang="el-GR"/>
          </a:p>
        </p:txBody>
      </p:sp>
      <p:sp>
        <p:nvSpPr>
          <p:cNvPr id="5" name="4 - Θέση υποσέλιδου"/>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l-GR"/>
          </a:p>
        </p:txBody>
      </p:sp>
      <p:sp>
        <p:nvSpPr>
          <p:cNvPr id="6" name="5 - Θέση αριθμού διαφάνειας"/>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l-G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1BC6EB-C5B6-4865-8C27-5D48736AF72C}"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F51C4FC-48B4-EF3C-7870-313955526E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AE5B54D-A13F-487B-6443-50A7EDBB24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76C17A4-DEFC-B0B0-2E97-61C352CB52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l-G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89244-A503-4774-8054-7C10C272B2F2}"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F8CC47B-96CB-21C2-CAC5-6C38DB184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22F97CE-1757-7C56-ADBD-5BABD44881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l-G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6DC9C2B-3447-436E-8969-0F641CDBD9B8}"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92644546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l-G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26F0F3-3C53-41BC-8FFD-0BFB6DD91672}" type="datetimeFigureOut">
              <a:rPr lang="el-GR" smtClean="0"/>
              <a:pPr/>
              <a:t>22/6/2022</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l-G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1D45B6D-1AE9-4C4D-AC38-C455C96DF37A}"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28170846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D939D29-3A1C-C7FD-F13E-FED7A998FC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3023D5F-F922-0B7B-E651-3A4B27AF30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53CC51B-F0A1-9C89-5342-E82234AACF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l-G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66B6969-45D2-431C-959C-2585B3A1E996}"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977D6108-A47B-9A11-E088-FC2F68E987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FD1EFCF-3B6A-9070-5B4E-CE7018D049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l-G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6B5147-3FE3-4471-A5FD-6C937204CA7B}"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44957299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2E9E241-054A-DEC4-9303-8F48A4B573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endParaRPr lang="en-US"/>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B0F80D4-6EA5-729E-E552-BE1E09C61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B672F2F-262B-789A-98AD-675E4F8CC3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2C8125-CCD4-4C82-B5EC-C4DF2013A8BB}" type="datetimeFigureOut">
              <a:rPr lang="en-US" smtClean="0"/>
              <a:pPr/>
              <a:t>6/22/2022</a:t>
            </a:fld>
            <a:endParaRPr lang="en-US"/>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8412AD6-69FA-B1F7-4B5B-107E75D150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ADC222A-78A1-9AC4-3C39-CC6A943A3E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158914E-179E-4932-B113-B8F714CDE249}" type="slidenum">
              <a:rPr lang="en-US" smtClean="0"/>
              <a:pPr/>
              <a:t>‹#›</a:t>
            </a:fld>
            <a:endParaRPr lang="en-US"/>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99164693"/>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336C03D-70C4-A77C-DF4B-0AFBACECD5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264DC2C-5A4D-8154-F5E6-64709C5E1D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0CACCF2F-62A4-16DD-4E02-3CEB868596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l-G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B54F237-A098-45DC-BAC6-273D6B27C381}" type="datetimeFigureOut">
              <a:rPr lang="el-GR" smtClean="0"/>
              <a:pPr/>
              <a:t>22/6/2022</a:t>
            </a:fld>
            <a:endParaRPr lang="el-GR"/>
          </a:p>
        </p:txBody>
      </p:sp>
      <p:sp>
        <p:nvSpPr>
          <p:cNvPr id="5" name="Θέση υποσέλιδου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501D021-B26A-862A-2CBC-EEF9474812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l-GR"/>
          </a:p>
        </p:txBody>
      </p:sp>
      <p:sp>
        <p:nvSpPr>
          <p:cNvPr id="6" name="Θέση αριθμού διαφάνειας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F8BFA5E-E898-B03D-3BA6-DC3F4087A5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l-G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17102E-58C7-4563-8C99-2641DA790B0C}" type="slidenum">
              <a:rPr lang="el-GR" smtClean="0"/>
              <a:pPr/>
              <a:t>‹#›</a:t>
            </a:fld>
            <a:endParaRPr lang="el-G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31759343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 Θέση τίτλου"/>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l-G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D07169F-DAC3-41ED-8DF3-E8D381AAF044}" type="datetimeFigureOut">
              <a:rPr lang="el-GR" smtClean="0"/>
              <a:pPr/>
              <a:t>22/6/2022</a:t>
            </a:fld>
            <a:endParaRPr lang="el-GR"/>
          </a:p>
        </p:txBody>
      </p:sp>
      <p:sp>
        <p:nvSpPr>
          <p:cNvPr id="5" name="4 - Θέση υποσέλιδου"/>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l-GR"/>
          </a:p>
        </p:txBody>
      </p:sp>
      <p:sp>
        <p:nvSpPr>
          <p:cNvPr id="6" name="5 - Θέση αριθμού διαφάνειας"/>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defRPr lang="el-GR"/>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B254712-4898-4816-8176-11B0F1814BE1}"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hyperlink" Target="file:///C:\Users\dell\Downloads\3_________________________________144.pdf" TargetMode="External"/><Relationship Id="rId2" Type="http://schemas.openxmlformats.org/officeDocument/2006/relationships/hyperlink" Target="https://www.google.com/search?q=%CE%BA%CE%B2%CE%B1%CE%BD%CF%84%CE%B9%CE%BA%CF%8C%CF%82+%CF%85%CF%80%CE%BF%CE%BB%CE%BF%CE%B3%CE%B9%CF%83%CF%84%CE%B7%CF%82&amp;rlz=1C1GCEA_enGR977GR977&amp;sxsrf=ALiCzsa-u8RYa1VpxM4OYQic4wfVLCIDcQ:1655633840505&amp;source=lnms&amp;tbm=isch&amp;sa=X&amp;ved=2ahUKEwjI2sPXpLn4AhUF2aQKHfJ-BPIQ_AUoAXoECAIQAw&amp;biw=1536&amp;bih=722&amp;dpr=1.25" TargetMode="External"/><Relationship Id="rId1" Type="http://schemas.openxmlformats.org/officeDocument/2006/relationships/slideLayout" Target="../slideLayouts/slideLayout35.xml"/><Relationship Id="rId5" Type="http://schemas.openxmlformats.org/officeDocument/2006/relationships/hyperlink" Target="file:///C:\Users\dell\Downloads\%CE%9A%CE%92%CE%91%CE%9D%CE%A4%CE%99%CE%9A%CE%97_%CE%A5%CE%A0%CE%9F%CE%9B%CE%9F%CE%93%CE%99%CE%A3%CE%A4%CE%99%CE%9A%CE%97_144%20(1).pdf" TargetMode="External"/><Relationship Id="rId4" Type="http://schemas.openxmlformats.org/officeDocument/2006/relationships/hyperlink" Target="http://www.des.upatras.gr/physics/kounavis/index.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6.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9.xml"/></Relationships>
</file>

<file path=ppt/slides/_rels/slide15.xml.rels><?xml version="1.0" encoding="UTF-8" standalone="yes"?>
<Relationships xmlns="http://schemas.openxmlformats.org/package/2006/relationships"><Relationship Id="rId3" Type="http://schemas.openxmlformats.org/officeDocument/2006/relationships/hyperlink" Target="https://repository.kallipos.gr/handle/11419/220" TargetMode="External"/><Relationship Id="rId2" Type="http://schemas.openxmlformats.org/officeDocument/2006/relationships/hyperlink" Target="http://www.des.upatras.gr/physics/kounavis/index.html" TargetMode="External"/><Relationship Id="rId1" Type="http://schemas.openxmlformats.org/officeDocument/2006/relationships/slideLayout" Target="../slideLayouts/slideLayout79.xml"/><Relationship Id="rId4" Type="http://schemas.openxmlformats.org/officeDocument/2006/relationships/hyperlink" Target="https://eclass.upatras.gr/modules/units/?course=EE742&amp;id=6399"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ctrTitle"/>
          </p:nvPr>
        </p:nvSpPr>
        <p:spPr/>
        <p:txBody>
          <a:bodyPr>
            <a:normAutofit/>
          </a:bodyPr>
          <a:lstStyle/>
          <a:p>
            <a:r>
              <a:rPr lang="el-GR" sz="2800" smtClean="0">
                <a:latin typeface="Calibri Light" pitchFamily="34" charset="0"/>
                <a:cs typeface="Calibri Light" pitchFamily="34" charset="0"/>
              </a:rPr>
              <a:t>Εισαγωγή στην επιστήμη του Ηλεκτρολόγου μηχανικού</a:t>
            </a:r>
            <a:br>
              <a:rPr lang="el-GR" sz="2800" smtClean="0">
                <a:latin typeface="Calibri Light" pitchFamily="34" charset="0"/>
                <a:cs typeface="Calibri Light" pitchFamily="34" charset="0"/>
              </a:rPr>
            </a:br>
            <a:r>
              <a:rPr lang="el-GR" sz="2800" smtClean="0">
                <a:cs typeface="Calibri Light" pitchFamily="34" charset="0"/>
              </a:rPr>
              <a:t>Αρχές κβαντικών υπολογιστών και κβαντικές πύλες</a:t>
            </a:r>
            <a:endParaRPr lang="el-GR" sz="2800">
              <a:latin typeface="Calibri Light" pitchFamily="34" charset="0"/>
              <a:cs typeface="Calibri Light" pitchFamily="34" charset="0"/>
            </a:endParaRPr>
          </a:p>
        </p:txBody>
      </p:sp>
      <p:sp>
        <p:nvSpPr>
          <p:cNvPr id="3" name="2 - Υπότιτλος"/>
          <p:cNvSpPr>
            <a:spLocks noGrp="1"/>
          </p:cNvSpPr>
          <p:nvPr>
            <p:ph type="subTitle" idx="1"/>
          </p:nvPr>
        </p:nvSpPr>
        <p:spPr>
          <a:xfrm>
            <a:off x="1371600" y="3886200"/>
            <a:ext cx="6400800" cy="2567136"/>
          </a:xfrm>
        </p:spPr>
        <p:txBody>
          <a:bodyPr>
            <a:normAutofit lnSpcReduction="10000"/>
          </a:bodyPr>
          <a:lstStyle/>
          <a:p>
            <a:r>
              <a:rPr lang="el-GR" sz="2000" smtClean="0">
                <a:solidFill>
                  <a:schemeClr val="tx1"/>
                </a:solidFill>
                <a:latin typeface="+mj-lt"/>
              </a:rPr>
              <a:t>Ομάδα 15</a:t>
            </a:r>
          </a:p>
          <a:p>
            <a:r>
              <a:rPr lang="el-GR" sz="2000" smtClean="0"/>
              <a:t>Δημήτριος-Ραφαήλ Κούτρας </a:t>
            </a:r>
            <a:r>
              <a:rPr lang="en-US" sz="2000" smtClean="0"/>
              <a:t>AM: 1092744</a:t>
            </a:r>
            <a:endParaRPr lang="el-GR" sz="2000" smtClean="0"/>
          </a:p>
          <a:p>
            <a:r>
              <a:rPr lang="el-GR" sz="2000" err="1" smtClean="0">
                <a:solidFill>
                  <a:schemeClr val="tx1"/>
                </a:solidFill>
                <a:latin typeface="+mj-lt"/>
              </a:rPr>
              <a:t>Μιχέλης Τρύφων ΑΜ</a:t>
            </a:r>
            <a:r>
              <a:rPr lang="en-GB" sz="2000" smtClean="0">
                <a:solidFill>
                  <a:schemeClr val="tx1"/>
                </a:solidFill>
                <a:latin typeface="+mj-lt"/>
              </a:rPr>
              <a:t>: </a:t>
            </a:r>
            <a:r>
              <a:rPr lang="el-GR" sz="2000" smtClean="0"/>
              <a:t>1092828</a:t>
            </a:r>
            <a:endParaRPr lang="en-GB" sz="2000" smtClean="0"/>
          </a:p>
          <a:p>
            <a:r>
              <a:rPr lang="el-GR" sz="2000" smtClean="0"/>
              <a:t>Δημήτριος Μπέλλας </a:t>
            </a:r>
            <a:r>
              <a:rPr lang="en-GB" sz="2000" smtClean="0"/>
              <a:t>AM: </a:t>
            </a:r>
            <a:r>
              <a:rPr lang="en-US" sz="2000" smtClean="0"/>
              <a:t>1092601</a:t>
            </a:r>
          </a:p>
          <a:p>
            <a:r>
              <a:rPr lang="el-GR" sz="2000" smtClean="0"/>
              <a:t>Σχοινά Ευαγγελία ΑΜ</a:t>
            </a:r>
            <a:r>
              <a:rPr lang="en-GB" sz="2000" smtClean="0"/>
              <a:t>: </a:t>
            </a:r>
            <a:r>
              <a:rPr lang="el-GR" sz="2000" smtClean="0"/>
              <a:t>1097369</a:t>
            </a:r>
            <a:endParaRPr lang="en-GB" sz="2000" smtClean="0"/>
          </a:p>
          <a:p>
            <a:r>
              <a:rPr lang="el-GR" sz="2000" smtClean="0"/>
              <a:t>Ιωάννα-Μαρία Κακαρούνα </a:t>
            </a:r>
            <a:r>
              <a:rPr lang="en-US" sz="2000" smtClean="0"/>
              <a:t>AM: </a:t>
            </a:r>
            <a:r>
              <a:rPr lang="el-GR" sz="2000" smtClean="0"/>
              <a:t>1097354</a:t>
            </a:r>
            <a:endParaRPr lang="en-US" sz="2000" smtClean="0"/>
          </a:p>
          <a:p>
            <a:r>
              <a:rPr lang="el-GR" sz="2000" err="1" smtClean="0"/>
              <a:t>Σάλιαρης Γεώργιος ΑΜ</a:t>
            </a:r>
            <a:r>
              <a:rPr lang="en-GB" sz="2000" smtClean="0"/>
              <a:t>: 1092584</a:t>
            </a:r>
            <a:endParaRPr lang="en-US" sz="2000" smtClean="0"/>
          </a:p>
          <a:p>
            <a:endParaRPr lang="en-GB" sz="2000" smtClean="0"/>
          </a:p>
          <a:p>
            <a:endParaRPr lang="el-GR" sz="2000">
              <a:solidFill>
                <a:schemeClr val="tx1"/>
              </a:solidFill>
              <a:latin typeface="+mj-l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3138901-E941-3077-7F66-9F82AC52D884}"/>
              </a:ext>
            </a:extLst>
          </p:cNvPr>
          <p:cNvSpPr>
            <a:spLocks noGrp="1"/>
          </p:cNvSpPr>
          <p:nvPr>
            <p:ph type="title"/>
          </p:nvPr>
        </p:nvSpPr>
        <p:spPr>
          <a:xfrm>
            <a:off x="643467" y="321734"/>
            <a:ext cx="8500533" cy="1135737"/>
          </a:xfrm>
        </p:spPr>
        <p:txBody>
          <a:bodyPr>
            <a:normAutofit fontScale="90000"/>
          </a:bodyPr>
          <a:lstStyle/>
          <a:p>
            <a:r>
              <a:rPr lang="en-US" sz="1400" b="1" i="1" dirty="0"/>
              <a:t>				</a:t>
            </a:r>
            <a:r>
              <a:rPr lang="el-GR" sz="2000" b="1" i="1" dirty="0"/>
              <a:t>Κβαντικές πύλες </a:t>
            </a:r>
            <a:r>
              <a:rPr lang="en-US" sz="2000" b="1" i="1" dirty="0"/>
              <a:t>Pauli</a:t>
            </a:r>
            <a:r>
              <a:rPr lang="en-US" sz="1400" b="1" i="1" dirty="0"/>
              <a:t/>
            </a:r>
            <a:br>
              <a:rPr lang="en-US" sz="1400" b="1" i="1" dirty="0"/>
            </a:br>
            <a:r>
              <a:rPr lang="en-US" sz="1400" b="1" i="1" dirty="0"/>
              <a:t/>
            </a:r>
            <a:br>
              <a:rPr lang="en-US" sz="1400" b="1" i="1" dirty="0"/>
            </a:br>
            <a:r>
              <a:rPr lang="el-GR" sz="2000" dirty="0">
                <a:effectLst/>
                <a:latin typeface="+mn-lt"/>
                <a:ea typeface="Calibri" panose="020F0502020204030204" pitchFamily="34" charset="0"/>
              </a:rPr>
              <a:t>Οι κβαντικές πύλες </a:t>
            </a:r>
            <a:r>
              <a:rPr lang="en-US" sz="2000" dirty="0">
                <a:effectLst/>
                <a:latin typeface="+mn-lt"/>
                <a:ea typeface="Calibri" panose="020F0502020204030204" pitchFamily="34" charset="0"/>
              </a:rPr>
              <a:t>Pauli </a:t>
            </a:r>
            <a:r>
              <a:rPr lang="el-GR" sz="2000" dirty="0">
                <a:effectLst/>
                <a:latin typeface="+mn-lt"/>
                <a:ea typeface="Calibri" panose="020F0502020204030204" pitchFamily="34" charset="0"/>
              </a:rPr>
              <a:t>δρουν σε ένα </a:t>
            </a:r>
            <a:r>
              <a:rPr lang="en-US" sz="2000" dirty="0" err="1">
                <a:effectLst/>
                <a:latin typeface="+mn-lt"/>
                <a:ea typeface="Calibri" panose="020F0502020204030204" pitchFamily="34" charset="0"/>
              </a:rPr>
              <a:t>qubit</a:t>
            </a:r>
            <a:r>
              <a:rPr lang="el-GR" sz="2000" dirty="0">
                <a:effectLst/>
                <a:latin typeface="+mn-lt"/>
                <a:ea typeface="Calibri" panose="020F0502020204030204" pitchFamily="34" charset="0"/>
              </a:rPr>
              <a:t> και αποτελούν ιδιαίτερα σημαντική ομάδα πυλών καθώς οποιαδήποτε κβαντική πύλη μπορεί να εκφραστεί ως γραμμικός συνδυασμός τους. Αναλυτικότερα, οι κβαντικές πύλες </a:t>
            </a:r>
            <a:r>
              <a:rPr lang="en-US" sz="2000" dirty="0">
                <a:effectLst/>
                <a:latin typeface="+mn-lt"/>
                <a:ea typeface="Calibri" panose="020F0502020204030204" pitchFamily="34" charset="0"/>
              </a:rPr>
              <a:t>Pauli </a:t>
            </a:r>
            <a:r>
              <a:rPr lang="el-GR" sz="2000" dirty="0">
                <a:effectLst/>
                <a:latin typeface="+mn-lt"/>
                <a:ea typeface="Calibri" panose="020F0502020204030204" pitchFamily="34" charset="0"/>
              </a:rPr>
              <a:t>αποτελούνται από τις κβαντικές πύλες Ι, Χ, Υ, Ζ</a:t>
            </a:r>
            <a:r>
              <a:rPr lang="el-GR" sz="1800" dirty="0">
                <a:effectLst/>
                <a:latin typeface="Times New Roman" panose="02020603050405020304" pitchFamily="18" charset="0"/>
                <a:ea typeface="Calibri" panose="020F0502020204030204" pitchFamily="34" charset="0"/>
              </a:rPr>
              <a:t>.</a:t>
            </a:r>
            <a:r>
              <a:rPr lang="en-US" sz="1800" b="1" i="1" dirty="0"/>
              <a:t/>
            </a:r>
            <a:br>
              <a:rPr lang="en-US" sz="1800" b="1" i="1" dirty="0"/>
            </a:br>
            <a:endParaRPr lang="el-GR" sz="1800" b="1" i="1" dirty="0"/>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0F3AD04-D133-4119-5B02-ECF592ACF4E1}"/>
              </a:ext>
            </a:extLst>
          </p:cNvPr>
          <p:cNvSpPr>
            <a:spLocks noGrp="1"/>
          </p:cNvSpPr>
          <p:nvPr>
            <p:ph idx="1"/>
          </p:nvPr>
        </p:nvSpPr>
        <p:spPr>
          <a:xfrm>
            <a:off x="643467" y="1457472"/>
            <a:ext cx="8500533" cy="5400528"/>
          </a:xfrm>
        </p:spPr>
        <p:txBody>
          <a:bodyPr>
            <a:normAutofit/>
          </a:bodyPr>
          <a:lstStyle/>
          <a:p>
            <a:pPr marL="0" indent="0">
              <a:buNone/>
            </a:pPr>
            <a:r>
              <a:rPr lang="el-GR" sz="1800" b="1" i="1" dirty="0">
                <a:effectLst/>
                <a:latin typeface="+mj-lt"/>
                <a:ea typeface="Calibri" panose="020F0502020204030204" pitchFamily="34" charset="0"/>
              </a:rPr>
              <a:t>Κβαντική πύλη Χ (πύλη </a:t>
            </a:r>
            <a:r>
              <a:rPr lang="en-US" sz="1800" b="1" i="1" dirty="0">
                <a:effectLst/>
                <a:latin typeface="+mj-lt"/>
                <a:ea typeface="Calibri" panose="020F0502020204030204" pitchFamily="34" charset="0"/>
              </a:rPr>
              <a:t>NOT</a:t>
            </a:r>
            <a:r>
              <a:rPr lang="el-GR" sz="1800" b="1" i="1" dirty="0">
                <a:effectLst/>
                <a:latin typeface="+mj-lt"/>
                <a:ea typeface="Calibri" panose="020F0502020204030204" pitchFamily="34" charset="0"/>
              </a:rPr>
              <a:t>, Χ, Ν, </a:t>
            </a:r>
            <a:r>
              <a:rPr lang="el-GR" sz="1800" b="1" i="1" dirty="0" err="1">
                <a:effectLst/>
                <a:latin typeface="+mj-lt"/>
                <a:ea typeface="Calibri" panose="020F0502020204030204" pitchFamily="34" charset="0"/>
              </a:rPr>
              <a:t>σ</a:t>
            </a:r>
            <a:r>
              <a:rPr lang="el-GR" sz="1800" b="1" i="1" baseline="-25000" dirty="0" err="1">
                <a:effectLst/>
                <a:latin typeface="+mj-lt"/>
                <a:ea typeface="Calibri" panose="020F0502020204030204" pitchFamily="34" charset="0"/>
              </a:rPr>
              <a:t>χ</a:t>
            </a:r>
            <a:r>
              <a:rPr lang="el-GR" sz="1800" b="1" i="1" dirty="0">
                <a:effectLst/>
                <a:latin typeface="+mj-lt"/>
                <a:ea typeface="Calibri" panose="020F0502020204030204" pitchFamily="34" charset="0"/>
              </a:rPr>
              <a:t>, σ</a:t>
            </a:r>
            <a:r>
              <a:rPr lang="el-GR" sz="1800" b="1" i="1" baseline="-25000" dirty="0">
                <a:effectLst/>
                <a:latin typeface="+mj-lt"/>
                <a:ea typeface="Calibri" panose="020F0502020204030204" pitchFamily="34" charset="0"/>
              </a:rPr>
              <a:t>1</a:t>
            </a:r>
            <a:r>
              <a:rPr lang="el-GR" sz="1800" b="1" i="1" dirty="0">
                <a:effectLst/>
                <a:latin typeface="+mj-lt"/>
                <a:ea typeface="Calibri" panose="020F0502020204030204" pitchFamily="34" charset="0"/>
              </a:rPr>
              <a:t> )</a:t>
            </a:r>
            <a:endParaRPr lang="en-US" sz="1800" b="1" i="1" dirty="0">
              <a:latin typeface="+mj-lt"/>
            </a:endParaRPr>
          </a:p>
          <a:p>
            <a:pPr marL="0" indent="0">
              <a:buNone/>
            </a:pPr>
            <a:r>
              <a:rPr lang="el-GR" sz="1800" dirty="0">
                <a:effectLst/>
                <a:ea typeface="Calibri" panose="020F0502020204030204" pitchFamily="34" charset="0"/>
                <a:cs typeface="Times New Roman" panose="02020603050405020304" pitchFamily="18" charset="0"/>
              </a:rPr>
              <a:t>Η κβαντική πύλη ΝΟΤ συμβολίζεται με Χ και έχει παρόμοια λειτουργία με την κλασική λογική πύλη ΝΟΤ. Συγκεκριμένα, η πύλη ΝΟΤ αντιστρέφει την κατάσταση των </a:t>
            </a:r>
            <a:r>
              <a:rPr lang="en-US" sz="1800" dirty="0" err="1">
                <a:effectLst/>
                <a:ea typeface="Calibri" panose="020F0502020204030204" pitchFamily="34" charset="0"/>
                <a:cs typeface="Times New Roman" panose="02020603050405020304" pitchFamily="18" charset="0"/>
              </a:rPr>
              <a:t>qubit</a:t>
            </a:r>
            <a:r>
              <a:rPr lang="en-US" sz="1800" dirty="0">
                <a:effectLst/>
                <a:ea typeface="Calibri" panose="020F0502020204030204" pitchFamily="34" charset="0"/>
                <a:cs typeface="Times New Roman" panose="02020603050405020304" pitchFamily="18" charset="0"/>
              </a:rPr>
              <a:t> </a:t>
            </a:r>
            <a:r>
              <a:rPr lang="el-GR" sz="1800" dirty="0">
                <a:effectLst/>
                <a:ea typeface="Calibri" panose="020F0502020204030204" pitchFamily="34" charset="0"/>
                <a:cs typeface="Times New Roman" panose="02020603050405020304" pitchFamily="18" charset="0"/>
              </a:rPr>
              <a:t>μετατρέποντας το 0 σε 1 και αντίστροφα, το φαινόμενο αυτό ερμηνεύεται γεωμετρικά ως περιστροφή του διανύσματος κατά 180</a:t>
            </a:r>
            <a:r>
              <a:rPr lang="el-GR" sz="1800" baseline="30000" dirty="0">
                <a:effectLst/>
                <a:ea typeface="Calibri" panose="020F0502020204030204" pitchFamily="34" charset="0"/>
                <a:cs typeface="Times New Roman" panose="02020603050405020304" pitchFamily="18" charset="0"/>
              </a:rPr>
              <a:t>ο </a:t>
            </a:r>
            <a:r>
              <a:rPr lang="el-GR" sz="1800" dirty="0">
                <a:effectLst/>
                <a:ea typeface="Calibri" panose="020F0502020204030204" pitchFamily="34" charset="0"/>
                <a:cs typeface="Times New Roman" panose="02020603050405020304" pitchFamily="18" charset="0"/>
              </a:rPr>
              <a:t>γύρω από τον άξονα </a:t>
            </a:r>
            <a:r>
              <a:rPr lang="en-US" sz="1800" dirty="0">
                <a:effectLst/>
                <a:ea typeface="Calibri" panose="020F0502020204030204" pitchFamily="34" charset="0"/>
                <a:cs typeface="Times New Roman" panose="02020603050405020304" pitchFamily="18" charset="0"/>
              </a:rPr>
              <a:t>x</a:t>
            </a:r>
            <a:r>
              <a:rPr lang="el-GR" sz="1800" dirty="0">
                <a:effectLst/>
                <a:ea typeface="Calibri" panose="020F0502020204030204" pitchFamily="34" charset="0"/>
                <a:cs typeface="Times New Roman" panose="02020603050405020304" pitchFamily="18" charset="0"/>
              </a:rPr>
              <a:t>.</a:t>
            </a:r>
          </a:p>
          <a:p>
            <a:pPr marL="0" indent="0">
              <a:buNone/>
            </a:pPr>
            <a:endParaRPr lang="en-US" sz="1800" dirty="0"/>
          </a:p>
          <a:p>
            <a:pPr marL="0" indent="0">
              <a:buNone/>
            </a:pPr>
            <a:endParaRPr lang="en-US" sz="2000" dirty="0">
              <a:latin typeface="Times New Roman" panose="02020603050405020304" pitchFamily="18" charset="0"/>
            </a:endParaRPr>
          </a:p>
          <a:p>
            <a:pPr marL="0" indent="0">
              <a:buNone/>
            </a:pPr>
            <a:endParaRPr lang="en-US" sz="2000" dirty="0">
              <a:latin typeface="Times New Roman" panose="02020603050405020304" pitchFamily="18" charset="0"/>
            </a:endParaRPr>
          </a:p>
          <a:p>
            <a:pPr marL="0" indent="0">
              <a:buNone/>
            </a:pPr>
            <a:r>
              <a:rPr lang="el-GR" sz="1800" b="1" i="1" dirty="0">
                <a:effectLst/>
                <a:latin typeface="+mj-lt"/>
                <a:ea typeface="Calibri" panose="020F0502020204030204" pitchFamily="34" charset="0"/>
              </a:rPr>
              <a:t>Κβαντική πύλη Υ ( σ</a:t>
            </a:r>
            <a:r>
              <a:rPr lang="en-US" sz="1800" b="1" i="1" baseline="-25000" dirty="0">
                <a:effectLst/>
                <a:latin typeface="+mj-lt"/>
                <a:ea typeface="Calibri" panose="020F0502020204030204" pitchFamily="34" charset="0"/>
              </a:rPr>
              <a:t>y</a:t>
            </a:r>
            <a:r>
              <a:rPr lang="el-GR" sz="1800" b="1" i="1" dirty="0">
                <a:effectLst/>
                <a:latin typeface="+mj-lt"/>
                <a:ea typeface="Calibri" panose="020F0502020204030204" pitchFamily="34" charset="0"/>
              </a:rPr>
              <a:t> , σ</a:t>
            </a:r>
            <a:r>
              <a:rPr lang="el-GR" sz="1800" b="1" i="1" baseline="-25000" dirty="0">
                <a:effectLst/>
                <a:latin typeface="+mj-lt"/>
                <a:ea typeface="Calibri" panose="020F0502020204030204" pitchFamily="34" charset="0"/>
              </a:rPr>
              <a:t>2</a:t>
            </a:r>
            <a:r>
              <a:rPr lang="el-GR" sz="1800" b="1" i="1" dirty="0">
                <a:effectLst/>
                <a:latin typeface="+mj-lt"/>
                <a:ea typeface="Calibri" panose="020F0502020204030204" pitchFamily="34" charset="0"/>
              </a:rPr>
              <a:t> )</a:t>
            </a:r>
            <a:endParaRPr lang="en-US" sz="1800" b="1" i="1" dirty="0">
              <a:effectLst/>
              <a:latin typeface="+mj-lt"/>
              <a:ea typeface="Calibri" panose="020F0502020204030204" pitchFamily="34" charset="0"/>
            </a:endParaRPr>
          </a:p>
          <a:p>
            <a:pPr marL="0" indent="0">
              <a:buNone/>
            </a:pPr>
            <a:endParaRPr lang="en-US" sz="1800" b="1" i="1" dirty="0">
              <a:latin typeface="+mj-lt"/>
              <a:ea typeface="Calibri" panose="020F0502020204030204" pitchFamily="34" charset="0"/>
            </a:endParaRPr>
          </a:p>
          <a:p>
            <a:pPr marL="0" indent="0">
              <a:buNone/>
            </a:pPr>
            <a:r>
              <a:rPr lang="el-GR" sz="1800" b="1" i="1" dirty="0">
                <a:latin typeface="+mj-lt"/>
                <a:ea typeface="Calibri" panose="020F0502020204030204" pitchFamily="34" charset="0"/>
              </a:rPr>
              <a:t>Κβαντική πύλη Υ ( </a:t>
            </a:r>
            <a:r>
              <a:rPr lang="el-GR" sz="1800" b="1" i="1" dirty="0" err="1">
                <a:latin typeface="+mj-lt"/>
                <a:ea typeface="Calibri" panose="020F0502020204030204" pitchFamily="34" charset="0"/>
              </a:rPr>
              <a:t>σy</a:t>
            </a:r>
            <a:r>
              <a:rPr lang="el-GR" sz="1800" b="1" i="1" dirty="0">
                <a:latin typeface="+mj-lt"/>
                <a:ea typeface="Calibri" panose="020F0502020204030204" pitchFamily="34" charset="0"/>
              </a:rPr>
              <a:t> , σ2 )</a:t>
            </a:r>
            <a:endParaRPr lang="en-US" sz="1800" b="1" i="1" dirty="0">
              <a:latin typeface="+mj-lt"/>
              <a:ea typeface="Calibri" panose="020F0502020204030204" pitchFamily="34" charset="0"/>
            </a:endParaRPr>
          </a:p>
          <a:p>
            <a:pPr marL="0" indent="0">
              <a:buNone/>
            </a:pPr>
            <a:r>
              <a:rPr lang="el-GR" sz="1800" dirty="0">
                <a:effectLst/>
                <a:ea typeface="Calibri" panose="020F0502020204030204" pitchFamily="34" charset="0"/>
              </a:rPr>
              <a:t>Η κβαντική πύλη Υ συμβολίζεται με Υ και μετατρέπει την κατάσταση 0 σε 1 πολλαπλασιασμένη με το διάνυσμα </a:t>
            </a:r>
            <a:r>
              <a:rPr lang="en-US" sz="1800" dirty="0" err="1">
                <a:effectLst/>
                <a:ea typeface="Calibri" panose="020F0502020204030204" pitchFamily="34" charset="0"/>
              </a:rPr>
              <a:t>i</a:t>
            </a:r>
            <a:r>
              <a:rPr lang="en-US" sz="1800" dirty="0">
                <a:effectLst/>
                <a:ea typeface="Calibri" panose="020F0502020204030204" pitchFamily="34" charset="0"/>
              </a:rPr>
              <a:t> </a:t>
            </a:r>
            <a:r>
              <a:rPr lang="el-GR" sz="1800" dirty="0">
                <a:effectLst/>
                <a:ea typeface="Calibri" panose="020F0502020204030204" pitchFamily="34" charset="0"/>
              </a:rPr>
              <a:t>και την 1 σε 0 πολλαπλασιασμένη με το διάνυσμα -</a:t>
            </a:r>
            <a:r>
              <a:rPr lang="en-US" sz="1800" dirty="0" err="1">
                <a:effectLst/>
                <a:ea typeface="Calibri" panose="020F0502020204030204" pitchFamily="34" charset="0"/>
              </a:rPr>
              <a:t>i</a:t>
            </a:r>
            <a:r>
              <a:rPr lang="el-GR" sz="1800" dirty="0">
                <a:effectLst/>
                <a:ea typeface="Calibri" panose="020F0502020204030204" pitchFamily="34" charset="0"/>
              </a:rPr>
              <a:t>. Όπως καταλαβαίνουμε η πύλη Υ προσδίδει μια φάση-περιστροφή στο διάνυσμα της κατάστασης. Συγκεκριμένα, περιστρέφει το τελευταίο κατά 180</a:t>
            </a:r>
            <a:r>
              <a:rPr lang="el-GR" sz="1800" baseline="30000" dirty="0">
                <a:effectLst/>
                <a:ea typeface="Calibri" panose="020F0502020204030204" pitchFamily="34" charset="0"/>
              </a:rPr>
              <a:t>ο </a:t>
            </a:r>
            <a:r>
              <a:rPr lang="el-GR" sz="1800" dirty="0">
                <a:effectLst/>
                <a:ea typeface="Calibri" panose="020F0502020204030204" pitchFamily="34" charset="0"/>
              </a:rPr>
              <a:t> γύρω από τον άξονα </a:t>
            </a:r>
            <a:r>
              <a:rPr lang="en-US" sz="1800" dirty="0">
                <a:effectLst/>
                <a:ea typeface="Calibri" panose="020F0502020204030204" pitchFamily="34" charset="0"/>
              </a:rPr>
              <a:t>y</a:t>
            </a:r>
            <a:r>
              <a:rPr lang="el-GR" sz="1800" dirty="0">
                <a:effectLst/>
                <a:ea typeface="Calibri" panose="020F0502020204030204" pitchFamily="34" charset="0"/>
              </a:rPr>
              <a:t>.</a:t>
            </a:r>
            <a:endParaRPr lang="en-US" sz="1800" b="1" i="1" dirty="0">
              <a:ea typeface="Calibri" panose="020F0502020204030204" pitchFamily="34" charset="0"/>
            </a:endParaRPr>
          </a:p>
          <a:p>
            <a:pPr marL="0" indent="0">
              <a:buNone/>
            </a:pPr>
            <a:endParaRPr lang="en-US" sz="1800" b="1" i="1" dirty="0">
              <a:effectLst/>
              <a:latin typeface="+mj-lt"/>
              <a:ea typeface="Calibri" panose="020F0502020204030204" pitchFamily="34" charset="0"/>
            </a:endParaRPr>
          </a:p>
          <a:p>
            <a:pPr marL="0" indent="0">
              <a:buNone/>
            </a:pPr>
            <a:endParaRPr lang="en-US" sz="1800" b="1" i="1" dirty="0">
              <a:latin typeface="+mj-lt"/>
            </a:endParaRPr>
          </a:p>
          <a:p>
            <a:pPr marL="0" indent="0">
              <a:buNone/>
            </a:pPr>
            <a:endParaRPr lang="en-US" sz="1800" b="1" i="1" dirty="0">
              <a:latin typeface="+mj-lt"/>
            </a:endParaRPr>
          </a:p>
        </p:txBody>
      </p:sp>
      <p:pic>
        <p:nvPicPr>
          <p:cNvPr id="69" name="Εικόνα 68" descr="Εικόνα που περιέχει πίνακας&#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484E47A-D8F2-9B48-C4BF-0D3DF4242947}"/>
              </a:ext>
            </a:extLst>
          </p:cNvPr>
          <p:cNvPicPr>
            <a:picLocks noChangeAspect="1"/>
          </p:cNvPicPr>
          <p:nvPr/>
        </p:nvPicPr>
        <p:blipFill>
          <a:blip r:embed="rId2" cstate="print"/>
          <a:stretch>
            <a:fillRect/>
          </a:stretch>
        </p:blipFill>
        <p:spPr>
          <a:xfrm>
            <a:off x="4355976" y="2924944"/>
            <a:ext cx="4304287" cy="1873631"/>
          </a:xfrm>
          <a:prstGeom prst="rect">
            <a:avLst/>
          </a:prstGeom>
        </p:spPr>
      </p:pic>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52828841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C649EA5-794E-E72D-19FC-06E4EB9E9666}"/>
              </a:ext>
            </a:extLst>
          </p:cNvPr>
          <p:cNvSpPr>
            <a:spLocks noGrp="1"/>
          </p:cNvSpPr>
          <p:nvPr>
            <p:ph type="title"/>
          </p:nvPr>
        </p:nvSpPr>
        <p:spPr>
          <a:xfrm>
            <a:off x="1171074" y="1915879"/>
            <a:ext cx="10198768" cy="763153"/>
          </a:xfrm>
        </p:spPr>
        <p:txBody>
          <a:bodyPr/>
          <a:lstStyle/>
          <a:p>
            <a:r>
              <a:rPr lang="el-GR" sz="1800" b="1" i="1">
                <a:effectLst/>
                <a:ea typeface="Calibri" panose="020F0502020204030204" pitchFamily="34" charset="0"/>
              </a:rPr>
              <a:t>Κβαντική πύλη Ζ (σ</a:t>
            </a:r>
            <a:r>
              <a:rPr lang="en-US" sz="1800" b="1" i="1" baseline="-25000">
                <a:effectLst/>
                <a:ea typeface="Calibri" panose="020F0502020204030204" pitchFamily="34" charset="0"/>
              </a:rPr>
              <a:t>z</a:t>
            </a:r>
            <a:r>
              <a:rPr lang="en-US" sz="1800" b="1" i="1">
                <a:effectLst/>
                <a:ea typeface="Calibri" panose="020F0502020204030204" pitchFamily="34" charset="0"/>
              </a:rPr>
              <a:t> </a:t>
            </a:r>
            <a:r>
              <a:rPr lang="el-GR" sz="1800" b="1" i="1">
                <a:effectLst/>
                <a:ea typeface="Calibri" panose="020F0502020204030204" pitchFamily="34" charset="0"/>
              </a:rPr>
              <a:t>, σ</a:t>
            </a:r>
            <a:r>
              <a:rPr lang="el-GR" sz="1800" b="1" i="1" baseline="-25000">
                <a:effectLst/>
                <a:ea typeface="Calibri" panose="020F0502020204030204" pitchFamily="34" charset="0"/>
              </a:rPr>
              <a:t>3</a:t>
            </a:r>
            <a:r>
              <a:rPr lang="el-GR" sz="1800" b="1" i="1">
                <a:effectLst/>
                <a:latin typeface="Times New Roman" panose="02020603050405020304" pitchFamily="18" charset="0"/>
                <a:ea typeface="Calibri" panose="020F0502020204030204" pitchFamily="34" charset="0"/>
              </a:rPr>
              <a:t>)</a:t>
            </a:r>
            <a:endParaRPr lang="el-GR"/>
          </a:p>
        </p:txBody>
      </p:sp>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989A6F3-2CDE-A319-8287-8143E871D71A}"/>
              </a:ext>
            </a:extLst>
          </p:cNvPr>
          <p:cNvSpPr>
            <a:spLocks noGrp="1"/>
          </p:cNvSpPr>
          <p:nvPr>
            <p:ph idx="1"/>
          </p:nvPr>
        </p:nvSpPr>
        <p:spPr>
          <a:xfrm>
            <a:off x="673768" y="2470485"/>
            <a:ext cx="8470232" cy="3706478"/>
          </a:xfrm>
        </p:spPr>
        <p:txBody>
          <a:bodyPr/>
          <a:lstStyle/>
          <a:p>
            <a:pPr marL="0" indent="0">
              <a:buNone/>
            </a:pPr>
            <a:r>
              <a:rPr lang="el-GR" sz="1800" dirty="0">
                <a:effectLst/>
                <a:ea typeface="Calibri" panose="020F0502020204030204" pitchFamily="34" charset="0"/>
              </a:rPr>
              <a:t>Η κβαντική πύλη Ζ συμβολίζεται με Ζ και μετατρέπει την κατάσταση 1 σε -1 και δεν επιφέρει καμία μεταβολή στην κατάσταση 0. Όπως καταλαβαίνουμε η πύλη Ζ προσδίδει μια περιστροφή στο διάνυσμα κατάστασης. Συγκεκριμένα,</a:t>
            </a:r>
            <a:r>
              <a:rPr lang="en-US" sz="1800" dirty="0">
                <a:effectLst/>
                <a:ea typeface="Calibri" panose="020F0502020204030204" pitchFamily="34" charset="0"/>
              </a:rPr>
              <a:t> </a:t>
            </a:r>
            <a:r>
              <a:rPr lang="el-GR" sz="1800" dirty="0">
                <a:effectLst/>
                <a:ea typeface="Calibri" panose="020F0502020204030204" pitchFamily="34" charset="0"/>
              </a:rPr>
              <a:t>περιστρέφει το τελευταίο κατά 180</a:t>
            </a:r>
            <a:r>
              <a:rPr lang="el-GR" sz="1800" baseline="30000" dirty="0">
                <a:effectLst/>
                <a:ea typeface="Calibri" panose="020F0502020204030204" pitchFamily="34" charset="0"/>
              </a:rPr>
              <a:t>ο </a:t>
            </a:r>
            <a:r>
              <a:rPr lang="el-GR" sz="1800" dirty="0">
                <a:effectLst/>
                <a:ea typeface="Calibri" panose="020F0502020204030204" pitchFamily="34" charset="0"/>
              </a:rPr>
              <a:t> γύρω από τον άξονα </a:t>
            </a:r>
            <a:r>
              <a:rPr lang="en-US" sz="1800" dirty="0">
                <a:effectLst/>
                <a:ea typeface="Calibri" panose="020F0502020204030204" pitchFamily="34" charset="0"/>
              </a:rPr>
              <a:t>y</a:t>
            </a:r>
            <a:r>
              <a:rPr lang="el-GR" sz="1800" dirty="0">
                <a:effectLst/>
                <a:ea typeface="Calibri" panose="020F0502020204030204" pitchFamily="34" charset="0"/>
              </a:rPr>
              <a:t>.</a:t>
            </a:r>
            <a:endParaRPr lang="en-US" sz="1800" dirty="0">
              <a:effectLst/>
              <a:ea typeface="Calibri" panose="020F0502020204030204" pitchFamily="34" charset="0"/>
            </a:endParaRPr>
          </a:p>
          <a:p>
            <a:pPr marL="0" indent="0">
              <a:buNone/>
            </a:pPr>
            <a:endParaRPr lang="en-US" sz="1800" dirty="0"/>
          </a:p>
          <a:p>
            <a:pPr marL="0" indent="0">
              <a:buNone/>
            </a:pPr>
            <a:endParaRPr lang="el-GR" dirty="0"/>
          </a:p>
        </p:txBody>
      </p:sp>
      <p:pic>
        <p:nvPicPr>
          <p:cNvPr id="4" name="Εικόνα 3" descr="Εικόνα που περιέχει πίνακας&#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83761A9-7D77-D434-5E38-D774FC4CEC4A}"/>
              </a:ext>
            </a:extLst>
          </p:cNvPr>
          <p:cNvPicPr>
            <a:picLocks noChangeAspect="1"/>
          </p:cNvPicPr>
          <p:nvPr/>
        </p:nvPicPr>
        <p:blipFill>
          <a:blip r:embed="rId2" cstate="print"/>
          <a:stretch>
            <a:fillRect/>
          </a:stretch>
        </p:blipFill>
        <p:spPr>
          <a:xfrm>
            <a:off x="673767" y="224589"/>
            <a:ext cx="4716379" cy="1871232"/>
          </a:xfrm>
          <a:prstGeom prst="rect">
            <a:avLst/>
          </a:prstGeom>
        </p:spPr>
      </p:pic>
      <p:pic>
        <p:nvPicPr>
          <p:cNvPr id="7" name="Εικόνα 6" descr="Εικόνα που περιέχει πίνακας&#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E598683-746D-7029-59CE-2B083C12E874}"/>
              </a:ext>
            </a:extLst>
          </p:cNvPr>
          <p:cNvPicPr>
            <a:picLocks noChangeAspect="1"/>
          </p:cNvPicPr>
          <p:nvPr/>
        </p:nvPicPr>
        <p:blipFill>
          <a:blip r:embed="rId3" cstate="print"/>
          <a:stretch>
            <a:fillRect/>
          </a:stretch>
        </p:blipFill>
        <p:spPr>
          <a:xfrm>
            <a:off x="467544" y="3717032"/>
            <a:ext cx="5117432" cy="2084880"/>
          </a:xfrm>
          <a:prstGeom prst="rect">
            <a:avLst/>
          </a:prstGeom>
        </p:spPr>
      </p:pic>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92622859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99F35B3-06A1-3AB7-7F61-A87B4976E705}"/>
              </a:ext>
            </a:extLst>
          </p:cNvPr>
          <p:cNvSpPr txBox="1"/>
          <p:nvPr/>
        </p:nvSpPr>
        <p:spPr>
          <a:xfrm>
            <a:off x="-4173" y="267222"/>
            <a:ext cx="914817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l-GR" sz="2400" b="1" u="sng" dirty="0">
                <a:latin typeface="Times New Roman"/>
                <a:cs typeface="Calibri"/>
              </a:rPr>
              <a:t>Η CNOT (</a:t>
            </a:r>
            <a:r>
              <a:rPr lang="el-GR" sz="2400" b="1" u="sng" dirty="0" err="1">
                <a:latin typeface="Times New Roman"/>
                <a:cs typeface="Calibri"/>
              </a:rPr>
              <a:t>Controlled</a:t>
            </a:r>
            <a:r>
              <a:rPr lang="el-GR" sz="2400" b="1" u="sng" dirty="0">
                <a:latin typeface="Times New Roman"/>
                <a:cs typeface="Calibri"/>
              </a:rPr>
              <a:t> NOT) ΚΒΑΝΤΙΚΗ ΛΟΓΙΚΗ ΠΥΛΗ :</a:t>
            </a:r>
            <a:endParaRPr lang="el-GR" sz="2400" u="sng" dirty="0">
              <a:latin typeface="Times New Roman"/>
              <a:cs typeface="Times New Roman"/>
            </a:endParaRPr>
          </a:p>
          <a:p>
            <a:pPr algn="ctr"/>
            <a:endParaRPr lang="el-GR" sz="2400" b="1" u="sng" dirty="0">
              <a:latin typeface="Times New Roman"/>
              <a:cs typeface="Calibri"/>
            </a:endParaRPr>
          </a:p>
          <a:p>
            <a:pPr algn="ctr"/>
            <a:endParaRPr lang="el-GR" sz="2400" b="1" u="sng" dirty="0">
              <a:latin typeface="Times New Roman"/>
              <a:cs typeface="Calibri"/>
            </a:endParaRPr>
          </a:p>
          <a:p>
            <a:endParaRPr lang="el-GR" dirty="0">
              <a:cs typeface="Calibri"/>
            </a:endParaRPr>
          </a:p>
        </p:txBody>
      </p:sp>
      <p:sp>
        <p:nvSpPr>
          <p:cNvPr id="7" name="TextBox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E9A80BB-D2DB-DA02-6638-81597E25F712}"/>
              </a:ext>
            </a:extLst>
          </p:cNvPr>
          <p:cNvSpPr txBox="1"/>
          <p:nvPr/>
        </p:nvSpPr>
        <p:spPr>
          <a:xfrm>
            <a:off x="170015" y="1151220"/>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l-GR"/>
          </a:p>
        </p:txBody>
      </p:sp>
      <p:sp>
        <p:nvSpPr>
          <p:cNvPr id="9" name="TextBox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7E9218F-73B0-F65D-C8C6-9BDABC47CC56}"/>
              </a:ext>
            </a:extLst>
          </p:cNvPr>
          <p:cNvSpPr txBox="1"/>
          <p:nvPr/>
        </p:nvSpPr>
        <p:spPr>
          <a:xfrm>
            <a:off x="411402" y="1154873"/>
            <a:ext cx="8776569" cy="160043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600" dirty="0">
                <a:ea typeface="+mn-lt"/>
                <a:cs typeface="+mn-lt"/>
              </a:rPr>
              <a:t>Πρόκειται για μία πύλη η οποία δεν υπάρχει στους κλασσικούς υπολογιστές και δρα σε δύο </a:t>
            </a:r>
            <a:r>
              <a:rPr lang="en-US" sz="1600" dirty="0" err="1">
                <a:ea typeface="+mn-lt"/>
                <a:cs typeface="+mn-lt"/>
              </a:rPr>
              <a:t>qubits</a:t>
            </a:r>
            <a:r>
              <a:rPr lang="el-GR" sz="1600" dirty="0">
                <a:ea typeface="+mn-lt"/>
                <a:cs typeface="+mn-lt"/>
              </a:rPr>
              <a:t>. </a:t>
            </a:r>
            <a:r>
              <a:rPr lang="en-US" sz="1600" dirty="0">
                <a:ea typeface="+mn-lt"/>
                <a:cs typeface="+mn-lt"/>
              </a:rPr>
              <a:t>To </a:t>
            </a:r>
            <a:r>
              <a:rPr lang="el-GR" sz="1600" dirty="0">
                <a:ea typeface="+mn-lt"/>
                <a:cs typeface="+mn-lt"/>
              </a:rPr>
              <a:t> ένα </a:t>
            </a:r>
            <a:r>
              <a:rPr lang="en-US" sz="1600" dirty="0" err="1">
                <a:ea typeface="+mn-lt"/>
                <a:cs typeface="+mn-lt"/>
              </a:rPr>
              <a:t>qubit</a:t>
            </a:r>
            <a:r>
              <a:rPr lang="en-US" sz="1600" dirty="0">
                <a:ea typeface="+mn-lt"/>
                <a:cs typeface="+mn-lt"/>
              </a:rPr>
              <a:t> </a:t>
            </a:r>
            <a:r>
              <a:rPr lang="el-GR" sz="1600" dirty="0">
                <a:ea typeface="+mn-lt"/>
                <a:cs typeface="+mn-lt"/>
              </a:rPr>
              <a:t>ονομάζεται </a:t>
            </a:r>
            <a:r>
              <a:rPr lang="en-US" sz="1600" dirty="0" err="1">
                <a:ea typeface="+mn-lt"/>
                <a:cs typeface="+mn-lt"/>
              </a:rPr>
              <a:t>qubit</a:t>
            </a:r>
            <a:r>
              <a:rPr lang="en-US" sz="1600" dirty="0">
                <a:ea typeface="+mn-lt"/>
                <a:cs typeface="+mn-lt"/>
              </a:rPr>
              <a:t> </a:t>
            </a:r>
            <a:r>
              <a:rPr lang="el-GR" sz="1600" dirty="0">
                <a:ea typeface="+mn-lt"/>
                <a:cs typeface="+mn-lt"/>
              </a:rPr>
              <a:t>ελέγχου και συμβολίζεται με </a:t>
            </a:r>
            <a:r>
              <a:rPr lang="en-US" sz="1600" dirty="0">
                <a:ea typeface="+mn-lt"/>
                <a:cs typeface="+mn-lt"/>
              </a:rPr>
              <a:t>c </a:t>
            </a:r>
            <a:r>
              <a:rPr lang="el-GR" sz="1600" dirty="0">
                <a:ea typeface="+mn-lt"/>
                <a:cs typeface="+mn-lt"/>
              </a:rPr>
              <a:t>ενώ το άλλο λέγεται </a:t>
            </a:r>
            <a:r>
              <a:rPr lang="en-US" sz="1600" dirty="0" err="1">
                <a:ea typeface="+mn-lt"/>
                <a:cs typeface="+mn-lt"/>
              </a:rPr>
              <a:t>qubit</a:t>
            </a:r>
            <a:r>
              <a:rPr lang="en-US" sz="1600" dirty="0">
                <a:ea typeface="+mn-lt"/>
                <a:cs typeface="+mn-lt"/>
              </a:rPr>
              <a:t> </a:t>
            </a:r>
            <a:r>
              <a:rPr lang="el-GR" sz="1600" dirty="0">
                <a:ea typeface="+mn-lt"/>
                <a:cs typeface="+mn-lt"/>
              </a:rPr>
              <a:t>στόχος και συμβολίζεται με </a:t>
            </a:r>
            <a:r>
              <a:rPr lang="en-US" sz="1600" dirty="0">
                <a:ea typeface="+mn-lt"/>
                <a:cs typeface="+mn-lt"/>
              </a:rPr>
              <a:t>t</a:t>
            </a:r>
            <a:r>
              <a:rPr lang="el-GR" sz="1600" dirty="0">
                <a:ea typeface="+mn-lt"/>
                <a:cs typeface="+mn-lt"/>
              </a:rPr>
              <a:t>.</a:t>
            </a:r>
            <a:endParaRPr lang="el-GR" sz="1600" dirty="0">
              <a:cs typeface="Calibri"/>
            </a:endParaRPr>
          </a:p>
          <a:p>
            <a:pPr marL="285750" indent="-285750">
              <a:buFont typeface="Arial" pitchFamily="34" charset="0"/>
              <a:buChar char="•"/>
            </a:pPr>
            <a:endParaRPr lang="el-GR" sz="1600" dirty="0">
              <a:cs typeface="Calibri"/>
            </a:endParaRPr>
          </a:p>
          <a:p>
            <a:r>
              <a:rPr lang="en-US" sz="1600" dirty="0" err="1">
                <a:latin typeface="Times New Roman"/>
                <a:cs typeface="Times New Roman"/>
              </a:rPr>
              <a:t>Παρακάτω</a:t>
            </a:r>
            <a:r>
              <a:rPr lang="en-US" sz="1600" dirty="0">
                <a:latin typeface="Times New Roman"/>
                <a:cs typeface="Times New Roman"/>
              </a:rPr>
              <a:t> </a:t>
            </a:r>
            <a:r>
              <a:rPr lang="en-US" sz="1600" dirty="0" err="1">
                <a:latin typeface="Times New Roman"/>
                <a:cs typeface="Times New Roman"/>
              </a:rPr>
              <a:t>είναι</a:t>
            </a:r>
            <a:r>
              <a:rPr lang="en-US" sz="1600" dirty="0">
                <a:latin typeface="Times New Roman"/>
                <a:cs typeface="Times New Roman"/>
              </a:rPr>
              <a:t> ο </a:t>
            </a:r>
            <a:r>
              <a:rPr lang="en-US" sz="1600" dirty="0" err="1">
                <a:latin typeface="Times New Roman"/>
                <a:cs typeface="Times New Roman"/>
              </a:rPr>
              <a:t>πίνακας</a:t>
            </a:r>
            <a:r>
              <a:rPr lang="en-US" sz="1600" dirty="0">
                <a:latin typeface="Times New Roman"/>
                <a:cs typeface="Times New Roman"/>
              </a:rPr>
              <a:t> </a:t>
            </a:r>
            <a:r>
              <a:rPr lang="en-US" sz="1600" dirty="0" err="1">
                <a:latin typeface="Times New Roman"/>
                <a:cs typeface="Times New Roman"/>
              </a:rPr>
              <a:t>αληθείας</a:t>
            </a:r>
            <a:r>
              <a:rPr lang="en-US" sz="1600" dirty="0">
                <a:latin typeface="Times New Roman"/>
                <a:cs typeface="Times New Roman"/>
              </a:rPr>
              <a:t> </a:t>
            </a:r>
            <a:r>
              <a:rPr lang="en-US" sz="1600" dirty="0" err="1">
                <a:latin typeface="Times New Roman"/>
                <a:cs typeface="Times New Roman"/>
              </a:rPr>
              <a:t>της</a:t>
            </a:r>
            <a:r>
              <a:rPr lang="en-US" sz="1600" dirty="0">
                <a:latin typeface="Times New Roman"/>
                <a:cs typeface="Times New Roman"/>
              </a:rPr>
              <a:t> </a:t>
            </a:r>
            <a:r>
              <a:rPr lang="en-US" sz="1600" dirty="0" err="1">
                <a:latin typeface="Times New Roman"/>
                <a:cs typeface="Times New Roman"/>
              </a:rPr>
              <a:t>πύλης</a:t>
            </a:r>
            <a:r>
              <a:rPr lang="en-US" sz="1600" dirty="0">
                <a:latin typeface="Times New Roman"/>
                <a:cs typeface="Times New Roman"/>
              </a:rPr>
              <a:t> CNOT :</a:t>
            </a:r>
            <a:endParaRPr lang="el-GR" sz="1600" dirty="0">
              <a:cs typeface="Calibri"/>
            </a:endParaRPr>
          </a:p>
          <a:p>
            <a:endParaRPr lang="el-GR" dirty="0">
              <a:cs typeface="Calibri"/>
            </a:endParaRPr>
          </a:p>
        </p:txBody>
      </p:sp>
      <p:graphicFrame>
        <p:nvGraphicFramePr>
          <p:cNvPr id="11" name="Πίνακας 10">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B5CAEB4-9B24-0AAF-3BB4-CB58DBB87156}"/>
              </a:ext>
            </a:extLst>
          </p:cNvPr>
          <p:cNvGraphicFramePr>
            <a:graphicFrameLocks noGrp="1"/>
          </p:cNvGraphicFramePr>
          <p:nvPr>
            <p:extLst>
              <p:ext uri="{D42A27DB-BD31-4B8C-83A1-F6EECF244321}">
                <p14:mod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31155866"/>
              </p:ext>
            </p:extLst>
          </p:nvPr>
        </p:nvGraphicFramePr>
        <p:xfrm>
          <a:off x="2769552" y="2895600"/>
          <a:ext cx="4214495" cy="1486664"/>
        </p:xfrm>
        <a:graphic>
          <a:graphicData uri="http://schemas.openxmlformats.org/drawingml/2006/table">
            <a:tbl>
              <a:tblPr firstRow="1" firstCol="1" bandRow="1">
                <a:tableStyleId>{5C22544A-7EE6-4342-B048-85BDC9FD1C3A}</a:tableStyleId>
              </a:tblPr>
              <a:tblGrid>
                <a:gridCol w="1053465">
                  <a:extLst>
                    <a:ext uri="{9D8B030D-6E8A-4147-A177-3AD203B41FA5}">
                      <a16:col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460060319"/>
                    </a:ext>
                  </a:extLst>
                </a:gridCol>
                <a:gridCol w="1053465">
                  <a:extLst>
                    <a:ext uri="{9D8B030D-6E8A-4147-A177-3AD203B41FA5}">
                      <a16:col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157566073"/>
                    </a:ext>
                  </a:extLst>
                </a:gridCol>
                <a:gridCol w="1053465">
                  <a:extLst>
                    <a:ext uri="{9D8B030D-6E8A-4147-A177-3AD203B41FA5}">
                      <a16:col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254380390"/>
                    </a:ext>
                  </a:extLst>
                </a:gridCol>
                <a:gridCol w="1054100">
                  <a:extLst>
                    <a:ext uri="{9D8B030D-6E8A-4147-A177-3AD203B41FA5}">
                      <a16:col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982908483"/>
                    </a:ext>
                  </a:extLst>
                </a:gridCol>
              </a:tblGrid>
              <a:tr h="389384">
                <a:tc>
                  <a:txBody>
                    <a:bodyPr/>
                    <a:lstStyle/>
                    <a:p>
                      <a:pPr algn="ctr"/>
                      <a:r>
                        <a:rPr lang="en-US">
                          <a:effectLst/>
                        </a:rPr>
                        <a:t>c</a:t>
                      </a:r>
                    </a:p>
                  </a:txBody>
                  <a:tcPr marL="68580" marR="68580" marT="0" marB="0"/>
                </a:tc>
                <a:tc>
                  <a:txBody>
                    <a:bodyPr/>
                    <a:lstStyle/>
                    <a:p>
                      <a:pPr algn="ctr"/>
                      <a:r>
                        <a:rPr lang="en-US">
                          <a:effectLst/>
                        </a:rPr>
                        <a:t>t</a:t>
                      </a:r>
                    </a:p>
                  </a:txBody>
                  <a:tcPr marL="68580" marR="68580" marT="0" marB="0"/>
                </a:tc>
                <a:tc>
                  <a:txBody>
                    <a:bodyPr/>
                    <a:lstStyle/>
                    <a:p>
                      <a:pPr algn="ctr"/>
                      <a:r>
                        <a:rPr lang="en-US">
                          <a:effectLst/>
                        </a:rPr>
                        <a:t>c</a:t>
                      </a:r>
                    </a:p>
                  </a:txBody>
                  <a:tcPr marL="68580" marR="68580" marT="0" marB="0"/>
                </a:tc>
                <a:tc>
                  <a:txBody>
                    <a:bodyPr/>
                    <a:lstStyle/>
                    <a:p>
                      <a:pPr algn="ctr"/>
                      <a:r>
                        <a:rPr lang="en-US">
                          <a:effectLst/>
                        </a:rPr>
                        <a:t>c Ꚛ t</a:t>
                      </a:r>
                    </a:p>
                  </a:txBody>
                  <a:tcPr marL="68580" marR="68580" marT="0" marB="0"/>
                </a:tc>
                <a:extLst>
                  <a:ext uri="{0D108BD9-81ED-4DB2-BD59-A6C34878D82A}">
                    <a16:row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845295368"/>
                  </a:ext>
                </a:extLst>
              </a:tr>
              <a:tr h="0">
                <a:tc>
                  <a:txBody>
                    <a:bodyPr/>
                    <a:lstStyle/>
                    <a:p>
                      <a:pPr algn="ctr"/>
                      <a:r>
                        <a:rPr lang="el-GR">
                          <a:effectLst/>
                        </a:rPr>
                        <a:t>| 0 &gt;</a:t>
                      </a:r>
                    </a:p>
                  </a:txBody>
                  <a:tcPr marL="68580" marR="68580" marT="0" marB="0"/>
                </a:tc>
                <a:tc>
                  <a:txBody>
                    <a:bodyPr/>
                    <a:lstStyle/>
                    <a:p>
                      <a:pPr algn="ctr"/>
                      <a:r>
                        <a:rPr lang="el-GR">
                          <a:effectLst/>
                        </a:rPr>
                        <a:t>| 0 &gt;</a:t>
                      </a:r>
                    </a:p>
                  </a:txBody>
                  <a:tcPr marL="68580" marR="68580" marT="0" marB="0"/>
                </a:tc>
                <a:tc>
                  <a:txBody>
                    <a:bodyPr/>
                    <a:lstStyle/>
                    <a:p>
                      <a:pPr algn="ctr"/>
                      <a:r>
                        <a:rPr lang="el-GR">
                          <a:effectLst/>
                        </a:rPr>
                        <a:t>| 0 &gt;</a:t>
                      </a:r>
                    </a:p>
                  </a:txBody>
                  <a:tcPr marL="68580" marR="68580" marT="0" marB="0"/>
                </a:tc>
                <a:tc>
                  <a:txBody>
                    <a:bodyPr/>
                    <a:lstStyle/>
                    <a:p>
                      <a:pPr algn="ctr"/>
                      <a:r>
                        <a:rPr lang="el-GR">
                          <a:effectLst/>
                        </a:rPr>
                        <a:t>| 0 &gt;</a:t>
                      </a:r>
                    </a:p>
                  </a:txBody>
                  <a:tcPr marL="68580" marR="68580" marT="0" marB="0"/>
                </a:tc>
                <a:extLst>
                  <a:ext uri="{0D108BD9-81ED-4DB2-BD59-A6C34878D82A}">
                    <a16:row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235609868"/>
                  </a:ext>
                </a:extLst>
              </a:tr>
              <a:tr h="0">
                <a:tc>
                  <a:txBody>
                    <a:bodyPr/>
                    <a:lstStyle/>
                    <a:p>
                      <a:pPr algn="ctr"/>
                      <a:r>
                        <a:rPr lang="el-GR">
                          <a:effectLst/>
                        </a:rPr>
                        <a:t>| 0 &gt;</a:t>
                      </a:r>
                    </a:p>
                  </a:txBody>
                  <a:tcPr marL="68580" marR="68580" marT="0" marB="0"/>
                </a:tc>
                <a:tc>
                  <a:txBody>
                    <a:bodyPr/>
                    <a:lstStyle/>
                    <a:p>
                      <a:pPr algn="ctr"/>
                      <a:r>
                        <a:rPr lang="el-GR">
                          <a:effectLst/>
                        </a:rPr>
                        <a:t>| 1 &gt;</a:t>
                      </a:r>
                    </a:p>
                  </a:txBody>
                  <a:tcPr marL="68580" marR="68580" marT="0" marB="0"/>
                </a:tc>
                <a:tc>
                  <a:txBody>
                    <a:bodyPr/>
                    <a:lstStyle/>
                    <a:p>
                      <a:pPr algn="ctr"/>
                      <a:r>
                        <a:rPr lang="el-GR">
                          <a:effectLst/>
                        </a:rPr>
                        <a:t>| 0 &gt;</a:t>
                      </a:r>
                    </a:p>
                  </a:txBody>
                  <a:tcPr marL="68580" marR="68580" marT="0" marB="0"/>
                </a:tc>
                <a:tc>
                  <a:txBody>
                    <a:bodyPr/>
                    <a:lstStyle/>
                    <a:p>
                      <a:pPr algn="ctr"/>
                      <a:r>
                        <a:rPr lang="el-GR">
                          <a:effectLst/>
                        </a:rPr>
                        <a:t>| 1 &gt;</a:t>
                      </a:r>
                    </a:p>
                  </a:txBody>
                  <a:tcPr marL="68580" marR="68580" marT="0" marB="0"/>
                </a:tc>
                <a:extLst>
                  <a:ext uri="{0D108BD9-81ED-4DB2-BD59-A6C34878D82A}">
                    <a16:row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831362923"/>
                  </a:ext>
                </a:extLst>
              </a:tr>
              <a:tr h="0">
                <a:tc>
                  <a:txBody>
                    <a:bodyPr/>
                    <a:lstStyle/>
                    <a:p>
                      <a:pPr algn="ctr"/>
                      <a:r>
                        <a:rPr lang="el-GR">
                          <a:effectLst/>
                        </a:rPr>
                        <a:t>| 1 &gt;</a:t>
                      </a:r>
                    </a:p>
                  </a:txBody>
                  <a:tcPr marL="68580" marR="68580" marT="0" marB="0"/>
                </a:tc>
                <a:tc>
                  <a:txBody>
                    <a:bodyPr/>
                    <a:lstStyle/>
                    <a:p>
                      <a:pPr algn="ctr"/>
                      <a:r>
                        <a:rPr lang="el-GR">
                          <a:effectLst/>
                        </a:rPr>
                        <a:t>| 0 &gt;</a:t>
                      </a:r>
                    </a:p>
                  </a:txBody>
                  <a:tcPr marL="68580" marR="68580" marT="0" marB="0"/>
                </a:tc>
                <a:tc>
                  <a:txBody>
                    <a:bodyPr/>
                    <a:lstStyle/>
                    <a:p>
                      <a:pPr algn="ctr"/>
                      <a:r>
                        <a:rPr lang="el-GR">
                          <a:effectLst/>
                        </a:rPr>
                        <a:t>| 1 &gt;</a:t>
                      </a:r>
                    </a:p>
                  </a:txBody>
                  <a:tcPr marL="68580" marR="68580" marT="0" marB="0"/>
                </a:tc>
                <a:tc>
                  <a:txBody>
                    <a:bodyPr/>
                    <a:lstStyle/>
                    <a:p>
                      <a:pPr algn="ctr"/>
                      <a:r>
                        <a:rPr lang="el-GR">
                          <a:effectLst/>
                        </a:rPr>
                        <a:t>| 1 &gt;</a:t>
                      </a:r>
                    </a:p>
                  </a:txBody>
                  <a:tcPr marL="68580" marR="68580" marT="0" marB="0"/>
                </a:tc>
                <a:extLst>
                  <a:ext uri="{0D108BD9-81ED-4DB2-BD59-A6C34878D82A}">
                    <a16:row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483974701"/>
                  </a:ext>
                </a:extLst>
              </a:tr>
              <a:tr h="0">
                <a:tc>
                  <a:txBody>
                    <a:bodyPr/>
                    <a:lstStyle/>
                    <a:p>
                      <a:pPr algn="ctr"/>
                      <a:r>
                        <a:rPr lang="el-GR">
                          <a:effectLst/>
                        </a:rPr>
                        <a:t>| 1 &gt;</a:t>
                      </a:r>
                    </a:p>
                  </a:txBody>
                  <a:tcPr marL="68580" marR="68580" marT="0" marB="0"/>
                </a:tc>
                <a:tc>
                  <a:txBody>
                    <a:bodyPr/>
                    <a:lstStyle/>
                    <a:p>
                      <a:pPr algn="ctr"/>
                      <a:r>
                        <a:rPr lang="el-GR">
                          <a:effectLst/>
                        </a:rPr>
                        <a:t>| 1 &gt;</a:t>
                      </a:r>
                    </a:p>
                  </a:txBody>
                  <a:tcPr marL="68580" marR="68580" marT="0" marB="0"/>
                </a:tc>
                <a:tc>
                  <a:txBody>
                    <a:bodyPr/>
                    <a:lstStyle/>
                    <a:p>
                      <a:pPr algn="ctr"/>
                      <a:r>
                        <a:rPr lang="el-GR">
                          <a:effectLst/>
                        </a:rPr>
                        <a:t>| 1 &gt;</a:t>
                      </a:r>
                    </a:p>
                  </a:txBody>
                  <a:tcPr marL="68580" marR="68580" marT="0" marB="0"/>
                </a:tc>
                <a:tc>
                  <a:txBody>
                    <a:bodyPr/>
                    <a:lstStyle/>
                    <a:p>
                      <a:pPr algn="ctr"/>
                      <a:r>
                        <a:rPr lang="el-GR" dirty="0">
                          <a:effectLst/>
                        </a:rPr>
                        <a:t>| 0 &gt;</a:t>
                      </a:r>
                    </a:p>
                  </a:txBody>
                  <a:tcPr marL="68580" marR="68580" marT="0" marB="0"/>
                </a:tc>
                <a:extLst>
                  <a:ext uri="{0D108BD9-81ED-4DB2-BD59-A6C34878D82A}">
                    <a16:row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026085861"/>
                  </a:ext>
                </a:extLst>
              </a:tr>
            </a:tbl>
          </a:graphicData>
        </a:graphic>
      </p:graphicFrame>
      <p:sp>
        <p:nvSpPr>
          <p:cNvPr id="12" name="TextBox 1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9B15B80-B92F-92E8-587C-8854403D30BD}"/>
              </a:ext>
            </a:extLst>
          </p:cNvPr>
          <p:cNvSpPr txBox="1"/>
          <p:nvPr/>
        </p:nvSpPr>
        <p:spPr>
          <a:xfrm>
            <a:off x="0" y="4272677"/>
            <a:ext cx="9144000"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latin typeface="Times New Roman"/>
              <a:cs typeface="Times New Roman"/>
            </a:endParaRPr>
          </a:p>
          <a:p>
            <a:r>
              <a:rPr lang="en-US" sz="1600" dirty="0" err="1">
                <a:latin typeface="Times New Roman"/>
                <a:cs typeface="Times New Roman"/>
              </a:rPr>
              <a:t>Τα</a:t>
            </a:r>
            <a:r>
              <a:rPr lang="en-US" sz="1600" dirty="0">
                <a:latin typeface="Times New Roman"/>
                <a:cs typeface="Times New Roman"/>
              </a:rPr>
              <a:t> </a:t>
            </a:r>
            <a:r>
              <a:rPr lang="en-US" sz="1600" dirty="0" err="1">
                <a:latin typeface="Times New Roman"/>
                <a:cs typeface="Times New Roman"/>
              </a:rPr>
              <a:t>παραπάνω</a:t>
            </a:r>
            <a:r>
              <a:rPr lang="en-US" sz="1600" dirty="0">
                <a:latin typeface="Times New Roman"/>
                <a:cs typeface="Times New Roman"/>
              </a:rPr>
              <a:t> </a:t>
            </a:r>
            <a:r>
              <a:rPr lang="en-US" sz="1600" dirty="0" err="1">
                <a:latin typeface="Times New Roman"/>
                <a:cs typeface="Times New Roman"/>
              </a:rPr>
              <a:t>εξηγούνται</a:t>
            </a:r>
            <a:r>
              <a:rPr lang="en-US" sz="1600" dirty="0">
                <a:latin typeface="Times New Roman"/>
                <a:cs typeface="Times New Roman"/>
              </a:rPr>
              <a:t> </a:t>
            </a:r>
            <a:r>
              <a:rPr lang="en-US" sz="1600" dirty="0" err="1">
                <a:latin typeface="Times New Roman"/>
                <a:cs typeface="Times New Roman"/>
              </a:rPr>
              <a:t>ως</a:t>
            </a:r>
            <a:r>
              <a:rPr lang="en-US" sz="1600" dirty="0">
                <a:latin typeface="Times New Roman"/>
                <a:cs typeface="Times New Roman"/>
              </a:rPr>
              <a:t> </a:t>
            </a:r>
            <a:r>
              <a:rPr lang="en-US" sz="1600" dirty="0" err="1">
                <a:latin typeface="Times New Roman"/>
                <a:cs typeface="Times New Roman"/>
              </a:rPr>
              <a:t>εξής</a:t>
            </a:r>
            <a:r>
              <a:rPr lang="en-US" sz="1600" dirty="0">
                <a:latin typeface="Times New Roman"/>
                <a:cs typeface="Times New Roman"/>
              </a:rPr>
              <a:t> :</a:t>
            </a:r>
          </a:p>
          <a:p>
            <a:endParaRPr lang="en-US" sz="1600" dirty="0">
              <a:latin typeface="Times New Roman"/>
              <a:cs typeface="Times New Roman"/>
            </a:endParaRPr>
          </a:p>
          <a:p>
            <a:r>
              <a:rPr lang="en-US" sz="1600" dirty="0">
                <a:latin typeface="Times New Roman"/>
                <a:cs typeface="Times New Roman"/>
              </a:rPr>
              <a:t>Α) Η </a:t>
            </a:r>
            <a:r>
              <a:rPr lang="en-US" sz="1600" dirty="0" err="1">
                <a:latin typeface="Times New Roman"/>
                <a:cs typeface="Times New Roman"/>
              </a:rPr>
              <a:t>πύλη</a:t>
            </a:r>
            <a:r>
              <a:rPr lang="en-US" sz="1600" dirty="0">
                <a:latin typeface="Times New Roman"/>
                <a:cs typeface="Times New Roman"/>
              </a:rPr>
              <a:t> </a:t>
            </a:r>
            <a:r>
              <a:rPr lang="en-US" sz="1600" dirty="0">
                <a:latin typeface="Times New Roman"/>
              </a:rPr>
              <a:t>CNOT </a:t>
            </a:r>
            <a:r>
              <a:rPr lang="en-US" sz="1600" dirty="0" err="1">
                <a:latin typeface="Times New Roman"/>
                <a:cs typeface="Times New Roman"/>
              </a:rPr>
              <a:t>αλλάζει</a:t>
            </a:r>
            <a:r>
              <a:rPr lang="en-US" sz="1600" dirty="0">
                <a:latin typeface="Times New Roman"/>
                <a:cs typeface="Times New Roman"/>
              </a:rPr>
              <a:t> </a:t>
            </a:r>
            <a:r>
              <a:rPr lang="en-US" sz="1600" dirty="0" err="1">
                <a:latin typeface="Times New Roman"/>
                <a:cs typeface="Times New Roman"/>
              </a:rPr>
              <a:t>την</a:t>
            </a:r>
            <a:r>
              <a:rPr lang="en-US" sz="1600" dirty="0">
                <a:latin typeface="Times New Roman"/>
                <a:cs typeface="Times New Roman"/>
              </a:rPr>
              <a:t> </a:t>
            </a:r>
            <a:r>
              <a:rPr lang="en-US" sz="1600" dirty="0" err="1">
                <a:latin typeface="Times New Roman"/>
                <a:cs typeface="Times New Roman"/>
              </a:rPr>
              <a:t>κατάσταση</a:t>
            </a:r>
            <a:r>
              <a:rPr lang="en-US" sz="1600" dirty="0">
                <a:latin typeface="Times New Roman"/>
                <a:cs typeface="Times New Roman"/>
              </a:rPr>
              <a:t> </a:t>
            </a:r>
            <a:r>
              <a:rPr lang="en-US" sz="1600" dirty="0" err="1">
                <a:latin typeface="Times New Roman"/>
                <a:cs typeface="Times New Roman"/>
              </a:rPr>
              <a:t>του</a:t>
            </a:r>
            <a:r>
              <a:rPr lang="en-US" sz="1600" dirty="0">
                <a:latin typeface="Times New Roman"/>
                <a:cs typeface="Times New Roman"/>
              </a:rPr>
              <a:t> </a:t>
            </a:r>
            <a:r>
              <a:rPr lang="en-US" sz="1600" dirty="0" err="1">
                <a:latin typeface="Times New Roman"/>
              </a:rPr>
              <a:t>qubit</a:t>
            </a:r>
            <a:r>
              <a:rPr lang="en-US" sz="1600" dirty="0">
                <a:latin typeface="Times New Roman"/>
              </a:rPr>
              <a:t> </a:t>
            </a:r>
            <a:r>
              <a:rPr lang="en-US" sz="1600" dirty="0" err="1">
                <a:latin typeface="Times New Roman"/>
                <a:cs typeface="Times New Roman"/>
              </a:rPr>
              <a:t>στόχου</a:t>
            </a:r>
            <a:r>
              <a:rPr lang="en-US" sz="1600" dirty="0">
                <a:latin typeface="Times New Roman"/>
                <a:cs typeface="Times New Roman"/>
              </a:rPr>
              <a:t>, </a:t>
            </a:r>
            <a:r>
              <a:rPr lang="en-US" sz="1600" dirty="0" err="1">
                <a:latin typeface="Times New Roman"/>
                <a:cs typeface="Times New Roman"/>
              </a:rPr>
              <a:t>όταν</a:t>
            </a:r>
            <a:r>
              <a:rPr lang="en-US" sz="1600" dirty="0">
                <a:latin typeface="Times New Roman"/>
                <a:cs typeface="Times New Roman"/>
              </a:rPr>
              <a:t> η </a:t>
            </a:r>
            <a:r>
              <a:rPr lang="en-US" sz="1600" dirty="0" err="1">
                <a:latin typeface="Times New Roman"/>
                <a:cs typeface="Times New Roman"/>
              </a:rPr>
              <a:t>κατάσταση</a:t>
            </a:r>
            <a:r>
              <a:rPr lang="en-US" sz="1600" dirty="0">
                <a:latin typeface="Times New Roman"/>
                <a:cs typeface="Times New Roman"/>
              </a:rPr>
              <a:t> </a:t>
            </a:r>
            <a:r>
              <a:rPr lang="en-US" sz="1600" dirty="0" err="1">
                <a:latin typeface="Times New Roman"/>
                <a:cs typeface="Times New Roman"/>
              </a:rPr>
              <a:t>του</a:t>
            </a:r>
            <a:r>
              <a:rPr lang="en-US" sz="1600" dirty="0">
                <a:latin typeface="Times New Roman"/>
                <a:cs typeface="Times New Roman"/>
              </a:rPr>
              <a:t> </a:t>
            </a:r>
            <a:r>
              <a:rPr lang="en-US" sz="1600" dirty="0" err="1">
                <a:latin typeface="Times New Roman"/>
              </a:rPr>
              <a:t>qubit</a:t>
            </a:r>
            <a:r>
              <a:rPr lang="en-US" sz="1600" dirty="0">
                <a:latin typeface="Times New Roman"/>
              </a:rPr>
              <a:t> </a:t>
            </a:r>
            <a:r>
              <a:rPr lang="en-US" sz="1600" dirty="0" err="1">
                <a:latin typeface="Times New Roman"/>
                <a:cs typeface="Times New Roman"/>
              </a:rPr>
              <a:t>ελέγχου</a:t>
            </a:r>
            <a:r>
              <a:rPr lang="en-US" sz="1600" dirty="0">
                <a:latin typeface="Times New Roman"/>
                <a:cs typeface="Times New Roman"/>
              </a:rPr>
              <a:t> </a:t>
            </a:r>
            <a:r>
              <a:rPr lang="en-US" sz="1600" dirty="0" err="1">
                <a:latin typeface="Times New Roman"/>
                <a:cs typeface="Times New Roman"/>
              </a:rPr>
              <a:t>είναι</a:t>
            </a:r>
            <a:r>
              <a:rPr lang="en-US" sz="1600" dirty="0">
                <a:latin typeface="Times New Roman"/>
                <a:cs typeface="Times New Roman"/>
              </a:rPr>
              <a:t> | 1 &gt;.</a:t>
            </a:r>
          </a:p>
          <a:p>
            <a:endParaRPr lang="en-US" sz="1600" dirty="0">
              <a:latin typeface="Times New Roman"/>
              <a:cs typeface="Times New Roman"/>
            </a:endParaRPr>
          </a:p>
          <a:p>
            <a:r>
              <a:rPr lang="en-US" sz="1600" dirty="0">
                <a:latin typeface="Times New Roman"/>
                <a:cs typeface="Times New Roman"/>
              </a:rPr>
              <a:t>Β) Η </a:t>
            </a:r>
            <a:r>
              <a:rPr lang="en-US" sz="1600" dirty="0" err="1">
                <a:latin typeface="Times New Roman"/>
                <a:cs typeface="Times New Roman"/>
              </a:rPr>
              <a:t>κατάσταση</a:t>
            </a:r>
            <a:r>
              <a:rPr lang="en-US" sz="1600" dirty="0">
                <a:latin typeface="Times New Roman"/>
                <a:cs typeface="Times New Roman"/>
              </a:rPr>
              <a:t> </a:t>
            </a:r>
            <a:r>
              <a:rPr lang="en-US" sz="1600" dirty="0" err="1">
                <a:latin typeface="Times New Roman"/>
                <a:cs typeface="Times New Roman"/>
              </a:rPr>
              <a:t>του</a:t>
            </a:r>
            <a:r>
              <a:rPr lang="en-US" sz="1600" dirty="0">
                <a:latin typeface="Times New Roman"/>
                <a:cs typeface="Times New Roman"/>
              </a:rPr>
              <a:t> </a:t>
            </a:r>
            <a:r>
              <a:rPr lang="en-US" sz="1600" dirty="0" err="1">
                <a:latin typeface="Times New Roman"/>
              </a:rPr>
              <a:t>qubit</a:t>
            </a:r>
            <a:r>
              <a:rPr lang="en-US" sz="1600" dirty="0">
                <a:latin typeface="Times New Roman"/>
              </a:rPr>
              <a:t> </a:t>
            </a:r>
            <a:r>
              <a:rPr lang="en-US" sz="1600" dirty="0" err="1">
                <a:latin typeface="Times New Roman"/>
                <a:cs typeface="Times New Roman"/>
              </a:rPr>
              <a:t>στόχου</a:t>
            </a:r>
            <a:r>
              <a:rPr lang="en-US" sz="1600" dirty="0">
                <a:latin typeface="Times New Roman"/>
                <a:cs typeface="Times New Roman"/>
              </a:rPr>
              <a:t> </a:t>
            </a:r>
            <a:r>
              <a:rPr lang="en-US" sz="1600" dirty="0" err="1">
                <a:latin typeface="Times New Roman"/>
                <a:cs typeface="Times New Roman"/>
              </a:rPr>
              <a:t>παραμένει</a:t>
            </a:r>
            <a:r>
              <a:rPr lang="en-US" sz="1600" dirty="0">
                <a:latin typeface="Times New Roman"/>
                <a:cs typeface="Times New Roman"/>
              </a:rPr>
              <a:t> η </a:t>
            </a:r>
            <a:r>
              <a:rPr lang="en-US" sz="1600" dirty="0" err="1">
                <a:latin typeface="Times New Roman"/>
                <a:cs typeface="Times New Roman"/>
              </a:rPr>
              <a:t>ίδια</a:t>
            </a:r>
            <a:r>
              <a:rPr lang="en-US" sz="1600" dirty="0">
                <a:latin typeface="Times New Roman"/>
                <a:cs typeface="Times New Roman"/>
              </a:rPr>
              <a:t> , </a:t>
            </a:r>
            <a:r>
              <a:rPr lang="en-US" sz="1600" dirty="0" err="1">
                <a:latin typeface="Times New Roman"/>
                <a:cs typeface="Times New Roman"/>
              </a:rPr>
              <a:t>όταν</a:t>
            </a:r>
            <a:r>
              <a:rPr lang="en-US" sz="1600" dirty="0">
                <a:latin typeface="Times New Roman"/>
                <a:cs typeface="Times New Roman"/>
              </a:rPr>
              <a:t> η </a:t>
            </a:r>
            <a:r>
              <a:rPr lang="en-US" sz="1600" dirty="0" err="1">
                <a:latin typeface="Times New Roman"/>
                <a:cs typeface="Times New Roman"/>
              </a:rPr>
              <a:t>κατάσταση</a:t>
            </a:r>
            <a:r>
              <a:rPr lang="en-US" sz="1600" dirty="0">
                <a:latin typeface="Times New Roman"/>
                <a:cs typeface="Times New Roman"/>
              </a:rPr>
              <a:t> </a:t>
            </a:r>
            <a:r>
              <a:rPr lang="en-US" sz="1600" dirty="0" err="1">
                <a:latin typeface="Times New Roman"/>
                <a:cs typeface="Times New Roman"/>
              </a:rPr>
              <a:t>του</a:t>
            </a:r>
            <a:r>
              <a:rPr lang="en-US" sz="1600" dirty="0">
                <a:latin typeface="Times New Roman"/>
                <a:cs typeface="Times New Roman"/>
              </a:rPr>
              <a:t> </a:t>
            </a:r>
            <a:r>
              <a:rPr lang="en-US" sz="1600" dirty="0" err="1">
                <a:latin typeface="Times New Roman"/>
              </a:rPr>
              <a:t>qubit</a:t>
            </a:r>
            <a:r>
              <a:rPr lang="en-US" sz="1600" dirty="0">
                <a:latin typeface="Times New Roman"/>
              </a:rPr>
              <a:t> </a:t>
            </a:r>
            <a:r>
              <a:rPr lang="en-US" sz="1600" dirty="0" err="1">
                <a:latin typeface="Times New Roman"/>
                <a:cs typeface="Times New Roman"/>
              </a:rPr>
              <a:t>ελέγχου</a:t>
            </a:r>
            <a:r>
              <a:rPr lang="en-US" sz="1600" dirty="0">
                <a:latin typeface="Times New Roman"/>
                <a:cs typeface="Times New Roman"/>
              </a:rPr>
              <a:t> </a:t>
            </a:r>
            <a:r>
              <a:rPr lang="en-US" sz="1600" dirty="0" err="1">
                <a:latin typeface="Times New Roman"/>
                <a:cs typeface="Times New Roman"/>
              </a:rPr>
              <a:t>είναι</a:t>
            </a:r>
            <a:r>
              <a:rPr lang="en-US" sz="1600" dirty="0">
                <a:latin typeface="Times New Roman"/>
                <a:cs typeface="Times New Roman"/>
              </a:rPr>
              <a:t> | 0 &gt;.</a:t>
            </a:r>
          </a:p>
          <a:p>
            <a:endParaRPr lang="en-US" sz="1600" dirty="0">
              <a:latin typeface="Times New Roman"/>
              <a:cs typeface="Times New Roman"/>
            </a:endParaRPr>
          </a:p>
          <a:p>
            <a:r>
              <a:rPr lang="en-US" sz="1600" dirty="0">
                <a:latin typeface="Times New Roman"/>
                <a:cs typeface="Times New Roman"/>
              </a:rPr>
              <a:t>Γ) Η </a:t>
            </a:r>
            <a:r>
              <a:rPr lang="en-US" sz="1600" dirty="0" err="1">
                <a:latin typeface="Times New Roman"/>
                <a:cs typeface="Times New Roman"/>
              </a:rPr>
              <a:t>κατάσταση</a:t>
            </a:r>
            <a:r>
              <a:rPr lang="en-US" sz="1600" dirty="0">
                <a:latin typeface="Times New Roman"/>
                <a:cs typeface="Times New Roman"/>
              </a:rPr>
              <a:t> </a:t>
            </a:r>
            <a:r>
              <a:rPr lang="en-US" sz="1600" dirty="0" err="1">
                <a:latin typeface="Times New Roman"/>
                <a:cs typeface="Times New Roman"/>
              </a:rPr>
              <a:t>του</a:t>
            </a:r>
            <a:r>
              <a:rPr lang="en-US" sz="1600" dirty="0">
                <a:latin typeface="Times New Roman"/>
                <a:cs typeface="Times New Roman"/>
              </a:rPr>
              <a:t> </a:t>
            </a:r>
            <a:r>
              <a:rPr lang="en-US" sz="1600" dirty="0" err="1">
                <a:latin typeface="Times New Roman"/>
              </a:rPr>
              <a:t>qubit</a:t>
            </a:r>
            <a:r>
              <a:rPr lang="en-US" sz="1600" dirty="0">
                <a:latin typeface="Times New Roman"/>
              </a:rPr>
              <a:t> </a:t>
            </a:r>
            <a:r>
              <a:rPr lang="en-US" sz="1600" dirty="0" err="1">
                <a:latin typeface="Times New Roman"/>
                <a:cs typeface="Times New Roman"/>
              </a:rPr>
              <a:t>ελέγχου</a:t>
            </a:r>
            <a:r>
              <a:rPr lang="en-US" sz="1600" dirty="0">
                <a:latin typeface="Times New Roman"/>
                <a:cs typeface="Times New Roman"/>
              </a:rPr>
              <a:t> </a:t>
            </a:r>
            <a:r>
              <a:rPr lang="en-US" sz="1600" dirty="0" err="1">
                <a:latin typeface="Times New Roman"/>
                <a:cs typeface="Times New Roman"/>
              </a:rPr>
              <a:t>δεν</a:t>
            </a:r>
            <a:r>
              <a:rPr lang="en-US" sz="1600" dirty="0">
                <a:latin typeface="Times New Roman"/>
                <a:cs typeface="Times New Roman"/>
              </a:rPr>
              <a:t> </a:t>
            </a:r>
            <a:r>
              <a:rPr lang="en-US" sz="1600" dirty="0" err="1">
                <a:latin typeface="Times New Roman"/>
                <a:cs typeface="Times New Roman"/>
              </a:rPr>
              <a:t>μεταβάλλεται</a:t>
            </a:r>
            <a:r>
              <a:rPr lang="en-US" sz="1600" dirty="0">
                <a:latin typeface="Times New Roman"/>
                <a:cs typeface="Times New Roman"/>
              </a:rPr>
              <a:t>.</a:t>
            </a:r>
          </a:p>
          <a:p>
            <a:endParaRPr lang="en-US" sz="1600" dirty="0">
              <a:cs typeface="Calibri"/>
            </a:endParaRP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32512223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Εικόνα 4" descr="Εικόνα που περιέχει κείμενο, ρολόι&#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6B0C162-17E6-33A8-CA68-87131EF9B0AF}"/>
              </a:ext>
            </a:extLst>
          </p:cNvPr>
          <p:cNvPicPr>
            <a:picLocks noGrp="1" noChangeAspect="1"/>
          </p:cNvPicPr>
          <p:nvPr>
            <p:ph idx="1"/>
          </p:nvPr>
        </p:nvPicPr>
        <p:blipFill>
          <a:blip r:embed="rId2" cstate="print"/>
          <a:stretch>
            <a:fillRect/>
          </a:stretch>
        </p:blipFill>
        <p:spPr>
          <a:xfrm>
            <a:off x="2627784" y="260648"/>
            <a:ext cx="5219179" cy="2211620"/>
          </a:xfrm>
        </p:spPr>
      </p:pic>
      <p:sp>
        <p:nvSpPr>
          <p:cNvPr id="5" name="TextBox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E056305-4148-A66A-D04A-8D59CF59B87C}"/>
              </a:ext>
            </a:extLst>
          </p:cNvPr>
          <p:cNvSpPr txBox="1"/>
          <p:nvPr/>
        </p:nvSpPr>
        <p:spPr>
          <a:xfrm>
            <a:off x="2915816" y="2564904"/>
            <a:ext cx="703336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smtClean="0">
                <a:ea typeface="+mn-lt"/>
                <a:cs typeface="+mn-lt"/>
              </a:rPr>
              <a:t>E</a:t>
            </a:r>
            <a:r>
              <a:rPr lang="el-GR" sz="1600" dirty="0" err="1" smtClean="0">
                <a:ea typeface="+mn-lt"/>
                <a:cs typeface="+mn-lt"/>
              </a:rPr>
              <a:t>ικόνα</a:t>
            </a:r>
            <a:r>
              <a:rPr lang="el-GR" sz="1600" dirty="0" smtClean="0">
                <a:ea typeface="+mn-lt"/>
                <a:cs typeface="+mn-lt"/>
              </a:rPr>
              <a:t> </a:t>
            </a:r>
            <a:r>
              <a:rPr lang="en-GB" sz="1600" dirty="0" smtClean="0">
                <a:ea typeface="+mn-lt"/>
                <a:cs typeface="+mn-lt"/>
              </a:rPr>
              <a:t>: </a:t>
            </a:r>
            <a:r>
              <a:rPr lang="el-GR" sz="1600" dirty="0" smtClean="0">
                <a:ea typeface="+mn-lt"/>
                <a:cs typeface="+mn-lt"/>
              </a:rPr>
              <a:t>Το </a:t>
            </a:r>
            <a:r>
              <a:rPr lang="el-GR" sz="1600" dirty="0">
                <a:ea typeface="+mn-lt"/>
                <a:cs typeface="+mn-lt"/>
              </a:rPr>
              <a:t>σύμβολο της κβαντικής πύλης ελεγχόμενου ΟΧΙ, </a:t>
            </a:r>
            <a:r>
              <a:rPr lang="en-US" sz="1600" dirty="0">
                <a:ea typeface="+mn-lt"/>
                <a:cs typeface="+mn-lt"/>
              </a:rPr>
              <a:t>CNOT</a:t>
            </a:r>
            <a:r>
              <a:rPr lang="el-GR" sz="1600" dirty="0">
                <a:ea typeface="+mn-lt"/>
                <a:cs typeface="+mn-lt"/>
              </a:rPr>
              <a:t>.[2]</a:t>
            </a:r>
            <a:endParaRPr lang="el-GR" sz="1600" dirty="0"/>
          </a:p>
        </p:txBody>
      </p:sp>
      <p:sp>
        <p:nvSpPr>
          <p:cNvPr id="2" name="TextBox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F40CED1-32A5-54B1-927C-1F2296D9FC62}"/>
              </a:ext>
            </a:extLst>
          </p:cNvPr>
          <p:cNvSpPr txBox="1"/>
          <p:nvPr/>
        </p:nvSpPr>
        <p:spPr>
          <a:xfrm>
            <a:off x="467544" y="3072348"/>
            <a:ext cx="832517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600" dirty="0">
                <a:ea typeface="+mn-lt"/>
                <a:cs typeface="+mn-lt"/>
              </a:rPr>
              <a:t>Όπου | </a:t>
            </a:r>
            <a:r>
              <a:rPr lang="en-US" sz="1600" dirty="0" err="1">
                <a:ea typeface="+mn-lt"/>
                <a:cs typeface="+mn-lt"/>
              </a:rPr>
              <a:t>Ci</a:t>
            </a:r>
            <a:r>
              <a:rPr lang="el-GR" sz="1600" dirty="0">
                <a:ea typeface="+mn-lt"/>
                <a:cs typeface="+mn-lt"/>
              </a:rPr>
              <a:t> &gt; και |</a:t>
            </a:r>
            <a:r>
              <a:rPr lang="en-US" sz="1600" dirty="0" err="1">
                <a:ea typeface="+mn-lt"/>
                <a:cs typeface="+mn-lt"/>
              </a:rPr>
              <a:t>t</a:t>
            </a:r>
            <a:r>
              <a:rPr lang="en-US" sz="1600" baseline="-25000" dirty="0" err="1">
                <a:ea typeface="+mn-lt"/>
                <a:cs typeface="+mn-lt"/>
              </a:rPr>
              <a:t>i</a:t>
            </a:r>
            <a:r>
              <a:rPr lang="en-US" sz="1600" baseline="-25000" dirty="0">
                <a:ea typeface="+mn-lt"/>
                <a:cs typeface="+mn-lt"/>
              </a:rPr>
              <a:t> </a:t>
            </a:r>
            <a:r>
              <a:rPr lang="el-GR" sz="1600" dirty="0">
                <a:ea typeface="+mn-lt"/>
                <a:cs typeface="+mn-lt"/>
              </a:rPr>
              <a:t>&gt;  είναι οι καταστάσεις των δύο </a:t>
            </a:r>
            <a:r>
              <a:rPr lang="en-US" sz="1600" dirty="0" err="1">
                <a:ea typeface="+mn-lt"/>
                <a:cs typeface="+mn-lt"/>
              </a:rPr>
              <a:t>qubits</a:t>
            </a:r>
            <a:r>
              <a:rPr lang="en-US" sz="1600" dirty="0">
                <a:ea typeface="+mn-lt"/>
                <a:cs typeface="+mn-lt"/>
              </a:rPr>
              <a:t> </a:t>
            </a:r>
            <a:r>
              <a:rPr lang="el-GR" sz="1600" dirty="0">
                <a:ea typeface="+mn-lt"/>
                <a:cs typeface="+mn-lt"/>
              </a:rPr>
              <a:t>πριν την δράση της πύλης και | </a:t>
            </a:r>
            <a:r>
              <a:rPr lang="en-US" sz="1600" dirty="0">
                <a:ea typeface="+mn-lt"/>
                <a:cs typeface="+mn-lt"/>
              </a:rPr>
              <a:t>Co</a:t>
            </a:r>
            <a:r>
              <a:rPr lang="el-GR" sz="1600" dirty="0">
                <a:ea typeface="+mn-lt"/>
                <a:cs typeface="+mn-lt"/>
              </a:rPr>
              <a:t> &gt; , | </a:t>
            </a:r>
            <a:r>
              <a:rPr lang="en-US" sz="1600" dirty="0">
                <a:ea typeface="+mn-lt"/>
                <a:cs typeface="+mn-lt"/>
              </a:rPr>
              <a:t>t</a:t>
            </a:r>
            <a:r>
              <a:rPr lang="el-GR" sz="1600" baseline="-25000" dirty="0">
                <a:ea typeface="+mn-lt"/>
                <a:cs typeface="+mn-lt"/>
              </a:rPr>
              <a:t>0</a:t>
            </a:r>
            <a:r>
              <a:rPr lang="el-GR" sz="1600" dirty="0">
                <a:ea typeface="+mn-lt"/>
                <a:cs typeface="+mn-lt"/>
              </a:rPr>
              <a:t> &gt; είναι οι καταστάσεις των δύο </a:t>
            </a:r>
            <a:r>
              <a:rPr lang="en-US" sz="1600" dirty="0" err="1">
                <a:ea typeface="+mn-lt"/>
                <a:cs typeface="+mn-lt"/>
              </a:rPr>
              <a:t>qubits</a:t>
            </a:r>
            <a:r>
              <a:rPr lang="en-US" sz="1600" dirty="0">
                <a:ea typeface="+mn-lt"/>
                <a:cs typeface="+mn-lt"/>
              </a:rPr>
              <a:t> </a:t>
            </a:r>
            <a:r>
              <a:rPr lang="el-GR" sz="1600" dirty="0">
                <a:ea typeface="+mn-lt"/>
                <a:cs typeface="+mn-lt"/>
              </a:rPr>
              <a:t>μετά την δράση της πύλης. </a:t>
            </a:r>
            <a:endParaRPr lang="el-GR" sz="1600" dirty="0">
              <a:cs typeface="Calibri"/>
            </a:endParaRPr>
          </a:p>
          <a:p>
            <a:endParaRPr lang="el-GR" sz="1600" dirty="0">
              <a:cs typeface="Calibri"/>
            </a:endParaRPr>
          </a:p>
          <a:p>
            <a:r>
              <a:rPr lang="el-GR" sz="1600" dirty="0">
                <a:ea typeface="+mn-lt"/>
                <a:cs typeface="+mn-lt"/>
              </a:rPr>
              <a:t>Παρατηρώντας τον πίνακα αληθείας της κβαντικής πύλης </a:t>
            </a:r>
            <a:r>
              <a:rPr lang="en-US" sz="1600" dirty="0">
                <a:ea typeface="+mn-lt"/>
                <a:cs typeface="+mn-lt"/>
              </a:rPr>
              <a:t>CNOT </a:t>
            </a:r>
            <a:r>
              <a:rPr lang="el-GR" sz="1600" dirty="0">
                <a:ea typeface="+mn-lt"/>
                <a:cs typeface="+mn-lt"/>
              </a:rPr>
              <a:t>είναι φανερό ότι από 4 διαφορετικές εισόδους, παίρνουμε 4 διαφορετικές εξόδους. Επομένως, βλέποντας την έξοδο της πύλης, αυτόματα γνωρίζουμε και από ποια είσοδο προήλθε.</a:t>
            </a:r>
          </a:p>
          <a:p>
            <a:endParaRPr lang="el-GR" sz="1600" dirty="0">
              <a:cs typeface="Calibri"/>
            </a:endParaRPr>
          </a:p>
          <a:p>
            <a:r>
              <a:rPr lang="el-GR" sz="1600" dirty="0">
                <a:ea typeface="+mn-lt"/>
                <a:cs typeface="+mn-lt"/>
              </a:rPr>
              <a:t>Στους κβαντικούς υπολογιστές, λοιπόν, η πύλη </a:t>
            </a:r>
            <a:r>
              <a:rPr lang="en-US" sz="1600" dirty="0">
                <a:ea typeface="+mn-lt"/>
                <a:cs typeface="+mn-lt"/>
              </a:rPr>
              <a:t>CNOT</a:t>
            </a:r>
            <a:r>
              <a:rPr lang="el-GR" sz="1600" dirty="0">
                <a:ea typeface="+mn-lt"/>
                <a:cs typeface="+mn-lt"/>
              </a:rPr>
              <a:t> υλοποιείται με </a:t>
            </a:r>
            <a:r>
              <a:rPr lang="el-GR" sz="1600" dirty="0" err="1">
                <a:ea typeface="+mn-lt"/>
                <a:cs typeface="+mn-lt"/>
              </a:rPr>
              <a:t>spin</a:t>
            </a:r>
            <a:r>
              <a:rPr lang="el-GR" sz="1600" dirty="0">
                <a:ea typeface="+mn-lt"/>
                <a:cs typeface="+mn-lt"/>
              </a:rPr>
              <a:t> ηλεκτρονίου σαν </a:t>
            </a:r>
            <a:r>
              <a:rPr lang="el-GR" sz="1600" dirty="0" err="1">
                <a:ea typeface="+mn-lt"/>
                <a:cs typeface="+mn-lt"/>
              </a:rPr>
              <a:t>qubit</a:t>
            </a:r>
            <a:r>
              <a:rPr lang="el-GR" sz="1600" dirty="0">
                <a:ea typeface="+mn-lt"/>
                <a:cs typeface="+mn-lt"/>
              </a:rPr>
              <a:t> εκμεταλλευόμενοι τις χαρακτηριστικές ιδιότητες του μικρόκοσμου, δηλαδή την κβαντική υπέρθεση και τον κβαντικό εναγκαλισμό. Για παράδειγμα, το </a:t>
            </a:r>
            <a:r>
              <a:rPr lang="en-US" sz="1600" dirty="0" err="1">
                <a:ea typeface="+mn-lt"/>
                <a:cs typeface="+mn-lt"/>
              </a:rPr>
              <a:t>qubit</a:t>
            </a:r>
            <a:r>
              <a:rPr lang="en-US" sz="1600" dirty="0">
                <a:ea typeface="+mn-lt"/>
                <a:cs typeface="+mn-lt"/>
              </a:rPr>
              <a:t> t</a:t>
            </a:r>
            <a:r>
              <a:rPr lang="el-GR" sz="1600" dirty="0">
                <a:ea typeface="+mn-lt"/>
                <a:cs typeface="+mn-lt"/>
              </a:rPr>
              <a:t> αντιστρέφεται με την κατάλληλη ακτινοβολία μόνο όταν το </a:t>
            </a:r>
            <a:r>
              <a:rPr lang="en-US" sz="1600" dirty="0" err="1">
                <a:ea typeface="+mn-lt"/>
                <a:cs typeface="+mn-lt"/>
              </a:rPr>
              <a:t>qubit</a:t>
            </a:r>
            <a:r>
              <a:rPr lang="en-US" sz="1600" dirty="0">
                <a:ea typeface="+mn-lt"/>
                <a:cs typeface="+mn-lt"/>
              </a:rPr>
              <a:t> c </a:t>
            </a:r>
            <a:r>
              <a:rPr lang="el-GR" sz="1600" dirty="0">
                <a:ea typeface="+mn-lt"/>
                <a:cs typeface="+mn-lt"/>
              </a:rPr>
              <a:t>είναι επάνω </a:t>
            </a:r>
            <a:r>
              <a:rPr lang="en-US" sz="1600" dirty="0">
                <a:ea typeface="+mn-lt"/>
                <a:cs typeface="+mn-lt"/>
              </a:rPr>
              <a:t>spin</a:t>
            </a:r>
            <a:r>
              <a:rPr lang="el-GR" sz="1600" dirty="0">
                <a:ea typeface="+mn-lt"/>
                <a:cs typeface="+mn-lt"/>
              </a:rPr>
              <a:t>( | 1 &gt;). </a:t>
            </a:r>
            <a:endParaRPr lang="el-GR" sz="1600" dirty="0">
              <a:cs typeface="Calibri"/>
            </a:endParaRPr>
          </a:p>
          <a:p>
            <a:endParaRPr lang="el-GR" sz="1600" dirty="0">
              <a:ea typeface="+mn-lt"/>
              <a:cs typeface="+mn-lt"/>
            </a:endParaRPr>
          </a:p>
          <a:p>
            <a:r>
              <a:rPr lang="el-GR" sz="1600" dirty="0">
                <a:ea typeface="+mn-lt"/>
                <a:cs typeface="+mn-lt"/>
              </a:rPr>
              <a:t>Συνάγεται, επομένως , το συμπέρασμα ότι οι κβαντικές λογικές πύλες είναι αντιστρέψιμες ή συμμετρικές στο χρόνο και ότι η πληροφορία δεν χάνεται, ενώ με κβαντικές πύλες </a:t>
            </a:r>
            <a:r>
              <a:rPr lang="en-US" sz="1600" dirty="0">
                <a:ea typeface="+mn-lt"/>
                <a:cs typeface="+mn-lt"/>
              </a:rPr>
              <a:t>CNOT </a:t>
            </a:r>
            <a:r>
              <a:rPr lang="el-GR" sz="1600" dirty="0">
                <a:ea typeface="+mn-lt"/>
                <a:cs typeface="+mn-lt"/>
              </a:rPr>
              <a:t>μπορεί να γίνει οποιαδήποτε λογική λειτουργία στους κβαντικούς υπολογιστές.</a:t>
            </a:r>
            <a:endParaRPr lang="el-GR" sz="1600" dirty="0">
              <a:cs typeface="Calibri"/>
            </a:endParaRP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11434352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72C9BB5-5E5B-B278-C2FC-97ACE6A0262A}"/>
              </a:ext>
            </a:extLst>
          </p:cNvPr>
          <p:cNvSpPr>
            <a:spLocks noGrp="1"/>
          </p:cNvSpPr>
          <p:nvPr>
            <p:ph idx="1"/>
          </p:nvPr>
        </p:nvSpPr>
        <p:spPr>
          <a:xfrm>
            <a:off x="561975" y="-3175"/>
            <a:ext cx="10515600" cy="4351338"/>
          </a:xfrm>
        </p:spPr>
        <p:txBody>
          <a:bodyPr vert="horz" lIns="91440" tIns="45720" rIns="91440" bIns="45720" rtlCol="0" anchor="t">
            <a:normAutofit/>
          </a:bodyPr>
          <a:lstStyle/>
          <a:p>
            <a:r>
              <a:rPr lang="el-GR">
                <a:cs typeface="Calibri"/>
              </a:rPr>
              <a:t>ΒΙΒΛΙΟΓΡΑΦΙΑ</a:t>
            </a:r>
            <a:endParaRPr lang="el-GR"/>
          </a:p>
        </p:txBody>
      </p:sp>
      <p:sp>
        <p:nvSpPr>
          <p:cNvPr id="4" name="TextBox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52FB08F-92D9-29DA-00E4-438EE48B861B}"/>
              </a:ext>
            </a:extLst>
          </p:cNvPr>
          <p:cNvSpPr txBox="1"/>
          <p:nvPr/>
        </p:nvSpPr>
        <p:spPr>
          <a:xfrm>
            <a:off x="539552" y="836712"/>
            <a:ext cx="8604448"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600" dirty="0">
                <a:ea typeface="+mn-lt"/>
                <a:cs typeface="+mn-lt"/>
              </a:rPr>
              <a:t>[1</a:t>
            </a:r>
            <a:r>
              <a:rPr lang="el-GR" sz="1600" dirty="0">
                <a:ea typeface="+mn-lt"/>
                <a:cs typeface="+mn-lt"/>
                <a:hlinkClick r:id="rId2"/>
              </a:rPr>
              <a:t>]https://www.google.com/search?q=%CE%BA%CE%B2%CE%B1%CE%BD%CF%84%CE%B9%CE%BA%CF%8C%CF%82+%CF%85%CF%80%CE%BF%CE%BB%CE%BF%CE%B3%CE%B9%CF%83%CF%84%CE%B7%CF%82&amp;rlz=1C1GCEA_enGR977GR977&amp;sxsrf=ALiCzsa-u8RYa1VpxM4OYQic4wfVLCIDcQ:1655633840505&amp;source=lnms&amp;tbm=isch&amp;sa=X&amp;ved=2ahUKEwjI2sPXpLn4AhUF2aQKHfJ-BPIQ_AUoAXoECAIQAw&amp;biw=1536&amp;bih=722&amp;dpr=1.25</a:t>
            </a:r>
            <a:r>
              <a:rPr lang="el-GR" sz="1600" dirty="0">
                <a:ea typeface="+mn-lt"/>
                <a:cs typeface="+mn-lt"/>
              </a:rPr>
              <a:t> </a:t>
            </a:r>
            <a:endParaRPr lang="el-GR" sz="1600" dirty="0">
              <a:cs typeface="Calibri"/>
            </a:endParaRPr>
          </a:p>
          <a:p>
            <a:endParaRPr lang="el-GR" sz="1600" dirty="0">
              <a:ea typeface="+mn-lt"/>
              <a:cs typeface="+mn-lt"/>
            </a:endParaRPr>
          </a:p>
          <a:p>
            <a:r>
              <a:rPr lang="en-US" sz="1600" dirty="0">
                <a:ea typeface="+mn-lt"/>
                <a:cs typeface="+mn-lt"/>
              </a:rPr>
              <a:t>[2] </a:t>
            </a:r>
            <a:r>
              <a:rPr lang="en-US" sz="1600" dirty="0">
                <a:ea typeface="+mn-lt"/>
                <a:cs typeface="+mn-lt"/>
                <a:hlinkClick r:id="rId3"/>
              </a:rPr>
              <a:t>file:///C:/Users/dell/Downloads/3_________________________________144.pdf</a:t>
            </a:r>
          </a:p>
          <a:p>
            <a:endParaRPr lang="en-US" sz="1600" dirty="0">
              <a:cs typeface="Calibri"/>
            </a:endParaRPr>
          </a:p>
          <a:p>
            <a:pPr marL="285750" indent="-285750">
              <a:buFont typeface="Arial" pitchFamily="34" charset="0"/>
              <a:buChar char="•"/>
            </a:pPr>
            <a:r>
              <a:rPr lang="en-US" sz="1600" dirty="0" err="1">
                <a:cs typeface="Calibri"/>
              </a:rPr>
              <a:t>Κουνάβης</a:t>
            </a:r>
            <a:r>
              <a:rPr lang="en-US" sz="1600" dirty="0">
                <a:cs typeface="Calibri"/>
              </a:rPr>
              <a:t> </a:t>
            </a:r>
            <a:r>
              <a:rPr lang="en-US" sz="1600" dirty="0" err="1">
                <a:cs typeface="Calibri"/>
              </a:rPr>
              <a:t>γενικό</a:t>
            </a:r>
            <a:r>
              <a:rPr lang="en-US" sz="1600" dirty="0">
                <a:cs typeface="Calibri"/>
              </a:rPr>
              <a:t> : </a:t>
            </a:r>
            <a:r>
              <a:rPr lang="en-US" sz="1600" dirty="0">
                <a:ea typeface="+mn-lt"/>
                <a:cs typeface="+mn-lt"/>
                <a:hlinkClick r:id="rId4"/>
              </a:rPr>
              <a:t>http://www.des.upatras.gr/physics/kounavis/index.html</a:t>
            </a:r>
          </a:p>
          <a:p>
            <a:pPr marL="285750" indent="-285750">
              <a:buFont typeface="Arial" pitchFamily="34" charset="0"/>
              <a:buChar char="•"/>
            </a:pPr>
            <a:endParaRPr lang="en-US" sz="1600" dirty="0">
              <a:cs typeface="Calibri"/>
            </a:endParaRPr>
          </a:p>
          <a:p>
            <a:pPr marL="285750" indent="-285750">
              <a:buFont typeface="Arial" pitchFamily="34" charset="0"/>
              <a:buChar char="•"/>
            </a:pPr>
            <a:r>
              <a:rPr lang="en-US" sz="1600" dirty="0">
                <a:ea typeface="+mn-lt"/>
                <a:cs typeface="+mn-lt"/>
                <a:hlinkClick r:id="rId5"/>
              </a:rPr>
              <a:t>file:///C:/Users/dell/Downloads/%CE%9A%CE%92%CE%91%CE%9D%CE%A4%CE%99%CE%9A%CE%97_%CE%A5%CE%A0%CE%9F%CE%9B%CE%9F%CE%93%CE%99%CE%A3%CE%A4%CE%99%CE%9A%CE%97_144%20(1).pdf</a:t>
            </a:r>
            <a:endParaRPr lang="en-US" sz="1600" dirty="0">
              <a:cs typeface="Calibri"/>
            </a:endParaRP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420772298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AA0CA84-7BCD-3591-6315-99993AE374F3}"/>
              </a:ext>
            </a:extLst>
          </p:cNvPr>
          <p:cNvSpPr>
            <a:spLocks noGrp="1"/>
          </p:cNvSpPr>
          <p:nvPr>
            <p:ph idx="1"/>
          </p:nvPr>
        </p:nvSpPr>
        <p:spPr>
          <a:xfrm>
            <a:off x="838200" y="1089265"/>
            <a:ext cx="8305800" cy="5289067"/>
          </a:xfrm>
        </p:spPr>
        <p:txBody>
          <a:bodyPr/>
          <a:lstStyle/>
          <a:p>
            <a:pPr>
              <a:lnSpc>
                <a:spcPct val="107000"/>
              </a:lnSpc>
              <a:spcAft>
                <a:spcPts val="800"/>
              </a:spcAft>
            </a:pPr>
            <a:r>
              <a:rPr lang="el-GR" sz="1400" dirty="0">
                <a:effectLst/>
                <a:latin typeface="Calibri" panose="020F0502020204030204" pitchFamily="34" charset="0"/>
                <a:ea typeface="Calibri" panose="020F0502020204030204" pitchFamily="34" charset="0"/>
                <a:cs typeface="Times New Roman" panose="02020603050405020304" pitchFamily="18" charset="0"/>
              </a:rPr>
              <a:t> Η  πύλη αυτή δρα με 2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qubits</a:t>
            </a:r>
            <a:r>
              <a:rPr lang="el-GR" sz="14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O </a:t>
            </a:r>
            <a:r>
              <a:rPr lang="el-GR" sz="1400" dirty="0">
                <a:effectLst/>
                <a:latin typeface="Calibri" panose="020F0502020204030204" pitchFamily="34" charset="0"/>
                <a:ea typeface="Calibri" panose="020F0502020204030204" pitchFamily="34" charset="0"/>
                <a:cs typeface="Times New Roman" panose="02020603050405020304" pitchFamily="18" charset="0"/>
              </a:rPr>
              <a:t>τελεστής της πύλης</a:t>
            </a:r>
            <a:r>
              <a:rPr lang="en-US" sz="1400" dirty="0">
                <a:latin typeface="Calibri" panose="020F0502020204030204" pitchFamily="34" charset="0"/>
                <a:ea typeface="Calibri" panose="020F0502020204030204" pitchFamily="34" charset="0"/>
                <a:cs typeface="Times New Roman" panose="02020603050405020304" pitchFamily="18" charset="0"/>
              </a:rPr>
              <a:t> </a:t>
            </a:r>
            <a:r>
              <a:rPr lang="el-GR" sz="1400" dirty="0">
                <a:latin typeface="Calibri" panose="020F0502020204030204" pitchFamily="34" charset="0"/>
                <a:ea typeface="Calibri" panose="020F0502020204030204" pitchFamily="34" charset="0"/>
                <a:cs typeface="Times New Roman" panose="02020603050405020304" pitchFamily="18" charset="0"/>
              </a:rPr>
              <a:t>συμβολίζεται με </a:t>
            </a:r>
            <a:r>
              <a:rPr lang="en-US" sz="1400" dirty="0">
                <a:effectLst/>
                <a:latin typeface="Calibri" panose="020F0502020204030204" pitchFamily="34" charset="0"/>
                <a:ea typeface="Calibri" panose="020F0502020204030204" pitchFamily="34" charset="0"/>
                <a:cs typeface="Times New Roman" panose="02020603050405020304" pitchFamily="18" charset="0"/>
              </a:rPr>
              <a:t>C</a:t>
            </a:r>
            <a:r>
              <a:rPr lang="el-GR" sz="1400" dirty="0">
                <a:effectLst/>
                <a:latin typeface="Calibri" panose="020F0502020204030204" pitchFamily="34" charset="0"/>
                <a:ea typeface="Calibri" panose="020F0502020204030204" pitchFamily="34" charset="0"/>
                <a:cs typeface="Times New Roman" panose="02020603050405020304" pitchFamily="18" charset="0"/>
              </a:rPr>
              <a:t>Φ  το ένα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qubit</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l-GR" sz="1400" dirty="0">
                <a:effectLst/>
                <a:latin typeface="Calibri" panose="020F0502020204030204" pitchFamily="34" charset="0"/>
                <a:ea typeface="Calibri" panose="020F0502020204030204" pitchFamily="34" charset="0"/>
                <a:cs typeface="Times New Roman" panose="02020603050405020304" pitchFamily="18" charset="0"/>
              </a:rPr>
              <a:t>ελέγχου με </a:t>
            </a:r>
            <a:r>
              <a:rPr lang="en-US" sz="1400" dirty="0">
                <a:effectLst/>
                <a:latin typeface="Calibri" panose="020F0502020204030204" pitchFamily="34" charset="0"/>
                <a:ea typeface="Calibri" panose="020F0502020204030204" pitchFamily="34" charset="0"/>
                <a:cs typeface="Times New Roman" panose="02020603050405020304" pitchFamily="18" charset="0"/>
              </a:rPr>
              <a:t>c </a:t>
            </a:r>
            <a:r>
              <a:rPr lang="el-GR" sz="1400" dirty="0">
                <a:effectLst/>
                <a:latin typeface="Calibri" panose="020F0502020204030204" pitchFamily="34" charset="0"/>
                <a:ea typeface="Calibri" panose="020F0502020204030204" pitchFamily="34" charset="0"/>
                <a:cs typeface="Times New Roman" panose="02020603050405020304" pitchFamily="18" charset="0"/>
              </a:rPr>
              <a:t>και το άλλο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qubit</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l-GR" sz="1400" dirty="0">
                <a:effectLst/>
                <a:latin typeface="Calibri" panose="020F0502020204030204" pitchFamily="34" charset="0"/>
                <a:ea typeface="Calibri" panose="020F0502020204030204" pitchFamily="34" charset="0"/>
                <a:cs typeface="Times New Roman" panose="02020603050405020304" pitchFamily="18" charset="0"/>
              </a:rPr>
              <a:t>στόχος με </a:t>
            </a:r>
            <a:r>
              <a:rPr lang="en-US" sz="1400" dirty="0">
                <a:effectLst/>
                <a:latin typeface="Calibri" panose="020F0502020204030204" pitchFamily="34" charset="0"/>
                <a:ea typeface="Calibri" panose="020F0502020204030204" pitchFamily="34" charset="0"/>
                <a:cs typeface="Times New Roman" panose="02020603050405020304" pitchFamily="18" charset="0"/>
              </a:rPr>
              <a:t>t</a:t>
            </a:r>
            <a:r>
              <a:rPr lang="el-GR" sz="1400" dirty="0">
                <a:effectLst/>
                <a:latin typeface="Calibri" panose="020F0502020204030204" pitchFamily="34" charset="0"/>
                <a:ea typeface="Calibri" panose="020F0502020204030204" pitchFamily="34" charset="0"/>
                <a:cs typeface="Times New Roman" panose="02020603050405020304" pitchFamily="18" charset="0"/>
              </a:rPr>
              <a:t> και οι καταστάσεις των 2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qubits</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l-GR" sz="1400" dirty="0">
                <a:effectLst/>
                <a:latin typeface="Calibri" panose="020F0502020204030204" pitchFamily="34" charset="0"/>
                <a:ea typeface="Calibri" panose="020F0502020204030204" pitchFamily="34" charset="0"/>
                <a:cs typeface="Times New Roman" panose="02020603050405020304" pitchFamily="18" charset="0"/>
              </a:rPr>
              <a:t>πριν την δράση της πύλης συμβολίζονται με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ci</a:t>
            </a:r>
            <a:r>
              <a:rPr lang="el-GR" sz="1400" dirty="0">
                <a:effectLst/>
                <a:latin typeface="Calibri" panose="020F0502020204030204" pitchFamily="34" charset="0"/>
                <a:ea typeface="Calibri" panose="020F0502020204030204" pitchFamily="34" charset="0"/>
                <a:cs typeface="Times New Roman" panose="02020603050405020304" pitchFamily="18" charset="0"/>
              </a:rPr>
              <a:t>&gt; και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ti</a:t>
            </a:r>
            <a:r>
              <a:rPr lang="el-GR" sz="1400" dirty="0">
                <a:effectLst/>
                <a:latin typeface="Calibri" panose="020F0502020204030204" pitchFamily="34" charset="0"/>
                <a:ea typeface="Calibri" panose="020F0502020204030204" pitchFamily="34" charset="0"/>
                <a:cs typeface="Times New Roman" panose="02020603050405020304" pitchFamily="18" charset="0"/>
              </a:rPr>
              <a:t>&gt; και μετά την δράση της πύλης με |</a:t>
            </a:r>
            <a:r>
              <a:rPr lang="en-US" sz="1400" dirty="0">
                <a:effectLst/>
                <a:latin typeface="Calibri" panose="020F0502020204030204" pitchFamily="34" charset="0"/>
                <a:ea typeface="Calibri" panose="020F0502020204030204" pitchFamily="34" charset="0"/>
                <a:cs typeface="Times New Roman" panose="02020603050405020304" pitchFamily="18" charset="0"/>
              </a:rPr>
              <a:t>co</a:t>
            </a:r>
            <a:r>
              <a:rPr lang="el-GR" sz="1400" dirty="0">
                <a:effectLst/>
                <a:latin typeface="Calibri" panose="020F0502020204030204" pitchFamily="34" charset="0"/>
                <a:ea typeface="Calibri" panose="020F0502020204030204" pitchFamily="34" charset="0"/>
                <a:cs typeface="Times New Roman" panose="02020603050405020304" pitchFamily="18" charset="0"/>
              </a:rPr>
              <a:t>&gt; και |</a:t>
            </a:r>
            <a:r>
              <a:rPr lang="en-US" sz="1400" dirty="0">
                <a:effectLst/>
                <a:latin typeface="Calibri" panose="020F0502020204030204" pitchFamily="34" charset="0"/>
                <a:ea typeface="Calibri" panose="020F0502020204030204" pitchFamily="34" charset="0"/>
                <a:cs typeface="Times New Roman" panose="02020603050405020304" pitchFamily="18" charset="0"/>
              </a:rPr>
              <a:t>to</a:t>
            </a:r>
            <a:r>
              <a:rPr lang="el-GR" sz="1400" dirty="0">
                <a:effectLst/>
                <a:latin typeface="Calibri" panose="020F0502020204030204" pitchFamily="34" charset="0"/>
                <a:ea typeface="Calibri" panose="020F0502020204030204" pitchFamily="34" charset="0"/>
                <a:cs typeface="Times New Roman" panose="02020603050405020304" pitchFamily="18" charset="0"/>
              </a:rPr>
              <a:t>&gt;  . Πρακτικά η </a:t>
            </a:r>
            <a:r>
              <a:rPr lang="en-US" sz="1400" dirty="0">
                <a:effectLst/>
                <a:latin typeface="Calibri" panose="020F0502020204030204" pitchFamily="34" charset="0"/>
                <a:ea typeface="Calibri" panose="020F0502020204030204" pitchFamily="34" charset="0"/>
                <a:cs typeface="Times New Roman" panose="02020603050405020304" pitchFamily="18" charset="0"/>
              </a:rPr>
              <a:t>C</a:t>
            </a:r>
            <a:r>
              <a:rPr lang="el-GR" sz="1400" dirty="0">
                <a:effectLst/>
                <a:latin typeface="Calibri" panose="020F0502020204030204" pitchFamily="34" charset="0"/>
                <a:ea typeface="Calibri" panose="020F0502020204030204" pitchFamily="34" charset="0"/>
                <a:cs typeface="Times New Roman" panose="02020603050405020304" pitchFamily="18" charset="0"/>
              </a:rPr>
              <a:t>Φ πολλαπλασιάζει το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qubit</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l-GR" sz="1400" dirty="0">
                <a:effectLst/>
                <a:latin typeface="Calibri" panose="020F0502020204030204" pitchFamily="34" charset="0"/>
                <a:ea typeface="Calibri" panose="020F0502020204030204" pitchFamily="34" charset="0"/>
                <a:cs typeface="Times New Roman" panose="02020603050405020304" pitchFamily="18" charset="0"/>
              </a:rPr>
              <a:t>στόχου με τον παράγοντα φάσης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e</a:t>
            </a:r>
            <a:r>
              <a:rPr lang="en-US" sz="1400" baseline="30000" dirty="0" err="1">
                <a:effectLst/>
                <a:latin typeface="Calibri" panose="020F0502020204030204" pitchFamily="34" charset="0"/>
                <a:ea typeface="Calibri" panose="020F0502020204030204" pitchFamily="34" charset="0"/>
                <a:cs typeface="Times New Roman" panose="02020603050405020304" pitchFamily="18" charset="0"/>
              </a:rPr>
              <a:t>i</a:t>
            </a:r>
            <a:r>
              <a:rPr lang="el-GR" sz="1400" baseline="30000" dirty="0">
                <a:effectLst/>
                <a:latin typeface="Calibri" panose="020F0502020204030204" pitchFamily="34" charset="0"/>
                <a:ea typeface="Calibri" panose="020F0502020204030204" pitchFamily="34" charset="0"/>
                <a:cs typeface="Times New Roman" panose="02020603050405020304" pitchFamily="18" charset="0"/>
              </a:rPr>
              <a:t>φ</a:t>
            </a:r>
            <a:r>
              <a:rPr lang="el-GR" sz="1400" dirty="0">
                <a:effectLst/>
                <a:latin typeface="Calibri" panose="020F0502020204030204" pitchFamily="34" charset="0"/>
                <a:ea typeface="Calibri" panose="020F0502020204030204" pitchFamily="34" charset="0"/>
                <a:cs typeface="Times New Roman" panose="02020603050405020304" pitchFamily="18" charset="0"/>
              </a:rPr>
              <a:t> μόνο όμως όταν η κατάσταση και των 2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qubit</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l-GR" sz="1400" dirty="0">
                <a:effectLst/>
                <a:latin typeface="Calibri" panose="020F0502020204030204" pitchFamily="34" charset="0"/>
                <a:ea typeface="Calibri" panose="020F0502020204030204" pitchFamily="34" charset="0"/>
                <a:cs typeface="Times New Roman" panose="02020603050405020304" pitchFamily="18" charset="0"/>
              </a:rPr>
              <a:t>είναι |1&gt; στις άλλες περιπτώσεις δεν μεταβάλλονται οι καταστάσεις τους . Ένας τύπος για την περιγραφή της δράσης της πύλης είναι : CΦ|</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t</a:t>
            </a:r>
            <a:r>
              <a:rPr lang="en-US" sz="1400" baseline="-250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c</a:t>
            </a:r>
            <a:r>
              <a:rPr lang="en-US" sz="1400" baseline="-25000" dirty="0" err="1">
                <a:effectLst/>
                <a:latin typeface="Calibri" panose="020F0502020204030204" pitchFamily="34" charset="0"/>
                <a:ea typeface="Calibri" panose="020F0502020204030204" pitchFamily="34" charset="0"/>
                <a:cs typeface="Times New Roman" panose="02020603050405020304" pitchFamily="18" charset="0"/>
              </a:rPr>
              <a:t>i</a:t>
            </a: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l-GR" sz="1400" dirty="0">
                <a:effectLst/>
                <a:latin typeface="Calibri" panose="020F0502020204030204" pitchFamily="34" charset="0"/>
                <a:ea typeface="Calibri" panose="020F0502020204030204" pitchFamily="34" charset="0"/>
                <a:cs typeface="Times New Roman" panose="02020603050405020304" pitchFamily="18" charset="0"/>
              </a:rPr>
              <a:t>&gt; =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t</a:t>
            </a:r>
            <a:r>
              <a:rPr lang="en-US" sz="1400" baseline="-25000" dirty="0" err="1">
                <a:effectLst/>
                <a:latin typeface="Calibri" panose="020F0502020204030204" pitchFamily="34" charset="0"/>
                <a:ea typeface="Calibri" panose="020F0502020204030204" pitchFamily="34" charset="0"/>
                <a:cs typeface="Times New Roman" panose="02020603050405020304" pitchFamily="18" charset="0"/>
              </a:rPr>
              <a:t>o</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c</a:t>
            </a:r>
            <a:r>
              <a:rPr lang="en-US" sz="1400" baseline="-25000" dirty="0" err="1">
                <a:effectLst/>
                <a:latin typeface="Calibri" panose="020F0502020204030204" pitchFamily="34" charset="0"/>
                <a:ea typeface="Calibri" panose="020F0502020204030204" pitchFamily="34" charset="0"/>
                <a:cs typeface="Times New Roman" panose="02020603050405020304" pitchFamily="18" charset="0"/>
              </a:rPr>
              <a:t>o</a:t>
            </a:r>
            <a:r>
              <a:rPr lang="el-GR" sz="1400" dirty="0">
                <a:effectLst/>
                <a:latin typeface="Calibri" panose="020F0502020204030204" pitchFamily="34" charset="0"/>
                <a:ea typeface="Calibri" panose="020F0502020204030204" pitchFamily="34" charset="0"/>
                <a:cs typeface="Times New Roman" panose="02020603050405020304" pitchFamily="18" charset="0"/>
              </a:rPr>
              <a:t>&gt;  και ο πίνακας που τη περιγράφει :</a:t>
            </a:r>
          </a:p>
          <a:p>
            <a:pPr>
              <a:lnSpc>
                <a:spcPct val="107000"/>
              </a:lnSpc>
              <a:spcAft>
                <a:spcPts val="800"/>
              </a:spcAft>
            </a:pPr>
            <a:endParaRPr lang="el-GR" sz="1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l-GR" dirty="0"/>
          </a:p>
        </p:txBody>
      </p:sp>
      <p:pic>
        <p:nvPicPr>
          <p:cNvPr id="4" name="Εικόνα 3" descr="Εικόνα που περιέχει πίνακας&#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3FE8551-3264-4A13-15BD-4637181833B2}"/>
              </a:ext>
            </a:extLst>
          </p:cNvPr>
          <p:cNvPicPr>
            <a:picLocks noChangeAspect="1"/>
          </p:cNvPicPr>
          <p:nvPr/>
        </p:nvPicPr>
        <p:blipFill>
          <a:blip r:embed="rId2"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a:xfrm>
            <a:off x="298586" y="2461913"/>
            <a:ext cx="4008370" cy="2543773"/>
          </a:xfrm>
          <a:prstGeom prst="rect">
            <a:avLst/>
          </a:prstGeom>
        </p:spPr>
      </p:pic>
      <p:pic>
        <p:nvPicPr>
          <p:cNvPr id="5" name="Εικόνα 4" descr="Εικόνα που περιέχει κείμενο&#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15DF22B-8AF5-39EF-0252-DFC3F9D3AB7C}"/>
              </a:ext>
            </a:extLst>
          </p:cNvPr>
          <p:cNvPicPr>
            <a:picLocks noChangeAspect="1"/>
          </p:cNvPicPr>
          <p:nvPr/>
        </p:nvPicPr>
        <p:blipFill>
          <a:blip r:embed="rId3"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a:xfrm>
            <a:off x="4716016" y="3212976"/>
            <a:ext cx="3770414" cy="1474480"/>
          </a:xfrm>
          <a:prstGeom prst="rect">
            <a:avLst/>
          </a:prstGeom>
        </p:spPr>
      </p:pic>
      <p:pic>
        <p:nvPicPr>
          <p:cNvPr id="6" name="Εικόνα 5" descr="Εικόνα που περιέχει κείμενο, ρολόι&#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D2791246-5B19-9E6E-5F11-A50B4DC849B4}"/>
              </a:ext>
            </a:extLst>
          </p:cNvPr>
          <p:cNvPicPr>
            <a:picLocks noChangeAspect="1"/>
          </p:cNvPicPr>
          <p:nvPr/>
        </p:nvPicPr>
        <p:blipFill>
          <a:blip r:embed="rId4"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a:xfrm>
            <a:off x="2627785" y="4797152"/>
            <a:ext cx="3672408" cy="2060848"/>
          </a:xfrm>
          <a:prstGeom prst="rect">
            <a:avLst/>
          </a:prstGeom>
        </p:spPr>
      </p:pic>
      <p:sp>
        <p:nvSpPr>
          <p:cNvPr id="7"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D30EC3E-62C2-0F70-D104-6F823C10C5CC}"/>
              </a:ext>
            </a:extLst>
          </p:cNvPr>
          <p:cNvSpPr txBox="1"/>
          <p:nvPr/>
        </p:nvSpPr>
        <p:spPr>
          <a:xfrm>
            <a:off x="1908313" y="177912"/>
            <a:ext cx="7235687" cy="1113183"/>
          </a:xfrm>
          <a:prstGeom prst="rect">
            <a:avLst/>
          </a:prstGeom>
        </p:spPr>
        <p:txBody>
          <a:bodyPr vert="horz" lIns="91440" tIns="45720" rIns="91440" bIns="45720" rtlCol="0" anchor="ctr">
            <a:normAutofit fontScale="92500" lnSpcReduction="10000"/>
          </a:bodyPr>
          <a:lstStyle>
            <a:defPPr>
              <a:defRPr lang="el-GR"/>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2800" dirty="0">
                <a:latin typeface="Calibri" panose="020F0502020204030204" pitchFamily="34" charset="0"/>
                <a:ea typeface="Calibri" panose="020F0502020204030204" pitchFamily="34" charset="0"/>
                <a:cs typeface="Times New Roman" panose="02020603050405020304" pitchFamily="18" charset="0"/>
              </a:rPr>
              <a:t>ΚΒΑΝΤΙΚΗ ΠΥΛΗ ΕΛΕΓΧΟΜΕΝΗΣ ΜΕΤΑΤΟΠΙΣΗΣ ΦΑΣΗΣ </a:t>
            </a:r>
            <a:br>
              <a:rPr lang="el-GR" sz="2800" dirty="0">
                <a:latin typeface="Calibri" panose="020F0502020204030204" pitchFamily="34" charset="0"/>
                <a:ea typeface="Calibri" panose="020F0502020204030204" pitchFamily="34" charset="0"/>
                <a:cs typeface="Times New Roman" panose="02020603050405020304" pitchFamily="18" charset="0"/>
              </a:rPr>
            </a:br>
            <a:endParaRPr lang="el-GR" sz="2800" dirty="0"/>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92760918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0C8E16B-B487-EF70-54DB-9BCF76A605EB}"/>
              </a:ext>
            </a:extLst>
          </p:cNvPr>
          <p:cNvSpPr>
            <a:spLocks noGrp="1"/>
          </p:cNvSpPr>
          <p:nvPr>
            <p:ph idx="1"/>
          </p:nvPr>
        </p:nvSpPr>
        <p:spPr>
          <a:xfrm>
            <a:off x="0" y="620688"/>
            <a:ext cx="9144000" cy="5819154"/>
          </a:xfrm>
        </p:spPr>
        <p:txBody>
          <a:bodyPr/>
          <a:lstStyle/>
          <a:p>
            <a:r>
              <a:rPr lang="el-GR" sz="1800" dirty="0">
                <a:effectLst/>
                <a:latin typeface="Calibri" panose="020F0502020204030204" pitchFamily="34" charset="0"/>
                <a:ea typeface="Calibri" panose="020F0502020204030204" pitchFamily="34" charset="0"/>
                <a:cs typeface="Times New Roman" panose="02020603050405020304" pitchFamily="18" charset="0"/>
              </a:rPr>
              <a:t>Αυτή η πύλη συμβολίζεται με </a:t>
            </a:r>
            <a:r>
              <a:rPr lang="en-US" sz="1800" dirty="0">
                <a:effectLst/>
                <a:latin typeface="Calibri" panose="020F0502020204030204" pitchFamily="34" charset="0"/>
                <a:ea typeface="Calibri" panose="020F0502020204030204" pitchFamily="34" charset="0"/>
                <a:cs typeface="Times New Roman" panose="02020603050405020304" pitchFamily="18" charset="0"/>
              </a:rPr>
              <a:t>CCNOT </a:t>
            </a:r>
            <a:r>
              <a:rPr lang="el-GR" sz="1800" dirty="0">
                <a:effectLst/>
                <a:latin typeface="Calibri" panose="020F0502020204030204" pitchFamily="34" charset="0"/>
                <a:ea typeface="Calibri" panose="020F0502020204030204" pitchFamily="34" charset="0"/>
                <a:cs typeface="Times New Roman" panose="02020603050405020304" pitchFamily="18" charset="0"/>
              </a:rPr>
              <a:t>και δρα σε 3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dirty="0">
                <a:effectLst/>
                <a:latin typeface="Calibri" panose="020F0502020204030204" pitchFamily="34" charset="0"/>
                <a:ea typeface="Calibri" panose="020F0502020204030204" pitchFamily="34" charset="0"/>
                <a:cs typeface="Times New Roman" panose="02020603050405020304" pitchFamily="18" charset="0"/>
              </a:rPr>
              <a:t>των οποίων οι καταστάσεις συμβολίζονται με |</a:t>
            </a:r>
            <a:r>
              <a:rPr lang="en-US" sz="1800" dirty="0">
                <a:effectLst/>
                <a:latin typeface="Calibri" panose="020F0502020204030204" pitchFamily="34" charset="0"/>
                <a:ea typeface="Calibri" panose="020F0502020204030204" pitchFamily="34" charset="0"/>
                <a:cs typeface="Times New Roman" panose="02020603050405020304" pitchFamily="18" charset="0"/>
              </a:rPr>
              <a:t>c</a:t>
            </a:r>
            <a:r>
              <a:rPr lang="el-GR" sz="1800" baseline="-25000" dirty="0">
                <a:effectLst/>
                <a:latin typeface="Calibri" panose="020F0502020204030204" pitchFamily="34" charset="0"/>
                <a:ea typeface="Calibri" panose="020F0502020204030204" pitchFamily="34" charset="0"/>
                <a:cs typeface="Times New Roman" panose="02020603050405020304" pitchFamily="18" charset="0"/>
              </a:rPr>
              <a:t>1</a:t>
            </a:r>
            <a:r>
              <a:rPr lang="en-US" sz="1800" baseline="-25000" dirty="0" err="1">
                <a:effectLst/>
                <a:latin typeface="Calibri" panose="020F0502020204030204" pitchFamily="34" charset="0"/>
                <a:ea typeface="Calibri" panose="020F0502020204030204" pitchFamily="34" charset="0"/>
                <a:cs typeface="Times New Roman" panose="02020603050405020304" pitchFamily="18" charset="0"/>
              </a:rPr>
              <a:t>i</a:t>
            </a:r>
            <a:r>
              <a:rPr lang="el-GR" sz="1800" dirty="0">
                <a:effectLst/>
                <a:latin typeface="Calibri" panose="020F0502020204030204" pitchFamily="34" charset="0"/>
                <a:ea typeface="Calibri" panose="020F0502020204030204" pitchFamily="34" charset="0"/>
                <a:cs typeface="Times New Roman" panose="02020603050405020304" pitchFamily="18" charset="0"/>
              </a:rPr>
              <a:t>&gt; , |</a:t>
            </a:r>
            <a:r>
              <a:rPr lang="en-US" sz="1800" dirty="0">
                <a:effectLst/>
                <a:latin typeface="Calibri" panose="020F0502020204030204" pitchFamily="34" charset="0"/>
                <a:ea typeface="Calibri" panose="020F0502020204030204" pitchFamily="34" charset="0"/>
                <a:cs typeface="Times New Roman" panose="02020603050405020304" pitchFamily="18" charset="0"/>
              </a:rPr>
              <a:t>c</a:t>
            </a:r>
            <a:r>
              <a:rPr lang="el-GR" sz="1800"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US" sz="1800" baseline="-25000" dirty="0" err="1">
                <a:effectLst/>
                <a:latin typeface="Calibri" panose="020F0502020204030204" pitchFamily="34" charset="0"/>
                <a:ea typeface="Calibri" panose="020F0502020204030204" pitchFamily="34" charset="0"/>
                <a:cs typeface="Times New Roman" panose="02020603050405020304" pitchFamily="18" charset="0"/>
              </a:rPr>
              <a:t>i</a:t>
            </a:r>
            <a:r>
              <a:rPr lang="el-GR" sz="1800" dirty="0">
                <a:effectLst/>
                <a:latin typeface="Calibri" panose="020F0502020204030204" pitchFamily="34" charset="0"/>
                <a:ea typeface="Calibri" panose="020F0502020204030204" pitchFamily="34" charset="0"/>
                <a:cs typeface="Times New Roman" panose="02020603050405020304" pitchFamily="18" charset="0"/>
              </a:rPr>
              <a:t>&gt; και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l-GR" sz="1800" baseline="-25000" dirty="0">
                <a:effectLst/>
                <a:latin typeface="Calibri" panose="020F0502020204030204" pitchFamily="34" charset="0"/>
                <a:ea typeface="Calibri" panose="020F0502020204030204" pitchFamily="34" charset="0"/>
                <a:cs typeface="Times New Roman" panose="02020603050405020304" pitchFamily="18" charset="0"/>
              </a:rPr>
              <a:t>ι</a:t>
            </a:r>
            <a:r>
              <a:rPr lang="el-GR" sz="1800" dirty="0">
                <a:effectLst/>
                <a:latin typeface="Calibri" panose="020F0502020204030204" pitchFamily="34" charset="0"/>
                <a:ea typeface="Calibri" panose="020F0502020204030204" pitchFamily="34" charset="0"/>
                <a:cs typeface="Times New Roman" panose="02020603050405020304" pitchFamily="18" charset="0"/>
              </a:rPr>
              <a:t>&gt; το οποίο είναι το </a:t>
            </a:r>
            <a:r>
              <a:rPr lang="en-US" sz="1800" dirty="0">
                <a:effectLst/>
                <a:latin typeface="Calibri" panose="020F0502020204030204" pitchFamily="34" charset="0"/>
                <a:ea typeface="Calibri" panose="020F0502020204030204" pitchFamily="34" charset="0"/>
                <a:cs typeface="Times New Roman" panose="02020603050405020304" pitchFamily="18" charset="0"/>
              </a:rPr>
              <a:t>bit </a:t>
            </a:r>
            <a:r>
              <a:rPr lang="el-GR" sz="1800" dirty="0">
                <a:effectLst/>
                <a:latin typeface="Calibri" panose="020F0502020204030204" pitchFamily="34" charset="0"/>
                <a:ea typeface="Calibri" panose="020F0502020204030204" pitchFamily="34" charset="0"/>
                <a:cs typeface="Times New Roman" panose="02020603050405020304" pitchFamily="18" charset="0"/>
              </a:rPr>
              <a:t>στόχου πριν τη δράση της πύλης και μετά τη δράση της πύλης συμβολίζονται με |</a:t>
            </a:r>
            <a:r>
              <a:rPr lang="en-US" sz="1800" dirty="0">
                <a:effectLst/>
                <a:latin typeface="Calibri" panose="020F0502020204030204" pitchFamily="34" charset="0"/>
                <a:ea typeface="Calibri" panose="020F0502020204030204" pitchFamily="34" charset="0"/>
                <a:cs typeface="Times New Roman" panose="02020603050405020304" pitchFamily="18" charset="0"/>
              </a:rPr>
              <a:t>c</a:t>
            </a:r>
            <a:r>
              <a:rPr lang="el-GR" sz="1800" baseline="-25000" dirty="0">
                <a:effectLst/>
                <a:latin typeface="Calibri" panose="020F0502020204030204" pitchFamily="34" charset="0"/>
                <a:ea typeface="Calibri" panose="020F0502020204030204" pitchFamily="34" charset="0"/>
                <a:cs typeface="Times New Roman" panose="02020603050405020304" pitchFamily="18" charset="0"/>
              </a:rPr>
              <a:t>10</a:t>
            </a:r>
            <a:r>
              <a:rPr lang="el-GR" sz="1800" dirty="0">
                <a:effectLst/>
                <a:latin typeface="Calibri" panose="020F0502020204030204" pitchFamily="34" charset="0"/>
                <a:ea typeface="Calibri" panose="020F0502020204030204" pitchFamily="34" charset="0"/>
                <a:cs typeface="Times New Roman" panose="02020603050405020304" pitchFamily="18" charset="0"/>
              </a:rPr>
              <a:t>&gt; , |</a:t>
            </a:r>
            <a:r>
              <a:rPr lang="en-US" sz="1800" dirty="0">
                <a:effectLst/>
                <a:latin typeface="Calibri" panose="020F0502020204030204" pitchFamily="34" charset="0"/>
                <a:ea typeface="Calibri" panose="020F0502020204030204" pitchFamily="34" charset="0"/>
                <a:cs typeface="Times New Roman" panose="02020603050405020304" pitchFamily="18" charset="0"/>
              </a:rPr>
              <a:t>c</a:t>
            </a:r>
            <a:r>
              <a:rPr lang="el-GR" sz="1800" baseline="-25000" dirty="0">
                <a:effectLst/>
                <a:latin typeface="Calibri" panose="020F0502020204030204" pitchFamily="34" charset="0"/>
                <a:ea typeface="Calibri" panose="020F0502020204030204" pitchFamily="34" charset="0"/>
                <a:cs typeface="Times New Roman" panose="02020603050405020304" pitchFamily="18" charset="0"/>
              </a:rPr>
              <a:t>20</a:t>
            </a:r>
            <a:r>
              <a:rPr lang="el-GR" sz="1800" dirty="0">
                <a:effectLst/>
                <a:latin typeface="Calibri" panose="020F0502020204030204" pitchFamily="34" charset="0"/>
                <a:ea typeface="Calibri" panose="020F0502020204030204" pitchFamily="34" charset="0"/>
                <a:cs typeface="Times New Roman" panose="02020603050405020304" pitchFamily="18" charset="0"/>
              </a:rPr>
              <a:t>&gt; και |</a:t>
            </a:r>
            <a:r>
              <a:rPr lang="en-US" sz="1800" dirty="0">
                <a:effectLst/>
                <a:latin typeface="Calibri" panose="020F0502020204030204" pitchFamily="34" charset="0"/>
                <a:ea typeface="Calibri" panose="020F0502020204030204" pitchFamily="34" charset="0"/>
                <a:cs typeface="Times New Roman" panose="02020603050405020304" pitchFamily="18" charset="0"/>
              </a:rPr>
              <a:t>t</a:t>
            </a:r>
            <a:r>
              <a:rPr lang="el-GR" sz="1800" baseline="-25000" dirty="0">
                <a:effectLst/>
                <a:latin typeface="Calibri" panose="020F0502020204030204" pitchFamily="34" charset="0"/>
                <a:ea typeface="Calibri" panose="020F0502020204030204" pitchFamily="34" charset="0"/>
                <a:cs typeface="Times New Roman" panose="02020603050405020304" pitchFamily="18" charset="0"/>
              </a:rPr>
              <a:t>0</a:t>
            </a:r>
            <a:r>
              <a:rPr lang="el-GR" sz="1800" dirty="0">
                <a:effectLst/>
                <a:latin typeface="Calibri" panose="020F0502020204030204" pitchFamily="34" charset="0"/>
                <a:ea typeface="Calibri" panose="020F0502020204030204" pitchFamily="34" charset="0"/>
                <a:cs typeface="Times New Roman" panose="02020603050405020304" pitchFamily="18" charset="0"/>
              </a:rPr>
              <a:t>&gt; .</a:t>
            </a:r>
          </a:p>
          <a:p>
            <a:r>
              <a:rPr lang="el-GR" sz="1800" dirty="0">
                <a:effectLst/>
                <a:latin typeface="Calibri" panose="020F0502020204030204" pitchFamily="34" charset="0"/>
                <a:ea typeface="Calibri" panose="020F0502020204030204" pitchFamily="34" charset="0"/>
                <a:cs typeface="Times New Roman" panose="02020603050405020304" pitchFamily="18" charset="0"/>
              </a:rPr>
              <a:t> Όταν τα 2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dirty="0">
                <a:effectLst/>
                <a:latin typeface="Calibri" panose="020F0502020204030204" pitchFamily="34" charset="0"/>
                <a:ea typeface="Calibri" panose="020F0502020204030204" pitchFamily="34" charset="0"/>
                <a:cs typeface="Times New Roman" panose="02020603050405020304" pitchFamily="18" charset="0"/>
              </a:rPr>
              <a:t>ελέγχου βρίσκονται στη κατάσταση |1&gt; η </a:t>
            </a:r>
            <a:r>
              <a:rPr lang="en-US" sz="1800" dirty="0">
                <a:effectLst/>
                <a:latin typeface="Calibri" panose="020F0502020204030204" pitchFamily="34" charset="0"/>
                <a:ea typeface="Calibri" panose="020F0502020204030204" pitchFamily="34" charset="0"/>
                <a:cs typeface="Times New Roman" panose="02020603050405020304" pitchFamily="18" charset="0"/>
              </a:rPr>
              <a:t>CCNOT </a:t>
            </a:r>
            <a:r>
              <a:rPr lang="el-GR" sz="1800" dirty="0">
                <a:effectLst/>
                <a:latin typeface="Calibri" panose="020F0502020204030204" pitchFamily="34" charset="0"/>
                <a:ea typeface="Calibri" panose="020F0502020204030204" pitchFamily="34" charset="0"/>
                <a:cs typeface="Times New Roman" panose="02020603050405020304" pitchFamily="18" charset="0"/>
              </a:rPr>
              <a:t>αλλάζει την κατάσταση του </a:t>
            </a:r>
            <a:r>
              <a:rPr lang="en-US" sz="1800" dirty="0">
                <a:effectLst/>
                <a:latin typeface="Calibri" panose="020F0502020204030204" pitchFamily="34" charset="0"/>
                <a:ea typeface="Calibri" panose="020F0502020204030204" pitchFamily="34" charset="0"/>
                <a:cs typeface="Times New Roman" panose="02020603050405020304" pitchFamily="18" charset="0"/>
              </a:rPr>
              <a:t>bit </a:t>
            </a:r>
            <a:r>
              <a:rPr lang="el-GR" sz="1800" dirty="0">
                <a:effectLst/>
                <a:latin typeface="Calibri" panose="020F0502020204030204" pitchFamily="34" charset="0"/>
                <a:ea typeface="Calibri" panose="020F0502020204030204" pitchFamily="34" charset="0"/>
                <a:cs typeface="Times New Roman" panose="02020603050405020304" pitchFamily="18" charset="0"/>
              </a:rPr>
              <a:t>στόχου . Από αυτά συμπεραίνουμε ότι τα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dirty="0">
                <a:effectLst/>
                <a:latin typeface="Calibri" panose="020F0502020204030204" pitchFamily="34" charset="0"/>
                <a:ea typeface="Calibri" panose="020F0502020204030204" pitchFamily="34" charset="0"/>
                <a:cs typeface="Times New Roman" panose="02020603050405020304" pitchFamily="18" charset="0"/>
              </a:rPr>
              <a:t>ελέγχου παραμένουν πάντα τα ίδια μετά τη δράση της πύλης και το ίδιο ισχύει και για το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dirty="0">
                <a:effectLst/>
                <a:latin typeface="Calibri" panose="020F0502020204030204" pitchFamily="34" charset="0"/>
                <a:ea typeface="Calibri" panose="020F0502020204030204" pitchFamily="34" charset="0"/>
                <a:cs typeface="Times New Roman" panose="02020603050405020304" pitchFamily="18" charset="0"/>
              </a:rPr>
              <a:t>στόχου εκτός από τη περίπτωση που η κατάσταση των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qubits</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l-GR" sz="1800" dirty="0">
                <a:effectLst/>
                <a:latin typeface="Calibri" panose="020F0502020204030204" pitchFamily="34" charset="0"/>
                <a:ea typeface="Calibri" panose="020F0502020204030204" pitchFamily="34" charset="0"/>
                <a:cs typeface="Times New Roman" panose="02020603050405020304" pitchFamily="18" charset="0"/>
              </a:rPr>
              <a:t>ελέγχου πριν τη δράση της πύλης είναι |11&gt; .  Ο γενικός τύπος της πύλης είναι :</a:t>
            </a:r>
          </a:p>
          <a:p>
            <a:pPr marL="0" indent="0">
              <a:buNone/>
            </a:pPr>
            <a:endParaRPr lang="el-GR" dirty="0"/>
          </a:p>
        </p:txBody>
      </p:sp>
      <p:pic>
        <p:nvPicPr>
          <p:cNvPr id="4" name="Εικόνα 3" descr="Εικόνα που περιέχει ρολόι&#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7FF9583-7240-1591-3ED1-F1C962A20DB5}"/>
              </a:ext>
            </a:extLst>
          </p:cNvPr>
          <p:cNvPicPr>
            <a:picLocks noChangeAspect="1"/>
          </p:cNvPicPr>
          <p:nvPr/>
        </p:nvPicPr>
        <p:blipFill>
          <a:blip r:embed="rId2"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a:xfrm>
            <a:off x="2339752" y="2564904"/>
            <a:ext cx="2954487" cy="432048"/>
          </a:xfrm>
          <a:prstGeom prst="rect">
            <a:avLst/>
          </a:prstGeom>
        </p:spPr>
      </p:pic>
      <p:sp>
        <p:nvSpPr>
          <p:cNvPr id="6" name="TextBox 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ED2CBDFE-790D-E83D-A6AC-885531BBD957}"/>
              </a:ext>
            </a:extLst>
          </p:cNvPr>
          <p:cNvSpPr txBox="1"/>
          <p:nvPr/>
        </p:nvSpPr>
        <p:spPr>
          <a:xfrm>
            <a:off x="968581" y="3179001"/>
            <a:ext cx="6098344" cy="375552"/>
          </a:xfrm>
          <a:prstGeom prst="rect">
            <a:avLst/>
          </a:prstGeom>
          <a:noFill/>
        </p:spPr>
        <p:txBody>
          <a:bodyPr wrap="square">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7000"/>
              </a:lnSpc>
              <a:spcAft>
                <a:spcPts val="800"/>
              </a:spcAft>
              <a:tabLst>
                <a:tab pos="1790700" algn="l"/>
              </a:tabLst>
            </a:pPr>
            <a:r>
              <a:rPr lang="el-GR" sz="1800">
                <a:effectLst/>
                <a:latin typeface="Calibri" panose="020F0502020204030204" pitchFamily="34" charset="0"/>
                <a:ea typeface="Calibri" panose="020F0502020204030204" pitchFamily="34" charset="0"/>
                <a:cs typeface="Times New Roman" panose="02020603050405020304" pitchFamily="18" charset="0"/>
              </a:rPr>
              <a:t>Και ο πίνακας είναι :</a:t>
            </a:r>
          </a:p>
        </p:txBody>
      </p:sp>
      <p:pic>
        <p:nvPicPr>
          <p:cNvPr id="7" name="Εικόνα 6" descr="Εικόνα που περιέχει πίνακας&#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BCE8B8B-D9D9-5A76-9DFF-6273B4F1DF2A}"/>
              </a:ext>
            </a:extLst>
          </p:cNvPr>
          <p:cNvPicPr>
            <a:picLocks noChangeAspect="1"/>
          </p:cNvPicPr>
          <p:nvPr/>
        </p:nvPicPr>
        <p:blipFill>
          <a:blip r:embed="rId3"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a:xfrm>
            <a:off x="321366" y="3634879"/>
            <a:ext cx="3097696" cy="2067515"/>
          </a:xfrm>
          <a:prstGeom prst="rect">
            <a:avLst/>
          </a:prstGeom>
        </p:spPr>
      </p:pic>
      <p:sp>
        <p:nvSpPr>
          <p:cNvPr id="8" name="TextBox 7">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A081DA1D-3F55-9FF8-CE23-93DADDD752D5}"/>
              </a:ext>
            </a:extLst>
          </p:cNvPr>
          <p:cNvSpPr txBox="1"/>
          <p:nvPr/>
        </p:nvSpPr>
        <p:spPr>
          <a:xfrm>
            <a:off x="323528" y="0"/>
            <a:ext cx="10681524" cy="584775"/>
          </a:xfrm>
          <a:prstGeom prst="rect">
            <a:avLst/>
          </a:prstGeom>
          <a:noFill/>
        </p:spPr>
        <p:txBody>
          <a:bodyPr wrap="square">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3200" dirty="0"/>
              <a:t>ΚΒΑΝΤΙΚΗ ΠΥΛΗ ΔΙΠΛΑ ΕΛΕΓΧΟΜΕΝΟΥ ΟΧΙ </a:t>
            </a:r>
          </a:p>
        </p:txBody>
      </p:sp>
      <p:pic>
        <p:nvPicPr>
          <p:cNvPr id="2" name="Εικόνα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E926363-DCDC-F73D-8674-B2F5CE2BA2C8}"/>
              </a:ext>
            </a:extLst>
          </p:cNvPr>
          <p:cNvPicPr>
            <a:picLocks noChangeAspect="1"/>
          </p:cNvPicPr>
          <p:nvPr/>
        </p:nvPicPr>
        <p:blipFill>
          <a:blip r:embed="rId4" cstate="print"/>
          <a:stretch>
            <a:fillRect/>
          </a:stretch>
        </p:blipFill>
        <p:spPr>
          <a:xfrm>
            <a:off x="3203848" y="3212976"/>
            <a:ext cx="4121426" cy="1250225"/>
          </a:xfrm>
          <a:prstGeom prst="rect">
            <a:avLst/>
          </a:prstGeom>
        </p:spPr>
      </p:pic>
      <p:pic>
        <p:nvPicPr>
          <p:cNvPr id="5" name="Εικόνα 4">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3FA9A68-3AAC-EE9D-7A32-B63BF80EE493}"/>
              </a:ext>
            </a:extLst>
          </p:cNvPr>
          <p:cNvPicPr>
            <a:picLocks noChangeAspect="1"/>
          </p:cNvPicPr>
          <p:nvPr/>
        </p:nvPicPr>
        <p:blipFill>
          <a:blip r:embed="rId5" cstate="print"/>
          <a:stretch>
            <a:fillRect/>
          </a:stretch>
        </p:blipFill>
        <p:spPr>
          <a:xfrm>
            <a:off x="4331516" y="5013176"/>
            <a:ext cx="4812484" cy="1698479"/>
          </a:xfrm>
          <a:prstGeom prst="rect">
            <a:avLst/>
          </a:prstGeom>
        </p:spPr>
      </p:pic>
      <p:sp>
        <p:nvSpPr>
          <p:cNvPr id="10" name="TextBox 9">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310EF1C6-5864-4DD2-6206-D80883E71C26}"/>
              </a:ext>
            </a:extLst>
          </p:cNvPr>
          <p:cNvSpPr txBox="1"/>
          <p:nvPr/>
        </p:nvSpPr>
        <p:spPr>
          <a:xfrm>
            <a:off x="827584" y="5733256"/>
            <a:ext cx="6096000" cy="923330"/>
          </a:xfrm>
          <a:prstGeom prst="rect">
            <a:avLst/>
          </a:prstGeom>
          <a:noFill/>
        </p:spPr>
        <p:txBody>
          <a:bodyPr wrap="square">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dirty="0"/>
              <a:t>ΒΙΒΛΙΟΓΡΑΦΙΑ:</a:t>
            </a:r>
          </a:p>
          <a:p>
            <a:r>
              <a:rPr lang="el-GR" dirty="0"/>
              <a:t>ΚΟΥΝΑΒΗΣ ΓΕΝΙΚΟ</a:t>
            </a:r>
          </a:p>
          <a:p>
            <a:r>
              <a:rPr lang="el-GR" dirty="0"/>
              <a:t>ΚΒΑΝΤΙΚΗ ΥΠΟΛΟΓΙΣΤΙΚΗ 144</a:t>
            </a: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35735843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9D47016-023F-44BD-981C-50E7A10A6609}"/>
              </a:ext>
              <a:ext uri="{C183D7F6-B498-43B3-948B-1728B52AA6E4}">
                <adec:decorative xmlns:adec="http://schemas.microsoft.com/office/drawing/2017/decorative"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algn="ctr"/>
            <a:endParaRPr lang="en-US"/>
          </a:p>
        </p:txBody>
      </p:sp>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8106C97A-91FA-99BB-371B-4940621AF254}"/>
              </a:ext>
            </a:extLst>
          </p:cNvPr>
          <p:cNvSpPr>
            <a:spLocks noGrp="1"/>
          </p:cNvSpPr>
          <p:nvPr>
            <p:ph type="ctrTitle"/>
          </p:nvPr>
        </p:nvSpPr>
        <p:spPr>
          <a:xfrm>
            <a:off x="630936" y="457200"/>
            <a:ext cx="4343400" cy="1929384"/>
          </a:xfrm>
        </p:spPr>
        <p:txBody>
          <a:bodyPr vert="horz" lIns="91440" tIns="45720" rIns="91440" bIns="45720" rtlCol="0" anchor="ctr">
            <a:normAutofit/>
          </a:bodyPr>
          <a:lstStyle/>
          <a:p>
            <a:pPr algn="l"/>
            <a:r>
              <a:rPr lang="en-US" sz="3700"/>
              <a:t>Κβαντική πύλη αδράνειας και μετατόπισης φάσης</a:t>
            </a:r>
          </a:p>
        </p:txBody>
      </p:sp>
      <p:sp>
        <p:nvSpPr>
          <p:cNvPr id="25" name="sketchy line">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D8B37B0-0682-433E-BC8D-498C04ABD9A7}"/>
              </a:ext>
              <a:ext uri="{C183D7F6-B498-43B3-948B-1728B52AA6E4}">
                <adec:decorative xmlns:adec="http://schemas.microsoft.com/office/drawing/2017/decorative"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algn="ctr"/>
            <a:endParaRPr lang="en-US"/>
          </a:p>
        </p:txBody>
      </p:sp>
      <mc:AlternateContent xmlns:mc="http://schemas.openxmlformats.org/markup-compatibility/2006">
        <mc:Choice xmlns:p159="http://schemas.microsoft.com/office/powerpoint/2015/09/main" xmlns:p15="http://schemas.microsoft.com/office/powerpoint/2012/main" xmlns:p14="http://schemas.microsoft.com/office/powerpoint/2010/main" xmlns:a14="http://schemas.microsoft.com/office/drawing/2010/main" xmlns:wp="http://schemas.openxmlformats.org/drawingml/2006/wordprocessingDrawing" xmlns:w="http://schemas.openxmlformats.org/wordprocessingml/2006/main" xmlns:m="http://schemas.openxmlformats.org/officeDocument/2006/math" xmlns="" Requires="a14">
          <p:sp>
            <p:nvSpPr>
              <p:cNvPr id="3" name="Υπότιτλος 2">
                <a:extLst>
                  <a:ext uri="{FF2B5EF4-FFF2-40B4-BE49-F238E27FC236}">
                    <a16:creationId xmlns:a16="http://schemas.microsoft.com/office/drawing/2014/main" id="{EF4AC423-77EB-6D2D-9406-238D72DCDDED}"/>
                  </a:ext>
                </a:extLst>
              </p:cNvPr>
              <p:cNvSpPr>
                <a:spLocks noGrp="1"/>
              </p:cNvSpPr>
              <p:nvPr>
                <p:ph type="subTitle" idx="1"/>
              </p:nvPr>
            </p:nvSpPr>
            <p:spPr>
              <a:xfrm>
                <a:off x="5541263" y="457200"/>
                <a:ext cx="6007608" cy="2571750"/>
              </a:xfrm>
            </p:spPr>
            <p:txBody>
              <a:bodyPr vert="horz" lIns="91440" tIns="45720" rIns="91440" bIns="45720" rtlCol="0" anchor="ctr">
                <a:normAutofit/>
              </a:bodyPr>
              <a:lstStyle/>
              <a:p>
                <a:pPr indent="-228600" algn="l">
                  <a:buFont typeface="Arial" pitchFamily="34" charset="0"/>
                  <a:buChar char="•"/>
                </a:pPr>
                <a:r>
                  <a:rPr lang="en-US" sz="1700"/>
                  <a:t>Η πύλη αδράνειας συμβολίζεται με: </a:t>
                </a:r>
                <a14:m>
                  <m:oMathPara>
                    <m:oMathParaPr>
                      <m:jc/>
                    </m:oMathParaPr>
                    <m:oMath>
                      <m:r>
                        <a:rPr lang="en-US" sz="1700" i="1">
                          <a:effectLst/>
                          <a:latin typeface="Cambria Math" panose="02040503050406030204" pitchFamily="18" charset="0"/>
                        </a:rPr>
                        <m:t>𝛪</m:t>
                      </m:r>
                      <m:r>
                        <a:rPr lang="en-US" sz="1700" i="1">
                          <a:effectLst/>
                          <a:latin typeface="Cambria Math" panose="02040503050406030204" pitchFamily="18" charset="0"/>
                        </a:rPr>
                        <m:t>= </m:t>
                      </m:r>
                      <m:d>
                        <m:dPr>
                          <m:begChr m:val="["/>
                          <m:sepChr m:val="|"/>
                          <m:endChr m:val="]"/>
                          <m:grow m:val="on"/>
                          <m:shp m:val="centered"/>
                          <m:ctrlPr>
                            <a:rPr lang="en-US" sz="1700" i="1">
                              <a:effectLst/>
                              <a:latin typeface="Cambria Math" panose="02040503050406030204" pitchFamily="18" charset="0"/>
                            </a:rPr>
                          </m:ctrlPr>
                        </m:dPr>
                        <m:e>
                          <m:m>
                            <m:mPr>
                              <m:mcs>
                                <m:mc>
                                  <m:mcPr>
                                    <m:count m:val="2"/>
                                    <m:mcJc m:val="center"/>
                                  </m:mcPr>
                                </m:mc>
                              </m:mcs>
                              <m:ctrlPr>
                                <a:rPr lang="en-US" sz="1700" i="1">
                                  <a:effectLst/>
                                  <a:latin typeface="Cambria Math" panose="02040503050406030204" pitchFamily="18" charset="0"/>
                                </a:rPr>
                              </m:ctrlPr>
                            </m:mPr>
                            <m:mr>
                              <m:e>
                                <m:r>
                                  <a:rPr lang="en-US" sz="1700" i="1">
                                    <a:effectLst/>
                                    <a:latin typeface="Cambria Math" panose="02040503050406030204" pitchFamily="18" charset="0"/>
                                  </a:rPr>
                                  <m:t>1</m:t>
                                </m:r>
                              </m:e>
                              <m:e>
                                <m:r>
                                  <a:rPr lang="en-US" sz="1700" i="1">
                                    <a:effectLst/>
                                    <a:latin typeface="Cambria Math" panose="02040503050406030204" pitchFamily="18" charset="0"/>
                                  </a:rPr>
                                  <m:t>0</m:t>
                                </m:r>
                              </m:e>
                            </m:mr>
                            <m:mr>
                              <m:e>
                                <m:r>
                                  <a:rPr lang="en-US" sz="1700" i="1">
                                    <a:effectLst/>
                                    <a:latin typeface="Cambria Math" panose="02040503050406030204" pitchFamily="18" charset="0"/>
                                  </a:rPr>
                                  <m:t>0</m:t>
                                </m:r>
                              </m:e>
                              <m:e>
                                <m:r>
                                  <a:rPr lang="en-US" sz="1700" i="1">
                                    <a:effectLst/>
                                    <a:latin typeface="Cambria Math" panose="02040503050406030204" pitchFamily="18" charset="0"/>
                                  </a:rPr>
                                  <m:t>1</m:t>
                                </m:r>
                              </m:e>
                            </m:mr>
                          </m:m>
                        </m:e>
                      </m:d>
                    </m:oMath>
                  </m:oMathPara>
                </a14:m>
                <a:r>
                  <a:rPr lang="el-GR" sz="1700"/>
                  <a:t>   </a:t>
                </a:r>
              </a:p>
              <a:p>
                <a:pPr algn="l"/>
                <a:r>
                  <a:rPr lang="el-GR" sz="1700"/>
                  <a:t>   </a:t>
                </a:r>
                <a:r>
                  <a:rPr lang="en-US" sz="1700"/>
                  <a:t> και η κατάσταση του Qubit παραμένει αμετάβλητη.</a:t>
                </a:r>
              </a:p>
              <a:p>
                <a:pPr indent="-228600" algn="l">
                  <a:buFont typeface="Arial" pitchFamily="34" charset="0"/>
                  <a:buChar char="•"/>
                </a:pPr>
                <a:r>
                  <a:rPr lang="en-US" sz="1700"/>
                  <a:t>Και αντίστοιχα η μετατόπισης φάσης συμβολίζεται με:</a:t>
                </a:r>
                <a:endParaRPr lang="el-GR" sz="1700"/>
              </a:p>
              <a:p>
                <a:pPr algn="l"/>
                <a:r>
                  <a:rPr lang="en-US" sz="1700"/>
                  <a:t>     </a:t>
                </a:r>
                <a14:m>
                  <m:oMathPara>
                    <m:oMathParaPr>
                      <m:jc/>
                    </m:oMathParaPr>
                    <m:oMath>
                      <m:r>
                        <a:rPr lang="en-US" sz="1700" i="1">
                          <a:effectLst/>
                          <a:latin typeface="Cambria Math" panose="02040503050406030204" pitchFamily="18" charset="0"/>
                        </a:rPr>
                        <m:t>𝛷</m:t>
                      </m:r>
                      <m:r>
                        <a:rPr lang="en-US" sz="1700" i="1">
                          <a:effectLst/>
                          <a:latin typeface="Cambria Math" panose="02040503050406030204" pitchFamily="18" charset="0"/>
                        </a:rPr>
                        <m:t>= </m:t>
                      </m:r>
                      <m:d>
                        <m:dPr>
                          <m:begChr m:val="["/>
                          <m:sepChr m:val="|"/>
                          <m:endChr m:val="]"/>
                          <m:grow m:val="on"/>
                          <m:shp m:val="centered"/>
                          <m:ctrlPr>
                            <a:rPr lang="en-US" sz="1700" i="1">
                              <a:effectLst/>
                              <a:latin typeface="Cambria Math" panose="02040503050406030204" pitchFamily="18" charset="0"/>
                            </a:rPr>
                          </m:ctrlPr>
                        </m:dPr>
                        <m:e>
                          <m:m>
                            <m:mPr>
                              <m:mcs>
                                <m:mc>
                                  <m:mcPr>
                                    <m:count m:val="2"/>
                                    <m:mcJc m:val="center"/>
                                  </m:mcPr>
                                </m:mc>
                              </m:mcs>
                              <m:ctrlPr>
                                <a:rPr lang="en-US" sz="1700" i="1">
                                  <a:effectLst/>
                                  <a:latin typeface="Cambria Math" panose="02040503050406030204" pitchFamily="18" charset="0"/>
                                </a:rPr>
                              </m:ctrlPr>
                            </m:mPr>
                            <m:mr>
                              <m:e>
                                <m:r>
                                  <a:rPr lang="en-US" sz="1700" i="1">
                                    <a:effectLst/>
                                    <a:latin typeface="Cambria Math" panose="02040503050406030204" pitchFamily="18" charset="0"/>
                                  </a:rPr>
                                  <m:t>1</m:t>
                                </m:r>
                              </m:e>
                              <m:e>
                                <m:r>
                                  <a:rPr lang="en-US" sz="1700" i="1">
                                    <a:effectLst/>
                                    <a:latin typeface="Cambria Math" panose="02040503050406030204" pitchFamily="18" charset="0"/>
                                  </a:rPr>
                                  <m:t>0</m:t>
                                </m:r>
                              </m:e>
                            </m:mr>
                            <m:mr>
                              <m:e>
                                <m:r>
                                  <a:rPr lang="en-US" sz="1700" i="1">
                                    <a:effectLst/>
                                    <a:latin typeface="Cambria Math" panose="02040503050406030204" pitchFamily="18" charset="0"/>
                                  </a:rPr>
                                  <m:t>0</m:t>
                                </m:r>
                              </m:e>
                              <m:e>
                                <m:sSup>
                                  <m:sSupPr>
                                    <m:ctrlPr>
                                      <a:rPr lang="en-US" sz="1700" i="1">
                                        <a:effectLst/>
                                        <a:latin typeface="Cambria Math" panose="02040503050406030204" pitchFamily="18" charset="0"/>
                                      </a:rPr>
                                    </m:ctrlPr>
                                  </m:sSupPr>
                                  <m:e>
                                    <m:r>
                                      <a:rPr lang="en-US" sz="1700" i="1">
                                        <a:effectLst/>
                                        <a:latin typeface="Cambria Math" panose="02040503050406030204" pitchFamily="18" charset="0"/>
                                      </a:rPr>
                                      <m:t>𝑒</m:t>
                                    </m:r>
                                  </m:e>
                                  <m:sup>
                                    <m:r>
                                      <a:rPr lang="en-US" sz="1700" i="1">
                                        <a:effectLst/>
                                        <a:latin typeface="Cambria Math" panose="02040503050406030204" pitchFamily="18" charset="0"/>
                                      </a:rPr>
                                      <m:t>𝑖</m:t>
                                    </m:r>
                                    <m:r>
                                      <a:rPr lang="en-US" sz="1700" i="1">
                                        <a:effectLst/>
                                        <a:latin typeface="Cambria Math" panose="02040503050406030204" pitchFamily="18" charset="0"/>
                                      </a:rPr>
                                      <m:t>𝜑</m:t>
                                    </m:r>
                                  </m:sup>
                                </m:sSup>
                              </m:e>
                            </m:mr>
                          </m:m>
                        </m:e>
                      </m:d>
                      <m:r>
                        <a:rPr lang="en-US" sz="1700" b="0" i="1">
                          <a:effectLst/>
                          <a:latin typeface="Cambria Math" panose="02040503050406030204" pitchFamily="18" charset="0"/>
                        </a:rPr>
                        <m:t> </m:t>
                      </m:r>
                      <m:r>
                        <m:rPr>
                          <m:sty m:val="p"/>
                        </m:rPr>
                        <a:rPr lang="en-US" sz="1700" b="0" i="0">
                          <a:effectLst/>
                          <a:latin typeface="Cambria Math" panose="02040503050406030204" pitchFamily="18" charset="0"/>
                        </a:rPr>
                        <m:t> </m:t>
                      </m:r>
                    </m:oMath>
                  </m:oMathPara>
                </a14:m>
                <a:r>
                  <a:rPr lang="en-US" sz="1700">
                    <a:effectLst/>
                  </a:rPr>
                  <a:t> και παρατηρούμε την μεταβολή του Qubit</a:t>
                </a:r>
                <a:endParaRPr lang="en-US" sz="1700"/>
              </a:p>
              <a:p>
                <a:pPr algn="l"/>
                <a:r>
                  <a:rPr lang="en-US" sz="1700">
                    <a:effectLst/>
                  </a:rPr>
                  <a:t>     </a:t>
                </a:r>
                <a:r>
                  <a:rPr lang="el-GR" sz="1700"/>
                  <a:t>σ</a:t>
                </a:r>
                <a:r>
                  <a:rPr lang="en-US" sz="1700" err="1">
                    <a:effectLst/>
                  </a:rPr>
                  <a:t>τον πίνακα κάτω δεξιά, με πολλαπλάσιο το </a:t>
                </a:r>
                <a14:m>
                  <m:oMathPara>
                    <m:oMathParaPr>
                      <m:jc/>
                    </m:oMathParaPr>
                    <m:oMath>
                      <m:sSup>
                        <m:sSupPr>
                          <m:ctrlPr>
                            <a:rPr lang="en-US" sz="1700" i="1">
                              <a:latin typeface="Cambria Math" panose="02040503050406030204" pitchFamily="18" charset="0"/>
                            </a:rPr>
                          </m:ctrlPr>
                        </m:sSupPr>
                        <m:e>
                          <m:r>
                            <a:rPr lang="en-US" sz="1700" i="1">
                              <a:latin typeface="Cambria Math" panose="02040503050406030204" pitchFamily="18" charset="0"/>
                            </a:rPr>
                            <m:t>𝑒</m:t>
                          </m:r>
                        </m:e>
                        <m:sup>
                          <m:r>
                            <a:rPr lang="en-US" sz="1700" i="1">
                              <a:latin typeface="Cambria Math" panose="02040503050406030204" pitchFamily="18" charset="0"/>
                            </a:rPr>
                            <m:t>𝑖</m:t>
                          </m:r>
                          <m:r>
                            <a:rPr lang="en-US" sz="1700" i="1">
                              <a:latin typeface="Cambria Math" panose="02040503050406030204" pitchFamily="18" charset="0"/>
                            </a:rPr>
                            <m:t>𝜑</m:t>
                          </m:r>
                        </m:sup>
                      </m:sSup>
                    </m:oMath>
                  </m:oMathPara>
                </a14:m>
                <a:r>
                  <a:rPr lang="en-US" sz="1700">
                    <a:effectLst/>
                  </a:rPr>
                  <a:t>.</a:t>
                </a:r>
              </a:p>
              <a:p>
                <a:pPr indent="-228600" algn="l">
                  <a:buFont typeface="Arial" pitchFamily="34" charset="0"/>
                  <a:buChar char="•"/>
                </a:pPr>
                <a:endParaRPr lang="en-US" sz="1700"/>
              </a:p>
              <a:p>
                <a:pPr indent="-228600" algn="l">
                  <a:buFont typeface="Arial" pitchFamily="34" charset="0"/>
                  <a:buChar char="•"/>
                </a:pPr>
                <a:endParaRPr lang="en-US" sz="1700"/>
              </a:p>
            </p:txBody>
          </p:sp>
        </mc:Choice>
        <mc:Fallback>
          <p:sp>
            <p:nvSpPr>
              <p:cNvPr id="3" name="Υπότιτλο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a14="http://schemas.microsoft.com/office/drawing/2010/main" xmlns:wp="http://schemas.openxmlformats.org/drawingml/2006/wordprocessingDrawing" xmlns:w="http://schemas.openxmlformats.org/wordprocessingml/2006/main" xmlns:m="http://schemas.openxmlformats.org/officeDocument/2006/math" xmlns="" id="{EF4AC423-77EB-6D2D-9406-238D72DCDDED}"/>
                  </a:ext>
                </a:extLst>
              </p:cNvPr>
              <p:cNvSpPr>
                <a:spLocks noGrp="1" noRot="1" noChangeAspect="1" noMove="1" noResize="1" noEditPoints="1" noAdjustHandles="1" noChangeArrowheads="1" noChangeShapeType="1" noTextEdit="1"/>
              </p:cNvSpPr>
              <p:nvPr>
                <p:ph type="subTitle" idx="1"/>
              </p:nvPr>
            </p:nvSpPr>
            <p:spPr>
              <a:xfrm>
                <a:off x="5541263" y="457200"/>
                <a:ext cx="6007608" cy="2571750"/>
              </a:xfrm>
              <a:blipFill>
                <a:blip r:embed="rId2" cstate="print"/>
                <a:stretch>
                  <a:fillRect l="-508" t="-4265"/>
                </a:stretch>
              </a:blipFill>
            </p:spPr>
            <p:txBody>
              <a:bodyPr/>
              <a:lstStyle/>
              <a:p>
                <a:r>
                  <a:rPr lang="en-US">
                    <a:noFill/>
                  </a:rPr>
                  <a:t> </a:t>
                </a:r>
              </a:p>
            </p:txBody>
          </p:sp>
        </mc:Fallback>
      </mc:AlternateContent>
      <p:pic>
        <p:nvPicPr>
          <p:cNvPr id="4" name="Εικόνα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F4A8E097-D4A5-5709-4B8D-C05D21571252}"/>
              </a:ext>
            </a:extLst>
          </p:cNvPr>
          <p:cNvPicPr>
            <a:picLocks noChangeAspect="1"/>
          </p:cNvPicPr>
          <p:nvPr/>
        </p:nvPicPr>
        <p:blipFill>
          <a:blip r:embed="rId3"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bwMode="auto">
          <a:xfrm>
            <a:off x="689181" y="2569464"/>
            <a:ext cx="5022437" cy="3678936"/>
          </a:xfrm>
          <a:prstGeom prst="rect">
            <a:avLst/>
          </a:prstGeom>
          <a:noFill/>
        </p:spPr>
      </p:pic>
      <p:pic>
        <p:nvPicPr>
          <p:cNvPr id="8" name="Εικόνα 7">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1F46801C-35D7-776B-730F-A4E206D12839}"/>
              </a:ext>
            </a:extLst>
          </p:cNvPr>
          <p:cNvPicPr>
            <a:picLocks noChangeAspect="1"/>
          </p:cNvPicPr>
          <p:nvPr/>
        </p:nvPicPr>
        <p:blipFill>
          <a:blip r:embed="rId4"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bwMode="auto">
          <a:xfrm>
            <a:off x="5826932" y="2638425"/>
            <a:ext cx="5895676" cy="3301578"/>
          </a:xfrm>
          <a:prstGeom prst="rect">
            <a:avLst/>
          </a:prstGeom>
          <a:noFill/>
        </p:spPr>
      </p:pic>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14364936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2B97F24A-32CE-4C1C-A50D-3016B394DCFB}"/>
              </a:ext>
              <a:ext uri="{C183D7F6-B498-43B3-948B-1728B52AA6E4}">
                <adec:decorative xmlns:adec="http://schemas.microsoft.com/office/drawing/2017/decorative"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algn="ctr"/>
            <a:endParaRPr lang="en-US"/>
          </a:p>
        </p:txBody>
      </p:sp>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B762EB2D-137C-9C23-D289-A1A558BA9FEA}"/>
              </a:ext>
            </a:extLst>
          </p:cNvPr>
          <p:cNvSpPr>
            <a:spLocks noGrp="1"/>
          </p:cNvSpPr>
          <p:nvPr>
            <p:ph type="ctrTitle"/>
          </p:nvPr>
        </p:nvSpPr>
        <p:spPr>
          <a:xfrm>
            <a:off x="630936" y="639520"/>
            <a:ext cx="3429000" cy="1719072"/>
          </a:xfrm>
        </p:spPr>
        <p:txBody>
          <a:bodyPr vert="horz" lIns="91440" tIns="45720" rIns="91440" bIns="45720" rtlCol="0" anchor="b">
            <a:normAutofit/>
          </a:bodyPr>
          <a:lstStyle/>
          <a:p>
            <a:pPr algn="l"/>
            <a:r>
              <a:rPr lang="en-US" sz="4200" kern="1200">
                <a:solidFill>
                  <a:schemeClr val="tx1"/>
                </a:solidFill>
                <a:latin typeface="+mj-lt"/>
                <a:ea typeface="+mj-ea"/>
                <a:cs typeface="+mj-cs"/>
              </a:rPr>
              <a:t>Κβαντική πύλη Hadamard</a:t>
            </a:r>
          </a:p>
        </p:txBody>
      </p:sp>
      <p:sp>
        <p:nvSpPr>
          <p:cNvPr id="18" name="sketch line">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CD8B4F24-440B-49E9-B85D-733523DC064B}"/>
              </a:ext>
              <a:ext uri="{C183D7F6-B498-43B3-948B-1728B52AA6E4}">
                <adec:decorative xmlns:adec="http://schemas.microsoft.com/office/drawing/2017/decorative"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4"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4"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algn="ctr"/>
            <a:endParaRPr lang="en-US"/>
          </a:p>
        </p:txBody>
      </p:sp>
      <mc:AlternateContent xmlns:mc="http://schemas.openxmlformats.org/markup-compatibility/2006">
        <mc:Choice xmlns:p159="http://schemas.microsoft.com/office/powerpoint/2015/09/main" xmlns:p15="http://schemas.microsoft.com/office/powerpoint/2012/main" xmlns:p14="http://schemas.microsoft.com/office/powerpoint/2010/main" xmlns:a14="http://schemas.microsoft.com/office/drawing/2010/main" xmlns:wp="http://schemas.openxmlformats.org/drawingml/2006/wordprocessingDrawing" xmlns:w="http://schemas.openxmlformats.org/wordprocessingml/2006/main" xmlns:m="http://schemas.openxmlformats.org/officeDocument/2006/math" xmlns="" Requires="a14">
          <p:sp>
            <p:nvSpPr>
              <p:cNvPr id="3" name="Υπότιτλος 2">
                <a:extLst>
                  <a:ext uri="{FF2B5EF4-FFF2-40B4-BE49-F238E27FC236}">
                    <a16:creationId xmlns:a16="http://schemas.microsoft.com/office/drawing/2014/main" id="{4BDA4893-3793-E7F6-34B6-F81EF0B7E891}"/>
                  </a:ext>
                </a:extLst>
              </p:cNvPr>
              <p:cNvSpPr>
                <a:spLocks noGrp="1"/>
              </p:cNvSpPr>
              <p:nvPr>
                <p:ph type="subTitle" idx="1"/>
              </p:nvPr>
            </p:nvSpPr>
            <p:spPr>
              <a:xfrm>
                <a:off x="630936" y="2597202"/>
                <a:ext cx="3429000" cy="4048376"/>
              </a:xfrm>
            </p:spPr>
            <p:txBody>
              <a:bodyPr vert="horz" lIns="91440" tIns="45720" rIns="91440" bIns="45720" rtlCol="0" anchor="t">
                <a:normAutofit lnSpcReduction="10000"/>
              </a:bodyPr>
              <a:lstStyle/>
              <a:p>
                <a:pPr indent="-228600" algn="l">
                  <a:buFont typeface="Arial" pitchFamily="34" charset="0"/>
                  <a:buChar char="•"/>
                </a:pPr>
                <a:r>
                  <a:rPr lang="en-US"/>
                  <a:t>Η πύλη συμβολίζεται με: </a:t>
                </a:r>
                <a14:m>
                  <m:oMathPara>
                    <m:oMathParaPr>
                      <m:jc/>
                    </m:oMathParaPr>
                    <m:oMath>
                      <m:r>
                        <a:rPr lang="en-US" i="1">
                          <a:effectLst/>
                          <a:latin typeface="Cambria Math" panose="02040503050406030204" pitchFamily="18" charset="0"/>
                        </a:rPr>
                        <m:t>𝐻</m:t>
                      </m:r>
                      <m:r>
                        <a:rPr lang="en-US" i="1">
                          <a:effectLst/>
                          <a:latin typeface="Cambria Math" panose="02040503050406030204" pitchFamily="18" charset="0"/>
                        </a:rPr>
                        <m:t>= </m:t>
                      </m:r>
                      <m:f>
                        <m:fPr>
                          <m:type m:val="bar"/>
                          <m:ctrlPr>
                            <a:rPr lang="en-US" i="1">
                              <a:effectLst/>
                              <a:latin typeface="Cambria Math" panose="02040503050406030204" pitchFamily="18" charset="0"/>
                            </a:rPr>
                          </m:ctrlPr>
                        </m:fPr>
                        <m:num>
                          <m:r>
                            <a:rPr lang="en-US" i="1">
                              <a:effectLst/>
                              <a:latin typeface="Cambria Math" panose="02040503050406030204" pitchFamily="18" charset="0"/>
                            </a:rPr>
                            <m:t>1</m:t>
                          </m:r>
                        </m:num>
                        <m:den>
                          <m:rad>
                            <m:radPr>
                              <m:degHide m:val="on"/>
                              <m:ctrlPr>
                                <a:rPr lang="en-US" i="1">
                                  <a:effectLst/>
                                  <a:latin typeface="Cambria Math" panose="02040503050406030204" pitchFamily="18" charset="0"/>
                                </a:rPr>
                              </m:ctrlPr>
                            </m:radPr>
                            <m:deg/>
                            <m:e>
                              <m:r>
                                <a:rPr lang="en-US" i="1">
                                  <a:effectLst/>
                                  <a:latin typeface="Cambria Math" panose="02040503050406030204" pitchFamily="18" charset="0"/>
                                </a:rPr>
                                <m:t>2</m:t>
                              </m:r>
                            </m:e>
                          </m:rad>
                        </m:den>
                      </m:f>
                      <m:d>
                        <m:dPr>
                          <m:begChr m:val="["/>
                          <m:sepChr m:val="|"/>
                          <m:endChr m:val="]"/>
                          <m:grow m:val="on"/>
                          <m:shp m:val="centered"/>
                          <m:ctrlPr>
                            <a:rPr lang="en-US" i="1">
                              <a:effectLst/>
                              <a:latin typeface="Cambria Math" panose="02040503050406030204" pitchFamily="18" charset="0"/>
                            </a:rPr>
                          </m:ctrlPr>
                        </m:dPr>
                        <m:e>
                          <m:m>
                            <m:mPr>
                              <m:mcs>
                                <m:mc>
                                  <m:mcPr>
                                    <m:count m:val="2"/>
                                    <m:mcJc m:val="center"/>
                                  </m:mcPr>
                                </m:mc>
                              </m:mcs>
                              <m:ctrlPr>
                                <a:rPr lang="en-US" i="1">
                                  <a:effectLst/>
                                  <a:latin typeface="Cambria Math" panose="02040503050406030204" pitchFamily="18" charset="0"/>
                                </a:rPr>
                              </m:ctrlPr>
                            </m:mPr>
                            <m:mr>
                              <m:e>
                                <m:r>
                                  <a:rPr lang="en-US" i="1">
                                    <a:effectLst/>
                                    <a:latin typeface="Cambria Math" panose="02040503050406030204" pitchFamily="18" charset="0"/>
                                  </a:rPr>
                                  <m:t>1</m:t>
                                </m:r>
                              </m:e>
                              <m:e>
                                <m:r>
                                  <a:rPr lang="en-US" i="1">
                                    <a:effectLst/>
                                    <a:latin typeface="Cambria Math" panose="02040503050406030204" pitchFamily="18" charset="0"/>
                                  </a:rPr>
                                  <m:t>1</m:t>
                                </m:r>
                              </m:e>
                            </m:mr>
                            <m:mr>
                              <m:e>
                                <m:r>
                                  <a:rPr lang="en-US" i="1">
                                    <a:effectLst/>
                                    <a:latin typeface="Cambria Math" panose="02040503050406030204" pitchFamily="18" charset="0"/>
                                  </a:rPr>
                                  <m:t>1</m:t>
                                </m:r>
                              </m:e>
                              <m:e>
                                <m:r>
                                  <a:rPr lang="en-US" i="1">
                                    <a:effectLst/>
                                    <a:latin typeface="Cambria Math" panose="02040503050406030204" pitchFamily="18" charset="0"/>
                                  </a:rPr>
                                  <m:t>−1</m:t>
                                </m:r>
                              </m:e>
                            </m:mr>
                          </m:m>
                        </m:e>
                      </m:d>
                    </m:oMath>
                  </m:oMathPara>
                </a14:m>
                <a:endParaRPr lang="en-US"/>
              </a:p>
              <a:p>
                <a:pPr indent="-228600" algn="l">
                  <a:buFont typeface="Arial" pitchFamily="34" charset="0"/>
                  <a:buChar char="•"/>
                </a:pPr>
                <a:r>
                  <a:rPr lang="en-US"/>
                  <a:t>Η πύλη Hadamard επιστρέφει τα qubits στις βασικές τους καταστάσεις.</a:t>
                </a:r>
              </a:p>
              <a:p>
                <a:pPr indent="-228600" algn="l">
                  <a:buFont typeface="Arial" pitchFamily="34" charset="0"/>
                  <a:buChar char="•"/>
                </a:pPr>
                <a:r>
                  <a:rPr lang="el-GR">
                    <a:latin typeface="Calibri" panose="020f0502020204030204" pitchFamily="34" charset="0"/>
                    <a:ea typeface="Times New Roman" panose="02020603050405020304" pitchFamily="18" charset="0"/>
                  </a:rPr>
                  <a:t>Θα είναι αυτές που θα αποτελέσουν το βασικό στοιχείο για τη διασύνδεση κλασικών και κβαντικών υπολογιστών. </a:t>
                </a:r>
                <a:endParaRPr lang="en-US"/>
              </a:p>
              <a:p>
                <a:pPr indent="-228600" algn="l">
                  <a:buFont typeface="Arial" pitchFamily="34" charset="0"/>
                  <a:buChar char="•"/>
                </a:pPr>
                <a:endParaRPr lang="en-US" sz="2200"/>
              </a:p>
            </p:txBody>
          </p:sp>
        </mc:Choice>
        <mc:Fallback>
          <p:sp>
            <p:nvSpPr>
              <p:cNvPr id="3" name="Υπότιτλος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a14="http://schemas.microsoft.com/office/drawing/2010/main" xmlns:wp="http://schemas.openxmlformats.org/drawingml/2006/wordprocessingDrawing" xmlns:w="http://schemas.openxmlformats.org/wordprocessingml/2006/main" xmlns:m="http://schemas.openxmlformats.org/officeDocument/2006/math" xmlns="" id="{4BDA4893-3793-E7F6-34B6-F81EF0B7E891}"/>
                  </a:ext>
                </a:extLst>
              </p:cNvPr>
              <p:cNvSpPr>
                <a:spLocks noGrp="1" noRot="1" noChangeAspect="1" noMove="1" noResize="1" noEditPoints="1" noAdjustHandles="1" noChangeArrowheads="1" noChangeShapeType="1" noTextEdit="1"/>
              </p:cNvSpPr>
              <p:nvPr>
                <p:ph type="subTitle" idx="1"/>
              </p:nvPr>
            </p:nvSpPr>
            <p:spPr>
              <a:xfrm>
                <a:off x="630936" y="2597202"/>
                <a:ext cx="3429000" cy="4048376"/>
              </a:xfrm>
              <a:blipFill>
                <a:blip r:embed="rId2" cstate="print"/>
                <a:stretch>
                  <a:fillRect l="-2847" t="-2861" r="-3203"/>
                </a:stretch>
              </a:blipFill>
            </p:spPr>
            <p:txBody>
              <a:bodyPr/>
              <a:lstStyle/>
              <a:p>
                <a:r>
                  <a:rPr lang="en-US">
                    <a:noFill/>
                  </a:rPr>
                  <a:t> </a:t>
                </a:r>
              </a:p>
            </p:txBody>
          </p:sp>
        </mc:Fallback>
      </mc:AlternateContent>
      <p:pic>
        <p:nvPicPr>
          <p:cNvPr id="7" name="Εικόνα 6">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55E0771E-1AFB-4091-7004-2F716DE854B8}"/>
              </a:ext>
            </a:extLst>
          </p:cNvPr>
          <p:cNvPicPr>
            <a:picLocks noChangeAspect="1"/>
          </p:cNvPicPr>
          <p:nvPr/>
        </p:nvPicPr>
        <p:blipFill>
          <a:blip r:embed="rId3"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bwMode="auto">
          <a:xfrm>
            <a:off x="4654296" y="900512"/>
            <a:ext cx="6903720" cy="5056975"/>
          </a:xfrm>
          <a:prstGeom prst="rect">
            <a:avLst/>
          </a:prstGeom>
          <a:noFill/>
        </p:spPr>
      </p:pic>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414689900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7C6ABC6A-B260-9314-691D-2197336A71FA}"/>
              </a:ext>
            </a:extLst>
          </p:cNvPr>
          <p:cNvSpPr>
            <a:spLocks noGrp="1"/>
          </p:cNvSpPr>
          <p:nvPr>
            <p:ph type="title"/>
          </p:nvPr>
        </p:nvSpPr>
        <p:spPr>
          <a:xfrm>
            <a:off x="838200" y="365125"/>
            <a:ext cx="8126288" cy="1325563"/>
          </a:xfrm>
        </p:spPr>
        <p:txBody>
          <a:bodyPr/>
          <a:lstStyle/>
          <a:p>
            <a:r>
              <a:rPr lang="el-GR" sz="1800" dirty="0">
                <a:effectLst/>
                <a:latin typeface="Calibri" panose="020F0502020204030204" pitchFamily="34" charset="0"/>
                <a:ea typeface="Calibri" panose="020F0502020204030204" pitchFamily="34" charset="0"/>
                <a:cs typeface="Times New Roman" panose="02020603050405020304" pitchFamily="18" charset="0"/>
              </a:rPr>
              <a:t>Ποια είναι τα κυριότερα σφάλματα που γίνονται στους κβαντικούς υπολογιστές και πώς αυτά διορθώνονται;</a:t>
            </a:r>
            <a:br>
              <a:rPr lang="el-GR" sz="1800" dirty="0">
                <a:effectLst/>
                <a:latin typeface="Calibri" panose="020F0502020204030204" pitchFamily="34" charset="0"/>
                <a:ea typeface="Calibri" panose="020F0502020204030204" pitchFamily="34" charset="0"/>
                <a:cs typeface="Times New Roman" panose="02020603050405020304" pitchFamily="18" charset="0"/>
              </a:rPr>
            </a:br>
            <a:endParaRPr lang="el-GR" dirty="0"/>
          </a:p>
        </p:txBody>
      </p:sp>
      <p:sp>
        <p:nvSpPr>
          <p:cNvPr id="4" name="Θέση περιεχομένου 3">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CEFB365-86D1-C60A-8B5E-676A58DC14D1}"/>
              </a:ext>
            </a:extLst>
          </p:cNvPr>
          <p:cNvSpPr>
            <a:spLocks noGrp="1"/>
          </p:cNvSpPr>
          <p:nvPr>
            <p:ph idx="1"/>
          </p:nvPr>
        </p:nvSpPr>
        <p:spPr>
          <a:xfrm>
            <a:off x="642258" y="3890866"/>
            <a:ext cx="8501742" cy="2850502"/>
          </a:xfrm>
        </p:spPr>
        <p:txBody>
          <a:bodyPr>
            <a:normAutofit fontScale="55000" lnSpcReduction="20000"/>
          </a:bodyPr>
          <a:lstStyle/>
          <a:p>
            <a:pPr marL="30480" indent="0">
              <a:lnSpc>
                <a:spcPct val="106000"/>
              </a:lnSpc>
              <a:spcAft>
                <a:spcPts val="800"/>
              </a:spcAft>
              <a:buNone/>
            </a:pPr>
            <a:r>
              <a:rPr lang="el-GR" sz="1800" dirty="0">
                <a:effectLst/>
                <a:latin typeface="Calibri" panose="020F0502020204030204" pitchFamily="34" charset="0"/>
                <a:ea typeface="Calibri" panose="020F0502020204030204" pitchFamily="34" charset="0"/>
                <a:cs typeface="Times New Roman" panose="02020603050405020304" pitchFamily="18" charset="0"/>
              </a:rPr>
              <a:t>Τα πλεονεκτήματα του κβαντικού υπολογιστή είναι πολλά, αλλά λόγω κάποιων σημαντικών σφαλμάτων δεν έχει επιτευχθεί ακόμα η κατασκευή του. Το πρόβλημα έγκειται στην διόρθωση σφαλμάτων, και συγκεκριμένα στα ακριβή λάθη που χρειάζονται διόρθωση. Η απάντηση σε αυτό το ερώτημα, είναι πρωτίστως εκείνα τα λάθη που προκύπτουν ως άμεσο αποτέλεσμα </a:t>
            </a:r>
            <a:r>
              <a:rPr lang="el-GR" sz="1800" dirty="0" err="1">
                <a:effectLst/>
                <a:latin typeface="Calibri" panose="020F0502020204030204" pitchFamily="34" charset="0"/>
                <a:ea typeface="Calibri" panose="020F0502020204030204" pitchFamily="34" charset="0"/>
                <a:cs typeface="Times New Roman" panose="02020603050405020304" pitchFamily="18" charset="0"/>
              </a:rPr>
              <a:t>αποσυσχετισμού</a:t>
            </a:r>
            <a:r>
              <a:rPr lang="el-GR" sz="1800" dirty="0">
                <a:effectLst/>
                <a:latin typeface="Calibri" panose="020F0502020204030204" pitchFamily="34" charset="0"/>
                <a:ea typeface="Calibri" panose="020F0502020204030204" pitchFamily="34" charset="0"/>
                <a:cs typeface="Times New Roman" panose="02020603050405020304" pitchFamily="18" charset="0"/>
              </a:rPr>
              <a:t> ή από τάση ενός κβαντικού υπολογιστή να αποσυντεθεί από μία δεδομένη κβαντική κατάσταση καθώς αλληλεπιδρά με το περιβάλλον. </a:t>
            </a:r>
          </a:p>
          <a:p>
            <a:pPr marL="30480" indent="0">
              <a:lnSpc>
                <a:spcPct val="106000"/>
              </a:lnSpc>
              <a:spcAft>
                <a:spcPts val="800"/>
              </a:spcAft>
              <a:buNone/>
            </a:pPr>
            <a:r>
              <a:rPr lang="el-GR" sz="1800" dirty="0">
                <a:effectLst/>
                <a:latin typeface="Calibri" panose="020F0502020204030204" pitchFamily="34" charset="0"/>
                <a:ea typeface="Calibri" panose="020F0502020204030204" pitchFamily="34" charset="0"/>
                <a:cs typeface="Times New Roman" panose="02020603050405020304" pitchFamily="18" charset="0"/>
              </a:rPr>
              <a:t>Υπάρχουν δύο είδη λαθών που μπορεί να εισάγει το περιβάλλον στο σύστημα, αυτά είναι: η δυαδική αντιστροφή και ο </a:t>
            </a:r>
            <a:r>
              <a:rPr lang="el-GR" sz="1800" dirty="0" err="1">
                <a:effectLst/>
                <a:latin typeface="Calibri" panose="020F0502020204030204" pitchFamily="34" charset="0"/>
                <a:ea typeface="Calibri" panose="020F0502020204030204" pitchFamily="34" charset="0"/>
                <a:cs typeface="Times New Roman" panose="02020603050405020304" pitchFamily="18" charset="0"/>
              </a:rPr>
              <a:t>αποσυσχετισμός</a:t>
            </a:r>
            <a:r>
              <a:rPr lang="el-GR" sz="18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6000"/>
              </a:lnSpc>
              <a:spcAft>
                <a:spcPts val="800"/>
              </a:spcAft>
              <a:buFont typeface="Symbol" panose="05050102010706020507" pitchFamily="18" charset="2"/>
              <a:buChar char=""/>
            </a:pPr>
            <a:r>
              <a:rPr lang="el-GR" sz="1800" dirty="0">
                <a:effectLst/>
                <a:latin typeface="Calibri" panose="020F0502020204030204" pitchFamily="34" charset="0"/>
                <a:ea typeface="Calibri" panose="020F0502020204030204" pitchFamily="34" charset="0"/>
                <a:cs typeface="Times New Roman" panose="02020603050405020304" pitchFamily="18" charset="0"/>
              </a:rPr>
              <a:t>Δυαδική αντιστροφή </a:t>
            </a:r>
          </a:p>
          <a:p>
            <a:pPr marL="0" indent="0">
              <a:lnSpc>
                <a:spcPct val="106000"/>
              </a:lnSpc>
              <a:spcAft>
                <a:spcPts val="800"/>
              </a:spcAft>
              <a:buNone/>
            </a:pPr>
            <a:r>
              <a:rPr lang="el-GR" sz="1800" dirty="0">
                <a:effectLst/>
                <a:latin typeface="Calibri" panose="020F0502020204030204" pitchFamily="34" charset="0"/>
                <a:ea typeface="Calibri" panose="020F0502020204030204" pitchFamily="34" charset="0"/>
                <a:cs typeface="Times New Roman" panose="02020603050405020304" pitchFamily="18" charset="0"/>
              </a:rPr>
              <a:t>Αρχικά υποθέτουμε ότι το σύστημά μας αποτελείται από ένα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a:t>
            </a:r>
            <a:r>
              <a:rPr lang="el-GR" sz="1800" dirty="0">
                <a:effectLst/>
                <a:latin typeface="Calibri" panose="020F0502020204030204" pitchFamily="34" charset="0"/>
                <a:ea typeface="Calibri" panose="020F0502020204030204" pitchFamily="34" charset="0"/>
                <a:cs typeface="Times New Roman" panose="02020603050405020304" pitchFamily="18" charset="0"/>
              </a:rPr>
              <a:t>. Ένα σφάλμα που μπορεί να προκύψει είναι όμοιο με αυτό σε έναν κλασσικό υπολογιστή, είναι το σφάλμα της δυαδικής αντιστροφής.</a:t>
            </a:r>
          </a:p>
          <a:p>
            <a:pPr marL="0" indent="0">
              <a:lnSpc>
                <a:spcPct val="106000"/>
              </a:lnSpc>
              <a:spcAft>
                <a:spcPts val="800"/>
              </a:spcAft>
              <a:buNone/>
            </a:pPr>
            <a:r>
              <a:rPr lang="el-GR" sz="1800" dirty="0">
                <a:effectLst/>
                <a:latin typeface="Calibri" panose="020F0502020204030204" pitchFamily="34" charset="0"/>
                <a:ea typeface="Calibri" panose="020F0502020204030204" pitchFamily="34" charset="0"/>
                <a:cs typeface="Times New Roman" panose="02020603050405020304" pitchFamily="18" charset="0"/>
              </a:rPr>
              <a:t>Αυτό το πρόβλημα μπορεί να λυθεί χρησιμοποιώντας κλασσικούς κώδικες διόρθωσης. Μπορούμε να εφαρμόσουμε έναν κλασικό κώδικα επανάληψης και να το αποφύγουμε. Η δυαδική αντιστροφή είναι μια αντιστρεπτή πράξη πάνω στα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qubits</a:t>
            </a:r>
            <a:r>
              <a:rPr lang="el-GR" sz="1800" dirty="0">
                <a:effectLst/>
                <a:latin typeface="Calibri" panose="020F0502020204030204" pitchFamily="34" charset="0"/>
                <a:ea typeface="Calibri" panose="020F0502020204030204" pitchFamily="34" charset="0"/>
                <a:cs typeface="Times New Roman" panose="02020603050405020304" pitchFamily="18" charset="0"/>
              </a:rPr>
              <a:t> και γι’ αυτό το λόγο μπορεί εύκολα να διορθωθεί.</a:t>
            </a:r>
          </a:p>
          <a:p>
            <a:pPr marL="0" indent="0">
              <a:buNone/>
            </a:pPr>
            <a:r>
              <a:rPr lang="el-GR" sz="1800" dirty="0">
                <a:solidFill>
                  <a:srgbClr val="000000"/>
                </a:solidFill>
                <a:effectLst/>
                <a:latin typeface="Calibri" panose="020F0502020204030204" pitchFamily="34" charset="0"/>
                <a:ea typeface="Calibri" panose="020F0502020204030204" pitchFamily="34" charset="0"/>
              </a:rPr>
              <a:t> </a:t>
            </a:r>
            <a:r>
              <a:rPr lang="el-GR"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l-GR" dirty="0"/>
          </a:p>
        </p:txBody>
      </p:sp>
      <p:pic>
        <p:nvPicPr>
          <p:cNvPr id="6" name="Εικόνα 5" descr="Εικόνα που περιέχει ηλεκτρονικές συσκευές, κύκλωμα&#10;&#10;Περιγραφή που δημιουργήθηκε αυτόματα">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4A3B7FE6-C1DA-326E-2733-BD74DFBF61C4}"/>
              </a:ext>
            </a:extLst>
          </p:cNvPr>
          <p:cNvPicPr>
            <a:picLocks noChangeAspect="1"/>
          </p:cNvPicPr>
          <p:nvPr/>
        </p:nvPicPr>
        <p:blipFill>
          <a:blip r:embed="rId2" cstate="print">
            <a:extLst>
              <a:ext uri="{28A0092B-C50C-407E-A947-70E740481C1C}">
                <a14:useLocalDpi xmlns:a14="http://schemas.microsoft.com/office/drawing/2010/main" xmlns:p159="http://schemas.microsoft.com/office/powerpoint/2015/09/main" xmlns:p15="http://schemas.microsoft.com/office/powerpoint/2012/main" xmlns:p14="http://schemas.microsoft.com/office/powerpoint/2010/main" xmlns:mc="http://schemas.openxmlformats.org/markup-compatibility/2006" xmlns:wp="http://schemas.openxmlformats.org/drawingml/2006/wordprocessingDrawing" xmlns:w="http://schemas.openxmlformats.org/wordprocessingml/2006/main" xmlns:m="http://schemas.openxmlformats.org/officeDocument/2006/math" xmlns="" val="0"/>
              </a:ext>
            </a:extLst>
          </a:blip>
          <a:stretch>
            <a:fillRect/>
          </a:stretch>
        </p:blipFill>
        <p:spPr>
          <a:xfrm>
            <a:off x="951722" y="1026367"/>
            <a:ext cx="4077478" cy="2771192"/>
          </a:xfrm>
          <a:prstGeom prst="rect">
            <a:avLst/>
          </a:prstGeom>
        </p:spPr>
      </p:pic>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291467960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p159="http://schemas.microsoft.com/office/powerpoint/2015/09/main" xmlns:p15="http://schemas.microsoft.com/office/powerpoint/2012/main" xmlns:p14="http://schemas.microsoft.com/office/powerpoint/2010/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id="{61931878-DDF4-9C92-A68D-94384EABD8D4}"/>
              </a:ext>
            </a:extLst>
          </p:cNvPr>
          <p:cNvSpPr txBox="1"/>
          <p:nvPr/>
        </p:nvSpPr>
        <p:spPr>
          <a:xfrm>
            <a:off x="755576" y="1"/>
            <a:ext cx="7463273" cy="6444521"/>
          </a:xfrm>
          <a:prstGeom prst="rect">
            <a:avLst/>
          </a:prstGeom>
          <a:noFill/>
        </p:spPr>
        <p:txBody>
          <a:bodyPr wrap="square">
            <a:spAutoFit/>
          </a:bodyPr>
          <a:ls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lvl="0" indent="-342900">
              <a:lnSpc>
                <a:spcPct val="106000"/>
              </a:lnSpc>
              <a:spcAft>
                <a:spcPts val="80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Symbol" panose="05050102010706020507" pitchFamily="18" charset="2"/>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6000"/>
              </a:lnSpc>
              <a:spcAft>
                <a:spcPts val="800"/>
              </a:spcAft>
              <a:buFont typeface="Symbol" panose="05050102010706020507" pitchFamily="18" charset="2"/>
              <a:buChar char=""/>
            </a:pPr>
            <a:r>
              <a:rPr lang="el-GR" sz="1600" dirty="0" err="1">
                <a:effectLst/>
                <a:latin typeface="Calibri" panose="020F0502020204030204" pitchFamily="34" charset="0"/>
                <a:ea typeface="Calibri" panose="020F0502020204030204" pitchFamily="34" charset="0"/>
                <a:cs typeface="Times New Roman" panose="02020603050405020304" pitchFamily="18" charset="0"/>
              </a:rPr>
              <a:t>Αποσυσχετισμός</a:t>
            </a:r>
            <a:endParaRPr lang="el-GR" sz="1600" dirty="0">
              <a:effectLst/>
              <a:latin typeface="Calibri" panose="020F0502020204030204" pitchFamily="34" charset="0"/>
              <a:ea typeface="Calibri" panose="020F0502020204030204" pitchFamily="34" charset="0"/>
              <a:cs typeface="Times New Roman" panose="02020603050405020304" pitchFamily="18" charset="0"/>
            </a:endParaRPr>
          </a:p>
          <a:p>
            <a:pPr marL="259080">
              <a:lnSpc>
                <a:spcPct val="106000"/>
              </a:lnSpc>
              <a:spcAft>
                <a:spcPts val="800"/>
              </a:spcAft>
            </a:pPr>
            <a:r>
              <a:rPr lang="el-GR" sz="1600" dirty="0">
                <a:effectLst/>
                <a:latin typeface="Calibri" panose="020F0502020204030204" pitchFamily="34" charset="0"/>
                <a:ea typeface="Calibri" panose="020F0502020204030204" pitchFamily="34" charset="0"/>
                <a:cs typeface="Times New Roman" panose="02020603050405020304" pitchFamily="18" charset="0"/>
              </a:rPr>
              <a:t>Ένα άλλο σφάλμα που ενδεχομένως να προκύψει σε έναν κβαντικό υπολογιστή είναι λόγω του φαινομένου του </a:t>
            </a:r>
            <a:r>
              <a:rPr lang="el-GR" sz="1600" dirty="0" err="1">
                <a:effectLst/>
                <a:latin typeface="Calibri" panose="020F0502020204030204" pitchFamily="34" charset="0"/>
                <a:ea typeface="Calibri" panose="020F0502020204030204" pitchFamily="34" charset="0"/>
                <a:cs typeface="Times New Roman" panose="02020603050405020304" pitchFamily="18" charset="0"/>
              </a:rPr>
              <a:t>αποσυσχετισμού</a:t>
            </a:r>
            <a:r>
              <a:rPr lang="el-GR" sz="1600" dirty="0">
                <a:effectLst/>
                <a:latin typeface="Calibri" panose="020F0502020204030204" pitchFamily="34" charset="0"/>
                <a:ea typeface="Calibri" panose="020F0502020204030204" pitchFamily="34" charset="0"/>
                <a:cs typeface="Times New Roman" panose="02020603050405020304" pitchFamily="18" charset="0"/>
              </a:rPr>
              <a:t> των κβαντικών καταστάσεων. Σε αυτή τη περίπτωση ανεπιθύμητες όσο και τυχαίες αλληλεπιδράσεις των κβαντικών </a:t>
            </a:r>
            <a:r>
              <a:rPr lang="el-GR" sz="1600" dirty="0" err="1">
                <a:effectLst/>
                <a:latin typeface="Calibri" panose="020F0502020204030204" pitchFamily="34" charset="0"/>
                <a:ea typeface="Calibri" panose="020F0502020204030204" pitchFamily="34" charset="0"/>
                <a:cs typeface="Times New Roman" panose="02020603050405020304" pitchFamily="18" charset="0"/>
              </a:rPr>
              <a:t>καταχωρητών</a:t>
            </a:r>
            <a:r>
              <a:rPr lang="el-GR" sz="1600" dirty="0">
                <a:effectLst/>
                <a:latin typeface="Calibri" panose="020F0502020204030204" pitchFamily="34" charset="0"/>
                <a:ea typeface="Calibri" panose="020F0502020204030204" pitchFamily="34" charset="0"/>
                <a:cs typeface="Times New Roman" panose="02020603050405020304" pitchFamily="18" charset="0"/>
              </a:rPr>
              <a:t> με το περιβάλλον οδηγούν στην κατάρρευση της κατάστασης του συστήματος. Αυτό ισοδυναμεί με &lt;&lt;μέτρηση&gt;&gt; </a:t>
            </a:r>
            <a:r>
              <a:rPr lang="el-GR" sz="1600" dirty="0" err="1">
                <a:effectLst/>
                <a:latin typeface="Calibri" panose="020F0502020204030204" pitchFamily="34" charset="0"/>
                <a:ea typeface="Calibri" panose="020F0502020204030204" pitchFamily="34" charset="0"/>
                <a:cs typeface="Times New Roman" panose="02020603050405020304" pitchFamily="18" charset="0"/>
              </a:rPr>
              <a:t>καταχωρητή</a:t>
            </a:r>
            <a:r>
              <a:rPr lang="el-GR" sz="1600" dirty="0">
                <a:effectLst/>
                <a:latin typeface="Calibri" panose="020F0502020204030204" pitchFamily="34" charset="0"/>
                <a:ea typeface="Calibri" panose="020F0502020204030204" pitchFamily="34" charset="0"/>
                <a:cs typeface="Times New Roman" panose="02020603050405020304" pitchFamily="18" charset="0"/>
              </a:rPr>
              <a:t> η οποία είναι μια αντιστρεπτή διεργασία. Αν το σύστημα βρίσκεται σε μια αρχική κατάσταση και ένα δεύτερο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qubit</a:t>
            </a:r>
            <a:r>
              <a:rPr lang="el-GR" sz="1600" dirty="0">
                <a:effectLst/>
                <a:latin typeface="Calibri" panose="020F0502020204030204" pitchFamily="34" charset="0"/>
                <a:ea typeface="Calibri" panose="020F0502020204030204" pitchFamily="34" charset="0"/>
                <a:cs typeface="Times New Roman" panose="02020603050405020304" pitchFamily="18" charset="0"/>
              </a:rPr>
              <a:t> μετρηθεί, η κατάσταση του συστήματος καταρρέει και κατά συνέπεια χάνεται με μη αντιστρέψιμο τρόπο η αποθηκευμένη πληροφορία. Η επίλυση αυτού του προβλήματος είναι εξαιρετικά δύσκολη και η επαναφορά του συστήματος μετά από τέτοια λάθη είναι σχεδόν αδύνατη.</a:t>
            </a:r>
          </a:p>
          <a:p>
            <a:pPr marL="259080">
              <a:lnSpc>
                <a:spcPct val="106000"/>
              </a:lnSpc>
              <a:spcAft>
                <a:spcPts val="800"/>
              </a:spcAft>
            </a:pPr>
            <a:r>
              <a:rPr lang="el-GR" sz="1600" dirty="0">
                <a:effectLst/>
                <a:latin typeface="Calibri" panose="020F0502020204030204" pitchFamily="34" charset="0"/>
                <a:ea typeface="Calibri" panose="020F0502020204030204" pitchFamily="34" charset="0"/>
                <a:cs typeface="Times New Roman" panose="02020603050405020304" pitchFamily="18" charset="0"/>
              </a:rPr>
              <a:t>Αρχικά, φάνηκε να είναι αδύνατη η ανάπτυξη κωδικών για την διόρθωση κβαντικών σφαλμάτων. Η κβαντική διόρθωση όμως, όπως αναφέρθηκε παραπάνω, είναι απαραίτητη για την υλοποίηση ενός κβαντικού υπολογιστή, γι’ αυτό και αποδείχτηκε πως μπορεί να επιτευχθεί η διόρθωση σφαλμάτων χωρίς να μάθουμε τις καταστάσεις των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qubits</a:t>
            </a:r>
            <a:r>
              <a:rPr lang="el-GR" sz="1600" dirty="0">
                <a:effectLst/>
                <a:latin typeface="Calibri" panose="020F0502020204030204" pitchFamily="34" charset="0"/>
                <a:ea typeface="Calibri" panose="020F0502020204030204" pitchFamily="34" charset="0"/>
                <a:cs typeface="Times New Roman" panose="02020603050405020304" pitchFamily="18" charset="0"/>
              </a:rPr>
              <a:t>. Κάθε τιμή παριστάνεται με ένα σύνολο από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qubits</a:t>
            </a:r>
            <a:r>
              <a:rPr lang="el-GR" sz="1600" dirty="0">
                <a:effectLst/>
                <a:latin typeface="Calibri" panose="020F0502020204030204" pitchFamily="34" charset="0"/>
                <a:ea typeface="Calibri" panose="020F0502020204030204" pitchFamily="34" charset="0"/>
                <a:cs typeface="Times New Roman" panose="02020603050405020304" pitchFamily="18" charset="0"/>
              </a:rPr>
              <a:t>. Τα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qubits</a:t>
            </a:r>
            <a:r>
              <a:rPr lang="el-GR" sz="1600" dirty="0">
                <a:effectLst/>
                <a:latin typeface="Calibri" panose="020F0502020204030204" pitchFamily="34" charset="0"/>
                <a:ea typeface="Calibri" panose="020F0502020204030204" pitchFamily="34" charset="0"/>
                <a:cs typeface="Times New Roman" panose="02020603050405020304" pitchFamily="18" charset="0"/>
              </a:rPr>
              <a:t> αυτά περνάνε μέσα από ένα κύκλωμα το οποίο βρίσκει με επιτυχία ένα σφάλμα στα </a:t>
            </a:r>
            <a:r>
              <a:rPr lang="en-US" sz="1600" dirty="0" err="1">
                <a:effectLst/>
                <a:latin typeface="Calibri" panose="020F0502020204030204" pitchFamily="34" charset="0"/>
                <a:ea typeface="Calibri" panose="020F0502020204030204" pitchFamily="34" charset="0"/>
                <a:cs typeface="Times New Roman" panose="02020603050405020304" pitchFamily="18" charset="0"/>
              </a:rPr>
              <a:t>qubits</a:t>
            </a:r>
            <a:r>
              <a:rPr lang="el-GR" sz="1600" dirty="0">
                <a:effectLst/>
                <a:latin typeface="Calibri" panose="020F0502020204030204" pitchFamily="34" charset="0"/>
                <a:ea typeface="Calibri" panose="020F0502020204030204" pitchFamily="34" charset="0"/>
                <a:cs typeface="Times New Roman" panose="02020603050405020304" pitchFamily="18" charset="0"/>
              </a:rPr>
              <a:t> χωρίς να διαβάσει πραγματικά ποιες είναι οι ξεχωριστές καταστάσεις.  </a:t>
            </a:r>
          </a:p>
        </p:txBody>
      </p:sp>
    </p:spTree>
    <p:extLst>
      <p:ext uri="{BB962C8B-B14F-4D97-AF65-F5344CB8AC3E}">
        <p14:creationId xmlns:p14="http://schemas.microsoft.com/office/powerpoint/2010/main" xmlns:p159="http://schemas.microsoft.com/office/powerpoint/2015/09/main" xmlns:p15="http://schemas.microsoft.com/office/powerpoint/2012/main" xmlns:mc="http://schemas.openxmlformats.org/markup-compatibility/2006" xmlns:a14="http://schemas.microsoft.com/office/drawing/2010/main" xmlns:wp="http://schemas.openxmlformats.org/drawingml/2006/wordprocessingDrawing" xmlns:w="http://schemas.openxmlformats.org/wordprocessingml/2006/main" xmlns:m="http://schemas.openxmlformats.org/officeDocument/2006/math" xmlns="" val="157449128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dirty="0" smtClean="0"/>
              <a:t>Κβαντικοί αλγόριθμοι</a:t>
            </a:r>
            <a:endParaRPr lang="el-GR" dirty="0"/>
          </a:p>
        </p:txBody>
      </p:sp>
      <p:sp>
        <p:nvSpPr>
          <p:cNvPr id="3" name="2 - Θέση περιεχομένου"/>
          <p:cNvSpPr>
            <a:spLocks noGrp="1"/>
          </p:cNvSpPr>
          <p:nvPr>
            <p:ph idx="1"/>
          </p:nvPr>
        </p:nvSpPr>
        <p:spPr/>
        <p:txBody>
          <a:bodyPr/>
          <a:lstStyle/>
          <a:p>
            <a:r>
              <a:rPr lang="en-US" sz="1600" dirty="0" smtClean="0"/>
              <a:t>K</a:t>
            </a:r>
            <a:r>
              <a:rPr lang="el-GR" sz="1600" dirty="0" err="1" smtClean="0"/>
              <a:t>βαντικός</a:t>
            </a:r>
            <a:r>
              <a:rPr lang="el-GR" sz="1600" dirty="0" smtClean="0"/>
              <a:t> αλγόριθμος -Σειρά από εντολές-&gt;εκτέλεση στον κβαντικό υπολογιστή</a:t>
            </a:r>
          </a:p>
          <a:p>
            <a:endParaRPr lang="el-GR" sz="1600" dirty="0" smtClean="0"/>
          </a:p>
          <a:p>
            <a:endParaRPr lang="el-GR" sz="1600" dirty="0"/>
          </a:p>
          <a:p>
            <a:r>
              <a:rPr lang="el-GR" sz="1600" dirty="0" smtClean="0"/>
              <a:t>Αλγόριθμος </a:t>
            </a:r>
            <a:r>
              <a:rPr lang="en-GB" sz="1600" dirty="0" err="1" smtClean="0"/>
              <a:t>Shor</a:t>
            </a:r>
            <a:r>
              <a:rPr lang="en-GB" sz="1600" dirty="0" smtClean="0"/>
              <a:t> : </a:t>
            </a:r>
            <a:r>
              <a:rPr lang="el-GR" sz="1600" dirty="0" err="1" smtClean="0"/>
              <a:t>παραγοντοποίηση</a:t>
            </a:r>
            <a:r>
              <a:rPr lang="el-GR" sz="1600" dirty="0" smtClean="0"/>
              <a:t> ακεραίων αριθμών σε γινόμενο 2 πρώτων αριθμών (χρήσιμο στην κρυπτογραφία)</a:t>
            </a:r>
          </a:p>
          <a:p>
            <a:endParaRPr lang="el-GR" sz="1600" dirty="0" smtClean="0"/>
          </a:p>
          <a:p>
            <a:r>
              <a:rPr lang="el-GR" sz="1600" dirty="0" smtClean="0"/>
              <a:t>Αλγόριθμος </a:t>
            </a:r>
            <a:r>
              <a:rPr lang="en-GB" sz="1600" dirty="0" smtClean="0"/>
              <a:t>Deutsch: </a:t>
            </a:r>
            <a:r>
              <a:rPr lang="en-US" sz="1600" dirty="0" smtClean="0"/>
              <a:t>f(0) = f(1)</a:t>
            </a:r>
            <a:r>
              <a:rPr lang="el-GR" sz="1600" dirty="0" smtClean="0"/>
              <a:t>. Προσδιορίζει αν μία συνάρτηση 1 μεταβλητής </a:t>
            </a:r>
            <a:r>
              <a:rPr lang="en-GB" sz="1600" dirty="0" smtClean="0"/>
              <a:t>x,</a:t>
            </a:r>
            <a:r>
              <a:rPr lang="el-GR" sz="1600" dirty="0" smtClean="0"/>
              <a:t>όπου </a:t>
            </a:r>
            <a:r>
              <a:rPr lang="en-GB" sz="1600" dirty="0" smtClean="0"/>
              <a:t>x = 0 / 1 </a:t>
            </a:r>
            <a:r>
              <a:rPr lang="el-GR" sz="1600" dirty="0" smtClean="0"/>
              <a:t>είναι σταθερή δηλαδή αν </a:t>
            </a:r>
            <a:r>
              <a:rPr lang="en-GB" sz="1600" dirty="0" smtClean="0"/>
              <a:t>f(0)= f(1) </a:t>
            </a:r>
            <a:r>
              <a:rPr lang="el-GR" sz="1600" dirty="0" smtClean="0"/>
              <a:t>ή </a:t>
            </a:r>
            <a:r>
              <a:rPr lang="en-GB" sz="1600" dirty="0" smtClean="0"/>
              <a:t>f(0) </a:t>
            </a:r>
            <a:r>
              <a:rPr lang="en-US" sz="1600" dirty="0" smtClean="0"/>
              <a:t>≠ f(1)</a:t>
            </a:r>
          </a:p>
          <a:p>
            <a:endParaRPr lang="en-US" sz="1600" dirty="0" smtClean="0"/>
          </a:p>
          <a:p>
            <a:r>
              <a:rPr lang="en-GB" sz="1600" dirty="0" smtClean="0"/>
              <a:t>Grover: </a:t>
            </a:r>
            <a:r>
              <a:rPr lang="el-GR" sz="1600" dirty="0" smtClean="0"/>
              <a:t>αναζήτηση σε μη ταξινομημένα δεδομένα</a:t>
            </a:r>
            <a:r>
              <a:rPr lang="en-US" sz="1600" dirty="0" smtClean="0"/>
              <a:t> (</a:t>
            </a:r>
            <a:r>
              <a:rPr lang="el-GR" sz="1600" dirty="0" smtClean="0"/>
              <a:t>πχ μη αλφαβητικά ταξινομημένος κατάλογος</a:t>
            </a:r>
            <a:r>
              <a:rPr lang="en-GB" sz="1600" dirty="0" smtClean="0"/>
              <a:t>)</a:t>
            </a:r>
            <a:endParaRPr lang="el-GR" sz="1600" dirty="0" smtClean="0"/>
          </a:p>
          <a:p>
            <a:endParaRPr lang="el-GR" sz="1600" dirty="0" smtClean="0"/>
          </a:p>
          <a:p>
            <a:r>
              <a:rPr lang="el-GR" sz="1600" dirty="0" smtClean="0"/>
              <a:t>Αλγόριθμος </a:t>
            </a:r>
            <a:r>
              <a:rPr lang="el-GR" sz="1600" dirty="0" err="1" smtClean="0"/>
              <a:t>τηλεμεταφοράς</a:t>
            </a:r>
            <a:r>
              <a:rPr lang="el-GR" sz="1600" dirty="0" smtClean="0"/>
              <a:t>-&gt;’μεταφορά’ </a:t>
            </a:r>
            <a:r>
              <a:rPr lang="en-GB" sz="1600" dirty="0" err="1" smtClean="0"/>
              <a:t>qubit</a:t>
            </a:r>
            <a:r>
              <a:rPr lang="en-GB" sz="1600" dirty="0" smtClean="0"/>
              <a:t> </a:t>
            </a:r>
            <a:r>
              <a:rPr lang="el-GR" sz="1600" dirty="0" smtClean="0"/>
              <a:t>σε κάποιο άλλο σημείο του κβαντικού υπολογιστή.</a:t>
            </a:r>
            <a:endParaRPr lang="en-US" sz="1600" dirty="0" smtClean="0"/>
          </a:p>
          <a:p>
            <a:endParaRPr lang="el-GR"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Αντί συμπεράσματος</a:t>
            </a:r>
            <a:endParaRPr lang="el-GR"/>
          </a:p>
        </p:txBody>
      </p:sp>
      <p:pic>
        <p:nvPicPr>
          <p:cNvPr id="4" name="3 - Θέση περιεχομένου"/>
          <p:cNvPicPr>
            <a:picLocks noGrp="1"/>
          </p:cNvPicPr>
          <p:nvPr>
            <p:ph idx="1"/>
          </p:nvPr>
        </p:nvPicPr>
        <p:blipFill>
          <a:blip r:embed="rId2" cstate="print"/>
          <a:stretch>
            <a:fillRect/>
          </a:stretch>
        </p:blipFill>
        <p:spPr bwMode="auto">
          <a:xfrm>
            <a:off x="1458837" y="1600200"/>
            <a:ext cx="6226325" cy="4525963"/>
          </a:xfrm>
          <a:prstGeom prst="rect">
            <a:avLst/>
          </a:prstGeom>
          <a:noFill/>
          <a:ln w="9525">
            <a:noFill/>
            <a:miter lim="800000"/>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dirty="0" smtClean="0"/>
              <a:t>Ενδεικτική Βιβλιογραφία</a:t>
            </a:r>
            <a:endParaRPr lang="el-GR" dirty="0"/>
          </a:p>
        </p:txBody>
      </p:sp>
      <p:sp>
        <p:nvSpPr>
          <p:cNvPr id="3" name="2 - Θέση περιεχομένου"/>
          <p:cNvSpPr>
            <a:spLocks noGrp="1"/>
          </p:cNvSpPr>
          <p:nvPr>
            <p:ph idx="1"/>
          </p:nvPr>
        </p:nvSpPr>
        <p:spPr/>
        <p:txBody>
          <a:bodyPr>
            <a:normAutofit/>
          </a:bodyPr>
          <a:lstStyle/>
          <a:p>
            <a:r>
              <a:rPr lang="en-US" sz="2400" dirty="0" smtClean="0">
                <a:cs typeface="Calibri"/>
              </a:rPr>
              <a:t> </a:t>
            </a:r>
            <a:r>
              <a:rPr lang="en-US" sz="2400" dirty="0" smtClean="0">
                <a:ea typeface="+mn-lt"/>
                <a:cs typeface="+mn-lt"/>
                <a:hlinkClick r:id="rId2"/>
              </a:rPr>
              <a:t>http://</a:t>
            </a:r>
            <a:r>
              <a:rPr lang="en-US" sz="2400" dirty="0" smtClean="0">
                <a:ea typeface="+mn-lt"/>
                <a:cs typeface="+mn-lt"/>
                <a:hlinkClick r:id="rId2"/>
              </a:rPr>
              <a:t>www.des.upatras.gr/physics/kounavis/index.html</a:t>
            </a:r>
            <a:endParaRPr lang="en-US" sz="2400" dirty="0" smtClean="0">
              <a:ea typeface="+mn-lt"/>
              <a:cs typeface="+mn-lt"/>
            </a:endParaRPr>
          </a:p>
          <a:p>
            <a:r>
              <a:rPr lang="el-GR" sz="2400" dirty="0" err="1" smtClean="0">
                <a:hlinkClick r:id="rId3"/>
              </a:rPr>
              <a:t>Kallipos</a:t>
            </a:r>
            <a:r>
              <a:rPr lang="el-GR" sz="2400" dirty="0" smtClean="0">
                <a:hlinkClick r:id="rId3"/>
              </a:rPr>
              <a:t>: Η Αρχή της Κβαντικής Υπολογιστικής - Κβαντικός Αλγόριθμος του </a:t>
            </a:r>
            <a:r>
              <a:rPr lang="el-GR" sz="2400" dirty="0" err="1" smtClean="0">
                <a:hlinkClick r:id="rId3"/>
              </a:rPr>
              <a:t>Deutsch</a:t>
            </a:r>
            <a:endParaRPr lang="en-GB" sz="2400" dirty="0" smtClean="0"/>
          </a:p>
          <a:p>
            <a:pPr lvl="0"/>
            <a:r>
              <a:rPr lang="el-GR" sz="2400" dirty="0" smtClean="0"/>
              <a:t>Στέφανος Τραχανάς, Κβαντομηχανική </a:t>
            </a:r>
            <a:r>
              <a:rPr lang="el-GR" sz="2400" dirty="0" err="1" smtClean="0"/>
              <a:t>ΙΙ,Πανεπιστημιακές</a:t>
            </a:r>
            <a:r>
              <a:rPr lang="el-GR" sz="2400" dirty="0" smtClean="0"/>
              <a:t> Εκδόσεις Κρήτης, σελ. 648-653,667-671</a:t>
            </a:r>
          </a:p>
          <a:p>
            <a:r>
              <a:rPr lang="el-GR" sz="2400" dirty="0" err="1" smtClean="0">
                <a:hlinkClick r:id="rId4"/>
              </a:rPr>
              <a:t>upatras</a:t>
            </a:r>
            <a:r>
              <a:rPr lang="el-GR" sz="2400" dirty="0" smtClean="0">
                <a:hlinkClick r:id="rId4"/>
              </a:rPr>
              <a:t> </a:t>
            </a:r>
            <a:r>
              <a:rPr lang="el-GR" sz="2400" dirty="0" err="1" smtClean="0">
                <a:hlinkClick r:id="rId4"/>
              </a:rPr>
              <a:t>eclass</a:t>
            </a:r>
            <a:r>
              <a:rPr lang="el-GR" sz="2400" dirty="0" smtClean="0">
                <a:hlinkClick r:id="rId4"/>
              </a:rPr>
              <a:t> | Κβαντική Επεξεργασία Πληροφορίας | Κβαντικές Πύλες</a:t>
            </a:r>
            <a:endParaRPr lang="el-GR" sz="24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n-US" dirty="0" smtClean="0"/>
              <a:t>The end?</a:t>
            </a:r>
            <a:endParaRPr lang="el-GR" dirty="0"/>
          </a:p>
        </p:txBody>
      </p:sp>
      <p:pic>
        <p:nvPicPr>
          <p:cNvPr id="4" name="3 - Θέση περιεχομένου" descr="Neil deGrasse Tyson Quote: “Quantum physics fluctuates all the time. But  now the fluctuations are not just particles coming into and out of  existenc...”"/>
          <p:cNvPicPr>
            <a:picLocks noGrp="1"/>
          </p:cNvPicPr>
          <p:nvPr>
            <p:ph idx="1"/>
          </p:nvPr>
        </p:nvPicPr>
        <p:blipFill>
          <a:blip r:embed="rId2" cstate="print"/>
          <a:srcRect/>
          <a:stretch>
            <a:fillRect/>
          </a:stretch>
        </p:blipFill>
        <p:spPr bwMode="auto">
          <a:xfrm>
            <a:off x="548922" y="1600200"/>
            <a:ext cx="8046156" cy="4525963"/>
          </a:xfrm>
          <a:prstGeom prst="rect">
            <a:avLst/>
          </a:prstGeom>
          <a:noFill/>
          <a:ln w="9525">
            <a:noFill/>
            <a:miter lim="800000"/>
            <a:headEnd/>
            <a:tailEnd/>
          </a:ln>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3.1.19"/>
  <p:tag name="AS_OS" val="Unix 5.13.0.1031"/>
  <p:tag name="AS_RELEASE_DATE" val="2021.04.14"/>
  <p:tag name="AS_TITLE" val="Aspose.Slides for .NET Standard 2.0"/>
  <p:tag name="AS_VERSION" val="2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Θέμα του Office">
  <a:themeElements>
    <a:clrScheme name="Ζεστό μπλε">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Arial" pitchFamily="34" charset="0"/>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pitchFamily="34" charset="0"/>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r="http://schemas.openxmlformats.org/officeDocument/2006/relationships" xmlns="" name="Office Theme" id="{62F939B6-93AF-4DB8-9C6B-D6C7DFDC589F}" vid="{4A3C46E8-61CC-4603-A589-7422A47A8E4A}"/>
    </a:ext>
  </a:extLst>
</a:theme>
</file>

<file path=ppt/theme/theme4.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r="http://schemas.openxmlformats.org/officeDocument/2006/relationships" xmlns="" name="Office Theme" id="{62F939B6-93AF-4DB8-9C6B-D6C7DFDC589F}" vid="{4A3C46E8-61CC-4603-A589-7422A47A8E4A}"/>
    </a:ext>
  </a:extLst>
</a:theme>
</file>

<file path=ppt/theme/theme5.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pitchFamily="34" charset="0"/>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pitchFamily="34" charset="0"/>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r="http://schemas.openxmlformats.org/officeDocument/2006/relationships" xmlns="" name="Office Theme" id="{62F939B6-93AF-4DB8-9C6B-D6C7DFDC589F}" vid="{4A3C46E8-61CC-4603-A589-7422A47A8E4A}"/>
    </a:ext>
  </a:extLst>
</a:theme>
</file>

<file path=ppt/theme/theme6.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pitchFamily="34" charset="0"/>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pitchFamily="34" charset="0"/>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r="http://schemas.openxmlformats.org/officeDocument/2006/relationships" xmlns="" name="Office Theme" id="{62F939B6-93AF-4DB8-9C6B-D6C7DFDC589F}" vid="{4A3C46E8-61CC-4603-A589-7422A47A8E4A}"/>
    </a:ext>
  </a:extLst>
</a:theme>
</file>

<file path=ppt/theme/theme7.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pitchFamily="34" charset="0"/>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pitchFamily="34" charset="0"/>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r="http://schemas.openxmlformats.org/officeDocument/2006/relationships" xmlns="" name="Office Theme" id="{62F939B6-93AF-4DB8-9C6B-D6C7DFDC589F}" vid="{4A3C46E8-61CC-4603-A589-7422A47A8E4A}"/>
    </a:ext>
  </a:extLst>
</a:theme>
</file>

<file path=ppt/theme/theme8.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1193</Words>
  <Application>Microsoft Office PowerPoint</Application>
  <PresentationFormat>Προβολή στην οθόνη (4:3)</PresentationFormat>
  <Paragraphs>115</Paragraphs>
  <Slides>16</Slides>
  <Notes>0</Notes>
  <HiddenSlides>0</HiddenSlides>
  <MMClips>0</MMClips>
  <ScaleCrop>false</ScaleCrop>
  <HeadingPairs>
    <vt:vector size="4" baseType="variant">
      <vt:variant>
        <vt:lpstr>Θέμα</vt:lpstr>
      </vt:variant>
      <vt:variant>
        <vt:i4>8</vt:i4>
      </vt:variant>
      <vt:variant>
        <vt:lpstr>Τίτλοι διαφανειών</vt:lpstr>
      </vt:variant>
      <vt:variant>
        <vt:i4>16</vt:i4>
      </vt:variant>
    </vt:vector>
  </HeadingPairs>
  <TitlesOfParts>
    <vt:vector size="24" baseType="lpstr">
      <vt:lpstr>Office Theme</vt:lpstr>
      <vt:lpstr>Θέμα του Office</vt:lpstr>
      <vt:lpstr>Θέμα του Office</vt:lpstr>
      <vt:lpstr>Θέμα του Office</vt:lpstr>
      <vt:lpstr>Θέμα του Office</vt:lpstr>
      <vt:lpstr>Θέμα του Office</vt:lpstr>
      <vt:lpstr>Θέμα του Office</vt:lpstr>
      <vt:lpstr>Θέμα του Office</vt:lpstr>
      <vt:lpstr>Εισαγωγή στην επιστήμη του Ηλεκτρολόγου μηχανικού Αρχές κβαντικών υπολογιστών και κβαντικές πύλες</vt:lpstr>
      <vt:lpstr>    Κβαντικές πύλες Pauli  Οι κβαντικές πύλες Pauli δρουν σε ένα qubit και αποτελούν ιδιαίτερα σημαντική ομάδα πυλών καθώς οποιαδήποτε κβαντική πύλη μπορεί να εκφραστεί ως γραμμικός συνδυασμός τους. Αναλυτικότερα, οι κβαντικές πύλες Pauli αποτελούνται από τις κβαντικές πύλες Ι, Χ, Υ, Ζ. </vt:lpstr>
      <vt:lpstr>Κβαντική πύλη Ζ (σz , σ3)</vt:lpstr>
      <vt:lpstr>Διαφάνεια 4</vt:lpstr>
      <vt:lpstr>Διαφάνεια 5</vt:lpstr>
      <vt:lpstr>Διαφάνεια 6</vt:lpstr>
      <vt:lpstr>Διαφάνεια 7</vt:lpstr>
      <vt:lpstr>Διαφάνεια 8</vt:lpstr>
      <vt:lpstr>Κβαντική πύλη αδράνειας και μετατόπισης φάσης</vt:lpstr>
      <vt:lpstr>Κβαντική πύλη Hadamard</vt:lpstr>
      <vt:lpstr>Ποια είναι τα κυριότερα σφάλματα που γίνονται στους κβαντικούς υπολογιστές και πώς αυτά διορθώνονται; </vt:lpstr>
      <vt:lpstr>Διαφάνεια 12</vt:lpstr>
      <vt:lpstr>Κβαντικοί αλγόριθμοι</vt:lpstr>
      <vt:lpstr>Αντί συμπεράσματος</vt:lpstr>
      <vt:lpstr>Ενδεικτική Βιβλιογραφία</vt:lpstr>
      <vt:lpstr>The end?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Εισαγωγή στην επιστήμη του Ηλεκτρολόγου μηχανικού Αρχές κβαντικών υπολογιστών και κβαντικές πύλες</dc:title>
  <dc:creator>GEORGIOS SALIARHS</dc:creator>
  <cp:lastModifiedBy>georg</cp:lastModifiedBy>
  <cp:revision>3</cp:revision>
  <cp:lastPrinted>2022-06-22T19:12:05Z</cp:lastPrinted>
  <dcterms:created xsi:type="dcterms:W3CDTF">2022-06-22T19:12:05Z</dcterms:created>
  <dcterms:modified xsi:type="dcterms:W3CDTF">2022-06-22T19:25:41Z</dcterms:modified>
</cp:coreProperties>
</file>